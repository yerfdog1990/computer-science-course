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DC31-8CA3-ACCF-1768-FCEE383F1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BBA5D-728B-77CA-0ECC-4EE219927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AC821-1257-C55D-70F9-49EE7AE4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D7294-9D34-B88A-8A80-76C1312B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CC1D6-C6CC-D2D1-9335-4F7F5F56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4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31BB-A8DB-33E1-7D7C-F6AA56B6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8BB45-C6AC-A592-B580-1122294C1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B032-7063-785C-2832-DEB624074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F4471-5F17-3516-CD5D-C64901141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9B7C9-5C40-4AD7-8711-E36BD8E3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9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711A-D0F8-1069-7886-06E00CD2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64400-A0F0-2FCE-88BB-CA488951C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6CFFD-24B0-D919-BACE-D67846D6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0FDB1-6FA5-8229-B458-2268FCBF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00CB5-B535-9568-1CA7-64AFA5B2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1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9FF2-D623-644E-B873-D668B997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F811B-8640-FC1A-A695-102843423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CFAD3-2BAB-0B09-58E6-32F4D38AC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8C279-6500-BB8E-3F9C-C2BBD0CF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CD304-A10C-148B-79D2-67881729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8CE2D-249D-8612-3841-AA9C3EA9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9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4F22-B11A-CD7E-B8EB-D837DC160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9E6BE-C02A-B12E-D9C6-0018BAFA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D3104-0C55-DE26-74B8-425364405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C7F8E-5D1E-EDD6-51D5-A416CDF02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AEAAC-91FA-88A6-6370-6EE91AF9D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9CD366-4354-5AB5-EC4A-E8EE09FE0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CB220-64F8-D9A3-F9A5-5B65D3F0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EA2898-60FB-67D2-FF43-4BEB1484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7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7AC1-E72D-0BB3-88FF-33CC5F16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548A9-EBA3-A69C-B83A-AB1BCD00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5E486-AB87-8CC5-CCDB-F35EC933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AF3F2-181F-4AAA-E924-B87AB6C4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AFD364-FCE1-C0B9-C05E-29C716F3E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AB6B6-F964-CC06-070C-4E11B08B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A4449-9EB2-9C2A-4ADE-692D0F22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5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F8BC-DE66-5DB4-642D-6B27A3B2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EAEC0-A0D8-8363-E301-1EA2CDCCE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B7D18-F8D0-FE5E-4C21-8593C73AC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E9B73-8537-0B72-48F5-ED201C7E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C2F31-EAB6-FF09-B0B0-6202EF24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315E1-2EE2-1194-46CA-F174A3A6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9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1E73-4FFB-6957-3547-68BFB270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1363C-045A-F88F-17AC-77205E385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B60C7-1C2B-E35B-2847-06049EA40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3E28C-C72B-3509-155F-2BDE35EA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C47DC-5787-4739-D3BD-C825746F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DDD1E-64B8-24AE-6C16-DF12E4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3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4E9D-E8C3-031E-F817-F5B821BC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66642-B00D-17D0-34B4-DB709E14E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FE75-6F7C-8CBF-B1DD-EBC670B7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C7963-3EFC-4666-41C8-5D4F6D90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8395E-F039-E122-C73C-95F582D4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5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9CB8B-20C1-B1C4-5E19-1583A612C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88A5A-918F-305E-4AA6-E4EA4E42D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D367A-FA2E-91F4-8C86-25365BFC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E0B4A-EE1C-F484-3B4F-143CADF2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0EBAB-9C41-0B1C-1ED4-9DEA6F5F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0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60CC3D-D6DE-198C-AC93-B31AB2FB5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08C3C-628D-1D49-27C5-541964E6B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7EFE2-2A29-D0FE-DE83-95E9E0CAA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BC44D-4C3E-4557-90C4-876AC3A48BCD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756EF-3FED-5BC2-9F4C-1639CA89A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3580-0A58-5F4B-C9EA-66B18E2BA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ABA06-5F56-4F90-8EEE-2BA70C0F8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8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rogramiz.com/python-programming/break-continue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C660-2FE5-4843-527E-E0B1200E80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Python Control Flow</a:t>
            </a:r>
          </a:p>
        </p:txBody>
      </p:sp>
    </p:spTree>
    <p:extLst>
      <p:ext uri="{BB962C8B-B14F-4D97-AF65-F5344CB8AC3E}">
        <p14:creationId xmlns:p14="http://schemas.microsoft.com/office/powerpoint/2010/main" val="225894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211E-3E19-49F2-5AB7-CF40280F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control 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F4665-FFA1-25C4-5CCC-FF5E90EE6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 is the order in which individual statements, instructions, or function calls are executed or evaluated. </a:t>
            </a:r>
          </a:p>
          <a:p>
            <a:r>
              <a:rPr lang="en-US" dirty="0"/>
              <a:t>The control flow of a Python program is regulated by conditional statements, loops, and function calls.</a:t>
            </a:r>
          </a:p>
        </p:txBody>
      </p:sp>
    </p:spTree>
    <p:extLst>
      <p:ext uri="{BB962C8B-B14F-4D97-AF65-F5344CB8AC3E}">
        <p14:creationId xmlns:p14="http://schemas.microsoft.com/office/powerpoint/2010/main" val="215130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9A20-B94C-1198-10CC-87901FF1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6500"/>
          </a:xfrm>
        </p:spPr>
        <p:txBody>
          <a:bodyPr/>
          <a:lstStyle/>
          <a:p>
            <a:r>
              <a:rPr lang="en-US" b="1" dirty="0"/>
              <a:t>Python if...else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3D0B-02ED-714B-D0EC-979FB2A6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4"/>
            <a:ext cx="10515600" cy="5114926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In computer programming, we use the if statement to run a block code only when a certain condition is met.</a:t>
            </a:r>
          </a:p>
          <a:p>
            <a:r>
              <a:rPr lang="en-US" sz="3600" dirty="0"/>
              <a:t>For example, assigning grades (A, B, C) based on marks obtained by a student.</a:t>
            </a:r>
          </a:p>
          <a:p>
            <a:pPr lvl="1"/>
            <a:r>
              <a:rPr lang="en-US" sz="3200" dirty="0"/>
              <a:t>if the percentage is above 90, assign grade A</a:t>
            </a:r>
          </a:p>
          <a:p>
            <a:pPr lvl="1"/>
            <a:r>
              <a:rPr lang="en-US" sz="3200" dirty="0"/>
              <a:t>if the percentage is above 75, assign grade B</a:t>
            </a:r>
          </a:p>
          <a:p>
            <a:pPr lvl="1"/>
            <a:r>
              <a:rPr lang="en-US" sz="3200" dirty="0"/>
              <a:t>if the percentage is above 65, assign grade C</a:t>
            </a:r>
          </a:p>
          <a:p>
            <a:r>
              <a:rPr lang="en-US" sz="3600" dirty="0"/>
              <a:t>In Python, there are three forms of the if...else statement.</a:t>
            </a:r>
          </a:p>
          <a:p>
            <a:pPr lvl="1"/>
            <a:r>
              <a:rPr lang="en-US" sz="3200" dirty="0"/>
              <a:t>if statement</a:t>
            </a:r>
          </a:p>
          <a:p>
            <a:pPr lvl="1"/>
            <a:r>
              <a:rPr lang="en-US" sz="3200" dirty="0"/>
              <a:t>if...else statement</a:t>
            </a:r>
          </a:p>
          <a:p>
            <a:pPr lvl="1"/>
            <a:r>
              <a:rPr lang="en-US" sz="3200" dirty="0"/>
              <a:t>if...elif...else statement</a:t>
            </a:r>
          </a:p>
        </p:txBody>
      </p:sp>
    </p:spTree>
    <p:extLst>
      <p:ext uri="{BB962C8B-B14F-4D97-AF65-F5344CB8AC3E}">
        <p14:creationId xmlns:p14="http://schemas.microsoft.com/office/powerpoint/2010/main" val="275271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4BB9-55D0-DAF0-6C93-90ADDBDF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613"/>
          </a:xfrm>
        </p:spPr>
        <p:txBody>
          <a:bodyPr/>
          <a:lstStyle/>
          <a:p>
            <a:r>
              <a:rPr lang="en-US" b="1" dirty="0"/>
              <a:t>Python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5F051-93AB-87E1-865A-1C06F2786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738"/>
            <a:ext cx="10515600" cy="5286375"/>
          </a:xfrm>
        </p:spPr>
        <p:txBody>
          <a:bodyPr>
            <a:normAutofit/>
          </a:bodyPr>
          <a:lstStyle/>
          <a:p>
            <a:r>
              <a:rPr lang="en-US" sz="3200" dirty="0"/>
              <a:t>In computer programming, we use the if statement to run a block code only when a certain condition is met.</a:t>
            </a:r>
          </a:p>
          <a:p>
            <a:r>
              <a:rPr lang="en-US" sz="3200" dirty="0"/>
              <a:t>For example, assigning grades (A, B, C) based on marks obtained by a student.</a:t>
            </a:r>
          </a:p>
          <a:p>
            <a:pPr lvl="1"/>
            <a:r>
              <a:rPr lang="en-US" sz="2800" dirty="0"/>
              <a:t>if the percentage is above 90, assign grade A</a:t>
            </a:r>
          </a:p>
          <a:p>
            <a:pPr lvl="1"/>
            <a:r>
              <a:rPr lang="en-US" sz="2800" dirty="0"/>
              <a:t>if the percentage is above 75, assign grade B</a:t>
            </a:r>
          </a:p>
          <a:p>
            <a:pPr lvl="1"/>
            <a:r>
              <a:rPr lang="en-US" sz="2800" dirty="0"/>
              <a:t>if the percentage is above 65, assign grade C</a:t>
            </a:r>
          </a:p>
          <a:p>
            <a:r>
              <a:rPr lang="en-US" sz="3200" dirty="0"/>
              <a:t>In Python, there are three forms of the if...else statement.</a:t>
            </a:r>
          </a:p>
          <a:p>
            <a:pPr lvl="1"/>
            <a:r>
              <a:rPr lang="en-US" sz="2800" dirty="0"/>
              <a:t>if statement</a:t>
            </a:r>
          </a:p>
          <a:p>
            <a:pPr lvl="1"/>
            <a:r>
              <a:rPr lang="en-US" sz="2800" dirty="0"/>
              <a:t>if...else statement</a:t>
            </a:r>
          </a:p>
          <a:p>
            <a:pPr lvl="1"/>
            <a:r>
              <a:rPr lang="en-US" sz="2800" dirty="0"/>
              <a:t>if...elif...else statement</a:t>
            </a:r>
          </a:p>
        </p:txBody>
      </p:sp>
    </p:spTree>
    <p:extLst>
      <p:ext uri="{BB962C8B-B14F-4D97-AF65-F5344CB8AC3E}">
        <p14:creationId xmlns:p14="http://schemas.microsoft.com/office/powerpoint/2010/main" val="120618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20AA-5C63-298B-9BD8-E769BC7E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b="1" dirty="0"/>
              <a:t>1. Python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FA4FD-721C-CF52-B7DE-B32A48155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3000"/>
            <a:ext cx="10515600" cy="2617788"/>
          </a:xfrm>
        </p:spPr>
        <p:txBody>
          <a:bodyPr/>
          <a:lstStyle/>
          <a:p>
            <a:r>
              <a:rPr lang="en-US" dirty="0"/>
              <a:t>The syntax of if statement in Python is:</a:t>
            </a:r>
          </a:p>
          <a:p>
            <a:pPr lvl="1"/>
            <a:r>
              <a:rPr lang="en-US" dirty="0"/>
              <a:t>if condition:</a:t>
            </a:r>
          </a:p>
          <a:p>
            <a:pPr lvl="1"/>
            <a:r>
              <a:rPr lang="en-US" dirty="0"/>
              <a:t>    # body of if statement</a:t>
            </a:r>
          </a:p>
          <a:p>
            <a:r>
              <a:rPr lang="en-US" dirty="0"/>
              <a:t>The if statement evaluates condition.</a:t>
            </a:r>
          </a:p>
          <a:p>
            <a:pPr lvl="1"/>
            <a:r>
              <a:rPr lang="en-US" dirty="0"/>
              <a:t>If condition is evaluated to True, the code inside the body of if is executed.</a:t>
            </a:r>
          </a:p>
          <a:p>
            <a:pPr lvl="1"/>
            <a:r>
              <a:rPr lang="en-US" dirty="0"/>
              <a:t>If condition is evaluated to False, the code inside the body of if is skipped.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DB99B-B3CB-46AA-644C-C7371F0BB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89" y="3760788"/>
            <a:ext cx="6762620" cy="26177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38E2DD-7FE2-C644-5C8D-A51E7F112867}"/>
              </a:ext>
            </a:extLst>
          </p:cNvPr>
          <p:cNvSpPr txBox="1"/>
          <p:nvPr/>
        </p:nvSpPr>
        <p:spPr>
          <a:xfrm>
            <a:off x="4811910" y="6422508"/>
            <a:ext cx="2568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effectLst/>
                <a:latin typeface="euclid_circular_a"/>
              </a:rPr>
              <a:t>Working of if Statement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342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67E3-5364-0B2C-3D2E-1FCD281A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325"/>
            <a:ext cx="10515600" cy="5862638"/>
          </a:xfrm>
        </p:spPr>
        <p:txBody>
          <a:bodyPr/>
          <a:lstStyle/>
          <a:p>
            <a:r>
              <a:rPr lang="en-US" b="1" dirty="0"/>
              <a:t>Example 1: Python if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272A4-5EF3-10C4-993E-05E94295F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4812"/>
            <a:ext cx="4299000" cy="2086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26FC04-F793-EA72-E1DD-8A26B0EED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31021"/>
            <a:ext cx="3465728" cy="158909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76688DB0-F07F-3994-0D48-0B39C9032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975" y="1204812"/>
            <a:ext cx="6353174" cy="5047536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In the above example, we have created a variable named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 Notice the test condition,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Droid Sans Mono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 &gt; 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Here, since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 is greater than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, the condition evaluates 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effectLst/>
                <a:latin typeface="Droid Sans Mono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If we change the value of variable to a negative integer. Let's say -5.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number = -5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Now, when we run the program, the output will be: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if statement is easy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is because the value of number is less than 0. Hence, the condition evaluates to False. And, the body of if block is skipped.</a:t>
            </a:r>
          </a:p>
        </p:txBody>
      </p:sp>
    </p:spTree>
    <p:extLst>
      <p:ext uri="{BB962C8B-B14F-4D97-AF65-F5344CB8AC3E}">
        <p14:creationId xmlns:p14="http://schemas.microsoft.com/office/powerpoint/2010/main" val="61703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0B7D-07DE-24F7-0D86-13B9315D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805"/>
            <a:ext cx="10515600" cy="906463"/>
          </a:xfrm>
        </p:spPr>
        <p:txBody>
          <a:bodyPr/>
          <a:lstStyle/>
          <a:p>
            <a:r>
              <a:rPr lang="en-US" b="1" dirty="0"/>
              <a:t>2. Python if...else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7339C-92D7-B52F-184B-919522316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4268"/>
            <a:ext cx="10515600" cy="5495927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An if statement can have an optional else clause.</a:t>
            </a:r>
          </a:p>
          <a:p>
            <a:r>
              <a:rPr lang="en-US" sz="3200" dirty="0"/>
              <a:t>The syntax of if...else statement is:</a:t>
            </a:r>
          </a:p>
          <a:p>
            <a:pPr lvl="1"/>
            <a:r>
              <a:rPr lang="en-US" sz="2800" dirty="0"/>
              <a:t>if condition:</a:t>
            </a:r>
          </a:p>
          <a:p>
            <a:pPr lvl="1"/>
            <a:r>
              <a:rPr lang="en-US" sz="2800" dirty="0"/>
              <a:t>    # block of code if condition is True</a:t>
            </a:r>
          </a:p>
          <a:p>
            <a:pPr lvl="1"/>
            <a:r>
              <a:rPr lang="en-US" sz="2800" dirty="0"/>
              <a:t>else:</a:t>
            </a:r>
          </a:p>
          <a:p>
            <a:pPr lvl="1"/>
            <a:r>
              <a:rPr lang="en-US" sz="2800" dirty="0"/>
              <a:t>    # block of code if condition is False</a:t>
            </a:r>
          </a:p>
          <a:p>
            <a:r>
              <a:rPr lang="en-US" sz="3200" dirty="0"/>
              <a:t>The if...else statement evaluates the given condition:</a:t>
            </a:r>
          </a:p>
          <a:p>
            <a:r>
              <a:rPr lang="en-US" sz="3200" dirty="0"/>
              <a:t>If the condition evaluates to True,</a:t>
            </a:r>
          </a:p>
          <a:p>
            <a:pPr lvl="1"/>
            <a:r>
              <a:rPr lang="en-US" sz="2800" dirty="0"/>
              <a:t>the code inside if is executed</a:t>
            </a:r>
          </a:p>
          <a:p>
            <a:pPr lvl="1"/>
            <a:r>
              <a:rPr lang="en-US" sz="2800" dirty="0"/>
              <a:t>the code inside else is skipped</a:t>
            </a:r>
          </a:p>
          <a:p>
            <a:r>
              <a:rPr lang="en-US" sz="3200" dirty="0"/>
              <a:t>If the condition evaluates to False,</a:t>
            </a:r>
          </a:p>
          <a:p>
            <a:pPr lvl="1"/>
            <a:r>
              <a:rPr lang="en-US" sz="2800" dirty="0"/>
              <a:t>the code inside else is executed</a:t>
            </a:r>
          </a:p>
          <a:p>
            <a:pPr lvl="1"/>
            <a:r>
              <a:rPr lang="en-US" sz="2800" dirty="0"/>
              <a:t>the code inside if is skipped</a:t>
            </a:r>
          </a:p>
        </p:txBody>
      </p:sp>
    </p:spTree>
    <p:extLst>
      <p:ext uri="{BB962C8B-B14F-4D97-AF65-F5344CB8AC3E}">
        <p14:creationId xmlns:p14="http://schemas.microsoft.com/office/powerpoint/2010/main" val="2851113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D5244C-7D1C-2D62-11F3-DD6A161B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26" y="719742"/>
            <a:ext cx="9795748" cy="54185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954F56-1026-3EAA-D4A8-4C7984593B12}"/>
              </a:ext>
            </a:extLst>
          </p:cNvPr>
          <p:cNvSpPr txBox="1"/>
          <p:nvPr/>
        </p:nvSpPr>
        <p:spPr>
          <a:xfrm>
            <a:off x="4573786" y="6138257"/>
            <a:ext cx="304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effectLst/>
                <a:latin typeface="euclid_circular_a"/>
              </a:rPr>
              <a:t>Working of if...else Statement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9120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68CB-72F5-49D4-6599-685C6523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0088"/>
            <a:ext cx="10515600" cy="5672137"/>
          </a:xfrm>
        </p:spPr>
        <p:txBody>
          <a:bodyPr/>
          <a:lstStyle/>
          <a:p>
            <a:r>
              <a:rPr lang="en-US" dirty="0"/>
              <a:t>Example 2. Python if...else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16481-F788-5001-D283-699A9B104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38147"/>
            <a:ext cx="5443906" cy="2833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7BC5D-D2EF-6E06-129E-3AF4257A7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595734"/>
            <a:ext cx="4576722" cy="177649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4230DB2-F2DC-8C7E-7A9E-CE9CFCBD8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219" y="956490"/>
            <a:ext cx="5200650" cy="5539978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In the above example, we have created a variable named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 Notice the test condition,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Droid Sans Mono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 &gt; 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Since the value of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 is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, the test condition evaluates to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 Hence code inside the body of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 is executed.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If we change the value of variable to a negative integer. Let's say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-5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Droid Sans Mono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 = -5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Now if we run the program, the output will be: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Droid Sans Mono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 is negative. This statement is always executed.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Here, the test condition evaluates to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 Hence code inside the body of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 is executed.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199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681C-0E8E-0C0D-0FF6-906BA42E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389"/>
            <a:ext cx="10515600" cy="706438"/>
          </a:xfrm>
        </p:spPr>
        <p:txBody>
          <a:bodyPr/>
          <a:lstStyle/>
          <a:p>
            <a:r>
              <a:rPr lang="en-US" b="1" dirty="0"/>
              <a:t>3. Python if...elif...else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EFE14-A7A0-8FA1-6CAE-8F22203E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827"/>
            <a:ext cx="10515600" cy="57927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if...else statement is used to execute a block of code among two alternatives.</a:t>
            </a:r>
          </a:p>
          <a:p>
            <a:r>
              <a:rPr lang="en-US" dirty="0"/>
              <a:t>However, if we need to make a choice between more than two alternatives, then we use the if...elif...else statement.</a:t>
            </a:r>
          </a:p>
          <a:p>
            <a:r>
              <a:rPr lang="en-US" dirty="0"/>
              <a:t>The syntax of the if...elif...else statement is:</a:t>
            </a:r>
          </a:p>
          <a:p>
            <a:pPr lvl="1"/>
            <a:r>
              <a:rPr lang="en-US" dirty="0"/>
              <a:t>if condition1:</a:t>
            </a:r>
          </a:p>
          <a:p>
            <a:pPr lvl="1"/>
            <a:r>
              <a:rPr lang="en-US" dirty="0"/>
              <a:t>    # code block 1</a:t>
            </a:r>
          </a:p>
          <a:p>
            <a:pPr lvl="1"/>
            <a:r>
              <a:rPr lang="en-US" dirty="0"/>
              <a:t>elif condition2:</a:t>
            </a:r>
          </a:p>
          <a:p>
            <a:pPr lvl="1"/>
            <a:r>
              <a:rPr lang="en-US" dirty="0"/>
              <a:t>    # code block 2</a:t>
            </a:r>
          </a:p>
          <a:p>
            <a:pPr lvl="1"/>
            <a:r>
              <a:rPr lang="en-US" dirty="0"/>
              <a:t>else: </a:t>
            </a:r>
          </a:p>
          <a:p>
            <a:pPr lvl="1"/>
            <a:r>
              <a:rPr lang="en-US" dirty="0"/>
              <a:t>    # code block 3</a:t>
            </a:r>
          </a:p>
          <a:p>
            <a:r>
              <a:rPr lang="en-US" dirty="0"/>
              <a:t>Here,</a:t>
            </a:r>
          </a:p>
          <a:p>
            <a:pPr lvl="1"/>
            <a:r>
              <a:rPr lang="en-US" dirty="0"/>
              <a:t>If condition1 evaluates to true, code block 1 is executed.</a:t>
            </a:r>
          </a:p>
          <a:p>
            <a:pPr lvl="1"/>
            <a:r>
              <a:rPr lang="en-US" dirty="0"/>
              <a:t>If condition1 evaluates to false, then condition2 is evaluated.</a:t>
            </a:r>
          </a:p>
          <a:p>
            <a:pPr lvl="1"/>
            <a:r>
              <a:rPr lang="en-US" dirty="0"/>
              <a:t>If condition2 is true, code block 2 is executed.</a:t>
            </a:r>
          </a:p>
          <a:p>
            <a:pPr lvl="1"/>
            <a:r>
              <a:rPr lang="en-US" dirty="0"/>
              <a:t>If condition2 is false, code block 3 is executed.</a:t>
            </a:r>
          </a:p>
        </p:txBody>
      </p:sp>
    </p:spTree>
    <p:extLst>
      <p:ext uri="{BB962C8B-B14F-4D97-AF65-F5344CB8AC3E}">
        <p14:creationId xmlns:p14="http://schemas.microsoft.com/office/powerpoint/2010/main" val="386704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28C276-9317-2EC7-8098-14B77631D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08" y="1004997"/>
            <a:ext cx="10587784" cy="4848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B59ECB-C6EF-DC33-4A3F-EE4DD8A117B7}"/>
              </a:ext>
            </a:extLst>
          </p:cNvPr>
          <p:cNvSpPr txBox="1"/>
          <p:nvPr/>
        </p:nvSpPr>
        <p:spPr>
          <a:xfrm>
            <a:off x="4571405" y="5853003"/>
            <a:ext cx="3049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effectLst/>
                <a:latin typeface="euclid_circular_a"/>
              </a:rPr>
              <a:t>Working of if...elif Statement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3690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B8786-9B07-1BBB-4E2D-8BD099C6E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0050"/>
            <a:ext cx="10515600" cy="5776913"/>
          </a:xfrm>
        </p:spPr>
        <p:txBody>
          <a:bodyPr/>
          <a:lstStyle/>
          <a:p>
            <a:r>
              <a:rPr lang="en-US" b="1" dirty="0"/>
              <a:t>Example 3: Python if...elif...else Statement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95EEA-F516-2642-9BA1-F08E58E31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28536"/>
            <a:ext cx="5196562" cy="3219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DBC03-77D7-5A3C-1548-89A7F9109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76745"/>
            <a:ext cx="5196562" cy="177233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D85FDB6-7E71-B1E3-2BF5-E3AEF223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163" y="966788"/>
            <a:ext cx="4719637" cy="4924425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In the above example, we have created a variable named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number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 with the value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0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 Here, we have two condition expressions: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Here, both the conditions evaluate to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False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. Hence the statement inside the body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else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euclid_circular_a"/>
              </a:rPr>
              <a:t> is executed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31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AF58-D0F6-62F5-B219-9E76284A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230"/>
            <a:ext cx="10515600" cy="963613"/>
          </a:xfrm>
        </p:spPr>
        <p:txBody>
          <a:bodyPr/>
          <a:lstStyle/>
          <a:p>
            <a:r>
              <a:rPr lang="en-US" b="1" dirty="0"/>
              <a:t>Python Nested 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22E72-6469-36C7-0E01-8C25CDD7F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842"/>
            <a:ext cx="10515600" cy="5495928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We can also use an if statement inside of an if statement. This is known as a nested if statement.</a:t>
            </a:r>
          </a:p>
          <a:p>
            <a:r>
              <a:rPr lang="en-US" sz="3200" dirty="0"/>
              <a:t>The syntax of nested if statement is:</a:t>
            </a:r>
          </a:p>
          <a:p>
            <a:pPr lvl="1"/>
            <a:r>
              <a:rPr lang="en-US" sz="2800" dirty="0"/>
              <a:t># outer if statement</a:t>
            </a:r>
          </a:p>
          <a:p>
            <a:pPr lvl="1"/>
            <a:r>
              <a:rPr lang="en-US" sz="2800" dirty="0"/>
              <a:t>if condition1:</a:t>
            </a:r>
          </a:p>
          <a:p>
            <a:pPr lvl="1"/>
            <a:r>
              <a:rPr lang="en-US" sz="2800" dirty="0"/>
              <a:t>    # statement(s)</a:t>
            </a:r>
          </a:p>
          <a:p>
            <a:pPr lvl="1"/>
            <a:r>
              <a:rPr lang="en-US" sz="2800" dirty="0"/>
              <a:t>    # inner if statement</a:t>
            </a:r>
          </a:p>
          <a:p>
            <a:pPr lvl="1"/>
            <a:r>
              <a:rPr lang="en-US" sz="2800" dirty="0"/>
              <a:t>    if condition2: </a:t>
            </a:r>
          </a:p>
          <a:p>
            <a:pPr lvl="1"/>
            <a:r>
              <a:rPr lang="en-US" sz="2800" dirty="0"/>
              <a:t>        # statement(s)</a:t>
            </a:r>
          </a:p>
          <a:p>
            <a:r>
              <a:rPr lang="en-US" sz="3200" dirty="0"/>
              <a:t>Notes:</a:t>
            </a:r>
          </a:p>
          <a:p>
            <a:pPr lvl="1"/>
            <a:r>
              <a:rPr lang="en-US" sz="2800" dirty="0"/>
              <a:t>We can add else and elif statements to the inner if statement as required.</a:t>
            </a:r>
          </a:p>
          <a:p>
            <a:pPr lvl="1"/>
            <a:r>
              <a:rPr lang="en-US" sz="2800" dirty="0"/>
              <a:t>We can also insert inner if statement inside the outer else or elif statements(if they exist)</a:t>
            </a:r>
          </a:p>
          <a:p>
            <a:pPr lvl="1"/>
            <a:r>
              <a:rPr lang="en-US" sz="2800" dirty="0"/>
              <a:t>We can nest multiple layers of if statements</a:t>
            </a:r>
          </a:p>
        </p:txBody>
      </p:sp>
    </p:spTree>
    <p:extLst>
      <p:ext uri="{BB962C8B-B14F-4D97-AF65-F5344CB8AC3E}">
        <p14:creationId xmlns:p14="http://schemas.microsoft.com/office/powerpoint/2010/main" val="76865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1322-561E-491F-13BC-E2689715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888"/>
          </a:xfrm>
        </p:spPr>
        <p:txBody>
          <a:bodyPr/>
          <a:lstStyle/>
          <a:p>
            <a:r>
              <a:rPr lang="en-US" b="1" dirty="0"/>
              <a:t>Example 4: Python Nested if Statement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328CF5-DAD9-4271-1C09-B4F98CF83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43014"/>
            <a:ext cx="4719638" cy="530770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7A2FA8-B46A-BA36-C2B7-908376C072AC}"/>
              </a:ext>
            </a:extLst>
          </p:cNvPr>
          <p:cNvSpPr txBox="1"/>
          <p:nvPr/>
        </p:nvSpPr>
        <p:spPr>
          <a:xfrm>
            <a:off x="5890023" y="1634223"/>
            <a:ext cx="54637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euclid_circular_a"/>
              </a:rPr>
              <a:t>In the above example, we have used a </a:t>
            </a:r>
            <a:r>
              <a:rPr lang="en-US" sz="2400" b="1" i="0" dirty="0">
                <a:effectLst/>
                <a:latin typeface="euclid_circular_a"/>
              </a:rPr>
              <a:t>nested if</a:t>
            </a:r>
            <a:r>
              <a:rPr lang="en-US" sz="2400" b="0" i="0" dirty="0">
                <a:effectLst/>
                <a:latin typeface="euclid_circular_a"/>
              </a:rPr>
              <a:t> statement to check whether the given number is </a:t>
            </a:r>
            <a:r>
              <a:rPr lang="en-US" sz="2400" b="1" i="0" dirty="0">
                <a:effectLst/>
                <a:latin typeface="euclid_circular_a"/>
              </a:rPr>
              <a:t>positive, negative, or 0</a:t>
            </a:r>
            <a:r>
              <a:rPr lang="en-US" sz="2400" b="0" i="0" dirty="0">
                <a:effectLst/>
                <a:latin typeface="euclid_circular_a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0322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830C-8801-F514-C80C-D07EC704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5088"/>
          </a:xfrm>
        </p:spPr>
        <p:txBody>
          <a:bodyPr/>
          <a:lstStyle/>
          <a:p>
            <a:r>
              <a:rPr lang="en-US" b="1" dirty="0"/>
              <a:t>Loops in Python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09562-6350-B9F3-B6F3-DFE9C3D3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7388"/>
            <a:ext cx="10515600" cy="4219575"/>
          </a:xfrm>
        </p:spPr>
        <p:txBody>
          <a:bodyPr/>
          <a:lstStyle/>
          <a:p>
            <a:r>
              <a:rPr lang="en-US" dirty="0"/>
              <a:t>In computer programming, loops are used to repeat a block of code.</a:t>
            </a:r>
          </a:p>
          <a:p>
            <a:r>
              <a:rPr lang="en-US" dirty="0"/>
              <a:t>For example, if we want to show a message 100 times, then we can use a loop. It's just a simple example; you can achieve much more with loops.</a:t>
            </a:r>
          </a:p>
          <a:p>
            <a:r>
              <a:rPr lang="en-US" dirty="0"/>
              <a:t>There are 2 types of loops in Python: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for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while loop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52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E2C8-5A45-C5EF-0D4B-96F523DF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42E37-5021-E7E1-D7D2-C17C00956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In Python, a for loop is used to iterate over sequences such as lists, tuples, string, etc. For example,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CE0F9-31E3-8DB1-92A8-6E0B2DFA9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86038"/>
            <a:ext cx="7331893" cy="1900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094476-5F50-9EE2-979C-DD8D2C5B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67133"/>
            <a:ext cx="1647825" cy="215256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BC882F1-7BE5-9555-CEF5-F9A8BC009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763" y="4592637"/>
            <a:ext cx="8558212" cy="2215991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In the above example, we have created a list called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languages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Initially, the value of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language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is set to the first element of the array, i.e.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Swift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, so the print statement inside the loop is executed.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language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is updated with the next element of the list, and the print statement is executed again. This way, the loop runs until the last element of the list is accessed.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467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ABE40-1975-2F4F-D872-8A14C51D9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0075"/>
            <a:ext cx="5257800" cy="557688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for Loop Syntax</a:t>
            </a:r>
          </a:p>
          <a:p>
            <a:r>
              <a:rPr lang="en-US" dirty="0"/>
              <a:t>The syntax of a for loop is: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val</a:t>
            </a:r>
            <a:r>
              <a:rPr lang="en-US" dirty="0"/>
              <a:t> in sequence:</a:t>
            </a:r>
          </a:p>
          <a:p>
            <a:pPr lvl="1"/>
            <a:r>
              <a:rPr lang="en-US" dirty="0"/>
              <a:t>    # statement(s)</a:t>
            </a:r>
          </a:p>
          <a:p>
            <a:r>
              <a:rPr lang="en-US" dirty="0"/>
              <a:t>Here, </a:t>
            </a:r>
            <a:r>
              <a:rPr lang="en-US" dirty="0" err="1"/>
              <a:t>val</a:t>
            </a:r>
            <a:r>
              <a:rPr lang="en-US" dirty="0"/>
              <a:t> accesses each item of sequence on each iteration. The loop continues until we reach the last item in the sequence.</a:t>
            </a:r>
          </a:p>
          <a:p>
            <a:r>
              <a:rPr lang="en-US" dirty="0"/>
              <a:t>Example: Loop Through a String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08DDA-592C-9BBD-9A64-217FC656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47467"/>
            <a:ext cx="5333056" cy="52104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9B0555-8960-5725-616A-8939C4A94203}"/>
              </a:ext>
            </a:extLst>
          </p:cNvPr>
          <p:cNvSpPr txBox="1"/>
          <p:nvPr/>
        </p:nvSpPr>
        <p:spPr>
          <a:xfrm>
            <a:off x="7308179" y="6257924"/>
            <a:ext cx="290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effectLst/>
                <a:latin typeface="euclid_circular_a"/>
              </a:rPr>
              <a:t>Working of Python for loop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9AD10-3A20-3189-D4B5-0E6477C996A3}"/>
              </a:ext>
            </a:extLst>
          </p:cNvPr>
          <p:cNvSpPr txBox="1"/>
          <p:nvPr/>
        </p:nvSpPr>
        <p:spPr>
          <a:xfrm>
            <a:off x="7237932" y="600075"/>
            <a:ext cx="3049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Flowchart of Python for Loop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3F353E-9F5A-CCB6-3B48-39438B2F2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7" y="4487998"/>
            <a:ext cx="2676919" cy="8525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BCE13F-F492-4E6C-3196-A4555B025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20" y="4456547"/>
            <a:ext cx="851945" cy="217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21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B8FE-7067-4575-1184-60C5D3337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Python for Loop with Python range()</a:t>
            </a:r>
          </a:p>
          <a:p>
            <a:r>
              <a:rPr lang="en-US" dirty="0"/>
              <a:t>A range is a series of values between two numeric intervals.</a:t>
            </a:r>
          </a:p>
          <a:p>
            <a:r>
              <a:rPr lang="en-US" dirty="0"/>
              <a:t>We use Python's built-in function range() to define a range of values. For example,</a:t>
            </a:r>
          </a:p>
          <a:p>
            <a:pPr lvl="1"/>
            <a:r>
              <a:rPr lang="en-US" dirty="0"/>
              <a:t>values = range(4)</a:t>
            </a:r>
          </a:p>
          <a:p>
            <a:r>
              <a:rPr lang="en-US" dirty="0"/>
              <a:t>Here, 4 inside range() defines a range containing values 0, 1, 2, 3.</a:t>
            </a:r>
          </a:p>
          <a:p>
            <a:r>
              <a:rPr lang="en-US" dirty="0"/>
              <a:t>In Python, we can use for loop to iterate over a range. For example,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764F7-89ED-759A-357C-7F69A6E67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062324"/>
            <a:ext cx="5508404" cy="1952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99DBC8-EA2B-1F2E-590B-39F2C5A2D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312" y="4062324"/>
            <a:ext cx="1366889" cy="2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90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57E22-FFFE-8F1E-F2CC-329AAA2B1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2925"/>
            <a:ext cx="10515600" cy="5634038"/>
          </a:xfrm>
        </p:spPr>
        <p:txBody>
          <a:bodyPr/>
          <a:lstStyle/>
          <a:p>
            <a:r>
              <a:rPr lang="en-US" dirty="0"/>
              <a:t>In the above example, we have used the for loop to iterate over a range from 0 to 3.</a:t>
            </a:r>
          </a:p>
          <a:p>
            <a:r>
              <a:rPr lang="en-US" dirty="0"/>
              <a:t>The value of i is set to 0 and it is updated to the next number of the range on each iteration. This process continues until 3 is reached.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D60D6-1B75-5B9D-1041-8FEDA2F31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205" y="2441832"/>
            <a:ext cx="9479590" cy="373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81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BC1B-572C-0176-DC9C-642D159B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/>
          <a:lstStyle/>
          <a:p>
            <a:r>
              <a:rPr lang="en-US" b="1" dirty="0"/>
              <a:t>Using a for Loop Without Accessing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FD82D-E2B0-2AAE-3A40-4255F5A3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426"/>
            <a:ext cx="10515600" cy="5062537"/>
          </a:xfrm>
        </p:spPr>
        <p:txBody>
          <a:bodyPr/>
          <a:lstStyle/>
          <a:p>
            <a:r>
              <a:rPr lang="en-US" dirty="0"/>
              <a:t>It is not mandatory to use items of a sequence within a for loop. For example,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E2218-7412-AA44-F510-7984D3E7B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123822"/>
            <a:ext cx="5395667" cy="1726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80D60-2BB1-A5B1-4879-11C3DF59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850435"/>
            <a:ext cx="1019175" cy="273808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A7DFE0A-3276-CBCE-9460-1D3066132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4453414"/>
            <a:ext cx="8582025" cy="1723549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Here, the loop runs three times because our list has three items. In each iteration, the loop body prints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'Hello'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and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'Hi'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. The items of the list are not used within the loop.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6849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7999C-59F3-DAC7-1E7C-AEBDB69DA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0075"/>
            <a:ext cx="10515600" cy="5576888"/>
          </a:xfrm>
        </p:spPr>
        <p:txBody>
          <a:bodyPr/>
          <a:lstStyle/>
          <a:p>
            <a:r>
              <a:rPr lang="en-US" dirty="0"/>
              <a:t>If we do not intend to use items of a sequence within the loop, we can write the loop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_ symbol is used to denote that the elements of a sequence will not be used within the loop body.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5BE6C-52A8-ABCD-DE56-1E6800163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585838"/>
            <a:ext cx="6610303" cy="23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47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8AB2-7C32-666A-71BA-822A9E40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/>
          <a:lstStyle/>
          <a:p>
            <a:r>
              <a:rPr lang="en-US" b="1" dirty="0"/>
              <a:t>Python for loop with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F011-93CF-D5D3-93FB-36228A13C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850"/>
            <a:ext cx="10515600" cy="5091113"/>
          </a:xfrm>
        </p:spPr>
        <p:txBody>
          <a:bodyPr/>
          <a:lstStyle/>
          <a:p>
            <a:r>
              <a:rPr lang="en-US" dirty="0"/>
              <a:t>A for loop can have an optional else block. The else part is executed when the loop is exhausted (after the loop iterates through every item of a sequence). For example,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B30E2-1E90-21CB-6908-841ECFAD4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96" y="2328955"/>
            <a:ext cx="4712192" cy="2726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1FF3F2-020F-B175-9492-845C6212A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915" y="2328955"/>
            <a:ext cx="2687934" cy="272606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F0685BA-333A-5FBA-1D2B-43E7C1DFD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96" y="5055016"/>
            <a:ext cx="10707486" cy="1723549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Here,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for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loop prints all the items of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digits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list. When the loop finishes, it executes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else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block and prints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No items left.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Note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: The else block will not execute if the for loop is stopped by a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556F3"/>
                </a:solidFill>
                <a:effectLst/>
                <a:latin typeface="euclid_circular_a"/>
                <a:hlinkClick r:id="rId4"/>
              </a:rPr>
              <a:t>break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statement.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748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2241-F424-6EED-BA69-B0B889FD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0750"/>
          </a:xfrm>
        </p:spPr>
        <p:txBody>
          <a:bodyPr/>
          <a:lstStyle/>
          <a:p>
            <a:r>
              <a:rPr lang="en-US" b="1" dirty="0"/>
              <a:t>Python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60ABF-94F4-03C5-538C-43DA9A41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6"/>
            <a:ext cx="10515600" cy="5206998"/>
          </a:xfrm>
        </p:spPr>
        <p:txBody>
          <a:bodyPr>
            <a:normAutofit/>
          </a:bodyPr>
          <a:lstStyle/>
          <a:p>
            <a:r>
              <a:rPr lang="en-US" sz="3200" dirty="0"/>
              <a:t>In programming, loops are used to repeat a block of code. For example, if we want to show a message 100 times, then we can use a loop. It's just a simple example, we can achieve much more with loops.</a:t>
            </a:r>
          </a:p>
          <a:p>
            <a:r>
              <a:rPr lang="en-US" sz="3200" dirty="0"/>
              <a:t>Python while loop is used to run a block code until a certain condition is met.</a:t>
            </a:r>
          </a:p>
          <a:p>
            <a:r>
              <a:rPr lang="en-US" sz="3200" dirty="0"/>
              <a:t>The syntax of while loop is:</a:t>
            </a:r>
          </a:p>
          <a:p>
            <a:pPr lvl="1"/>
            <a:r>
              <a:rPr lang="en-US" sz="2800" dirty="0"/>
              <a:t>while condition:</a:t>
            </a:r>
          </a:p>
          <a:p>
            <a:pPr lvl="1"/>
            <a:r>
              <a:rPr lang="en-US" sz="2800" dirty="0"/>
              <a:t>    # body of while loop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444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26132-AEFD-D14F-36D7-94860819B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488" y="1144859"/>
            <a:ext cx="5924261" cy="4615146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Here,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A while loop evaluates the condition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If the condition evaluates to True, the code inside the while loop is executed.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condition is evaluated again.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This process continues until the condition is False.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When condition evaluates to False, the loop stops.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30F8F-4412-CB58-B948-43869D45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585" y="1514192"/>
            <a:ext cx="4690983" cy="4615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995C56-FE13-C682-4DB1-CB9A16B654B5}"/>
              </a:ext>
            </a:extLst>
          </p:cNvPr>
          <p:cNvSpPr txBox="1"/>
          <p:nvPr/>
        </p:nvSpPr>
        <p:spPr>
          <a:xfrm>
            <a:off x="7630081" y="1144859"/>
            <a:ext cx="3353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Flowchart of Python while Loop</a:t>
            </a:r>
          </a:p>
        </p:txBody>
      </p:sp>
    </p:spTree>
    <p:extLst>
      <p:ext uri="{BB962C8B-B14F-4D97-AF65-F5344CB8AC3E}">
        <p14:creationId xmlns:p14="http://schemas.microsoft.com/office/powerpoint/2010/main" val="3428797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0753A-5AEC-CB44-4A8D-DA1FD3F47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1525"/>
            <a:ext cx="10515600" cy="5405438"/>
          </a:xfrm>
        </p:spPr>
        <p:txBody>
          <a:bodyPr/>
          <a:lstStyle/>
          <a:p>
            <a:r>
              <a:rPr lang="en-US" dirty="0"/>
              <a:t>Example: Python while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17343-5920-D482-6DB3-0EF76286E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70" y="1366700"/>
            <a:ext cx="5210406" cy="3087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35394B-FBC0-827E-BA74-0FE970392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69" y="4591391"/>
            <a:ext cx="867006" cy="201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35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D300-7A85-F9A5-0DFF-85A40DA0B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488"/>
            <a:ext cx="10515600" cy="5705475"/>
          </a:xfrm>
        </p:spPr>
        <p:txBody>
          <a:bodyPr/>
          <a:lstStyle/>
          <a:p>
            <a:r>
              <a:rPr lang="en-US" dirty="0"/>
              <a:t>Here's how the program works: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83C48D-8C01-BCBB-77EA-BF756C6B6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889040"/>
              </p:ext>
            </p:extLst>
          </p:nvPr>
        </p:nvGraphicFramePr>
        <p:xfrm>
          <a:off x="838200" y="1143000"/>
          <a:ext cx="10648950" cy="5323258"/>
        </p:xfrm>
        <a:graphic>
          <a:graphicData uri="http://schemas.openxmlformats.org/drawingml/2006/table">
            <a:tbl>
              <a:tblPr/>
              <a:tblGrid>
                <a:gridCol w="3549650">
                  <a:extLst>
                    <a:ext uri="{9D8B030D-6E8A-4147-A177-3AD203B41FA5}">
                      <a16:colId xmlns:a16="http://schemas.microsoft.com/office/drawing/2014/main" val="2548253789"/>
                    </a:ext>
                  </a:extLst>
                </a:gridCol>
                <a:gridCol w="3549650">
                  <a:extLst>
                    <a:ext uri="{9D8B030D-6E8A-4147-A177-3AD203B41FA5}">
                      <a16:colId xmlns:a16="http://schemas.microsoft.com/office/drawing/2014/main" val="134863085"/>
                    </a:ext>
                  </a:extLst>
                </a:gridCol>
                <a:gridCol w="3549650">
                  <a:extLst>
                    <a:ext uri="{9D8B030D-6E8A-4147-A177-3AD203B41FA5}">
                      <a16:colId xmlns:a16="http://schemas.microsoft.com/office/drawing/2014/main" val="1530399447"/>
                    </a:ext>
                  </a:extLst>
                </a:gridCol>
              </a:tblGrid>
              <a:tr h="510430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effectLst/>
                        </a:rPr>
                        <a:t>Variable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effectLst/>
                        </a:rPr>
                        <a:t>Condition: i &lt;= n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effectLst/>
                        </a:rPr>
                        <a:t>Action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48992"/>
                  </a:ext>
                </a:extLst>
              </a:tr>
              <a:tr h="788847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 = 1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n = 5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True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1 is printed. i is increased to </a:t>
                      </a:r>
                      <a:r>
                        <a:rPr lang="en-US" sz="2000" b="1">
                          <a:effectLst/>
                        </a:rPr>
                        <a:t>2</a:t>
                      </a:r>
                      <a:r>
                        <a:rPr lang="en-US" sz="2000">
                          <a:effectLst/>
                        </a:rPr>
                        <a:t>.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05558"/>
                  </a:ext>
                </a:extLst>
              </a:tr>
              <a:tr h="788847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 = 2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n = 5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True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2 is printed. i is increased to </a:t>
                      </a:r>
                      <a:r>
                        <a:rPr lang="en-US" sz="2000" b="1">
                          <a:effectLst/>
                        </a:rPr>
                        <a:t>3</a:t>
                      </a:r>
                      <a:r>
                        <a:rPr lang="en-US" sz="2000">
                          <a:effectLst/>
                        </a:rPr>
                        <a:t>.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153913"/>
                  </a:ext>
                </a:extLst>
              </a:tr>
              <a:tr h="788847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 = 3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n = 5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True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3 is printed. i is increased to </a:t>
                      </a:r>
                      <a:r>
                        <a:rPr lang="en-US" sz="2000" b="1">
                          <a:effectLst/>
                        </a:rPr>
                        <a:t>4</a:t>
                      </a:r>
                      <a:r>
                        <a:rPr lang="en-US" sz="2000">
                          <a:effectLst/>
                        </a:rPr>
                        <a:t>.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748073"/>
                  </a:ext>
                </a:extLst>
              </a:tr>
              <a:tr h="788847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 = 4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n = 5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True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4 is printed. i is increased to </a:t>
                      </a:r>
                      <a:r>
                        <a:rPr lang="en-US" sz="2000" b="1">
                          <a:effectLst/>
                        </a:rPr>
                        <a:t>5</a:t>
                      </a:r>
                      <a:r>
                        <a:rPr lang="en-US" sz="2000">
                          <a:effectLst/>
                        </a:rPr>
                        <a:t>.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006726"/>
                  </a:ext>
                </a:extLst>
              </a:tr>
              <a:tr h="788847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 = 5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n = 5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True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5 is printed. i is increased to </a:t>
                      </a:r>
                      <a:r>
                        <a:rPr lang="en-US" sz="2000" b="1">
                          <a:effectLst/>
                        </a:rPr>
                        <a:t>6</a:t>
                      </a:r>
                      <a:r>
                        <a:rPr lang="en-US" sz="2000">
                          <a:effectLst/>
                        </a:rPr>
                        <a:t>.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12669"/>
                  </a:ext>
                </a:extLst>
              </a:tr>
              <a:tr h="788847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 = 6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n = 5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False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The loop is terminated.</a:t>
                      </a:r>
                    </a:p>
                  </a:txBody>
                  <a:tcPr marL="192537" marR="192537" marT="96269" marB="962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64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117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1E85B-FCD1-66CE-5C56-01E5D55E8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063"/>
            <a:ext cx="10515600" cy="5676900"/>
          </a:xfrm>
        </p:spPr>
        <p:txBody>
          <a:bodyPr/>
          <a:lstStyle/>
          <a:p>
            <a:r>
              <a:rPr lang="en-US" dirty="0"/>
              <a:t>Example 2: Python while Loop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FF82C-BE26-C1E0-53B5-D2E3F5D67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65" y="1028479"/>
            <a:ext cx="5211312" cy="4215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04EF1-55F8-70D1-F5AD-CC4C4A52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397" y="1028480"/>
            <a:ext cx="2557459" cy="2314571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5F82C985-8A00-E59D-E897-BE155E792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042" y="3338513"/>
            <a:ext cx="4886325" cy="3231654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In the above example,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while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iterates until the user enters zero. When the user enters zero, the test condition evaluates to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False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and the loop ends.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746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C811-B068-1A8F-9872-613F2B48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Infinite while Loop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2D910-39CE-1827-4430-7420687BD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6600"/>
          </a:xfrm>
        </p:spPr>
        <p:txBody>
          <a:bodyPr/>
          <a:lstStyle/>
          <a:p>
            <a:r>
              <a:rPr lang="en-US" dirty="0"/>
              <a:t>If the condition of a loop is always True, the loop runs for infinite times (until the memory is full). For example,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In the above example, the condition always evaluates to True. Hence, the loop body will run for infinite times.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E66D7-7EED-B5A6-211F-ABA8A0BB0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21" y="2752654"/>
            <a:ext cx="6448182" cy="223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30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743C-2D8D-B5EC-CE0D-A4B637982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613"/>
          </a:xfrm>
        </p:spPr>
        <p:txBody>
          <a:bodyPr/>
          <a:lstStyle/>
          <a:p>
            <a:r>
              <a:rPr lang="en-US" b="1" dirty="0"/>
              <a:t>Python While loop with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8BCCC-FA22-DADE-D9D7-288D5E2F6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738"/>
            <a:ext cx="10515600" cy="4848225"/>
          </a:xfrm>
        </p:spPr>
        <p:txBody>
          <a:bodyPr/>
          <a:lstStyle/>
          <a:p>
            <a:r>
              <a:rPr lang="en-US" dirty="0"/>
              <a:t>In Python, a while loop may have an optional else block.</a:t>
            </a:r>
          </a:p>
          <a:p>
            <a:r>
              <a:rPr lang="en-US" dirty="0"/>
              <a:t>Here, the else part is executed after the condition of the loop evaluates to False.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D793E-F9B1-8921-A892-F1E8747D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06" y="2738341"/>
            <a:ext cx="4306494" cy="2890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C8A123-16EE-04AF-BA02-73392C4B3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905" y="2831069"/>
            <a:ext cx="2115265" cy="238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37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5408-C694-EEFF-990B-A79E61332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7225"/>
            <a:ext cx="10515600" cy="5519738"/>
          </a:xfrm>
        </p:spPr>
        <p:txBody>
          <a:bodyPr/>
          <a:lstStyle/>
          <a:p>
            <a:r>
              <a:rPr lang="en-US" dirty="0"/>
              <a:t>Note: The else block will not execute if the while loop is terminated by a break statement.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37363-410E-5869-22FC-FD863FF5D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10" y="1528601"/>
            <a:ext cx="5041925" cy="404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04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861D-CD89-31CF-14BE-ADFA04CE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for Vs 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59380-3E78-C439-AF77-B6ACD02AB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 loop is usually used when the number of iterations is known. For example,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while loop is usually used when the number of iterations is unknown. For example,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5EAE3-4E6A-0C14-F81E-613318572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08" y="2657428"/>
            <a:ext cx="7336968" cy="1471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F58078-C2E5-DD0A-E24D-90306E443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08" y="5176804"/>
            <a:ext cx="7887961" cy="8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45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EAFE-0F43-9485-49AE-4C343310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b="1" dirty="0"/>
              <a:t>Python break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31DCA-218F-8E4B-835F-F55B24725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88"/>
            <a:ext cx="6276975" cy="4791075"/>
          </a:xfrm>
        </p:spPr>
        <p:txBody>
          <a:bodyPr/>
          <a:lstStyle/>
          <a:p>
            <a:r>
              <a:rPr lang="en-US" dirty="0"/>
              <a:t>The break statement is used to terminate the loop immediately when it is encountered.</a:t>
            </a:r>
          </a:p>
          <a:p>
            <a:r>
              <a:rPr lang="en-US" dirty="0"/>
              <a:t>The syntax of the break statement is: break</a:t>
            </a:r>
          </a:p>
          <a:p>
            <a:r>
              <a:rPr lang="en-US" dirty="0"/>
              <a:t>The working of break statement in for loop and while loop is shown in the diagram.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39E6E-95DB-DA73-107D-30447E03D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1456891"/>
            <a:ext cx="3957638" cy="4720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581342-7501-55D7-C950-F98F040CFFBD}"/>
              </a:ext>
            </a:extLst>
          </p:cNvPr>
          <p:cNvSpPr txBox="1"/>
          <p:nvPr/>
        </p:nvSpPr>
        <p:spPr>
          <a:xfrm>
            <a:off x="7424142" y="6308209"/>
            <a:ext cx="333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euclid_circular_a"/>
              </a:rPr>
              <a:t>Working of the break statement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75753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0C93-1D19-F174-BA04-67B094418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3625"/>
          </a:xfrm>
        </p:spPr>
        <p:txBody>
          <a:bodyPr/>
          <a:lstStyle/>
          <a:p>
            <a:r>
              <a:rPr lang="en-US" b="1" dirty="0"/>
              <a:t>Python break Statement with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8E74C-7A15-8DBA-C3BE-6CC0194D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748213"/>
          </a:xfrm>
        </p:spPr>
        <p:txBody>
          <a:bodyPr/>
          <a:lstStyle/>
          <a:p>
            <a:r>
              <a:rPr lang="en-US" dirty="0"/>
              <a:t>We can use the break statement with the for loop to terminate the loop when a certain condition is met. For example,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650B9-8B73-5462-41B7-33F7F20A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20" y="2257364"/>
            <a:ext cx="3464506" cy="1986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0683A8-F315-D37C-FFD2-24E704917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20" y="4471842"/>
            <a:ext cx="1224068" cy="220332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719330-B31D-7B6A-55E4-6D7F329238E6}"/>
              </a:ext>
            </a:extLst>
          </p:cNvPr>
          <p:cNvSpPr txBox="1">
            <a:spLocks/>
          </p:cNvSpPr>
          <p:nvPr/>
        </p:nvSpPr>
        <p:spPr>
          <a:xfrm>
            <a:off x="5007346" y="2492375"/>
            <a:ext cx="6346454" cy="41827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above example, we have used the for loop to print the value of i. Notice the use of the break statement,</a:t>
            </a:r>
          </a:p>
          <a:p>
            <a:pPr lvl="1"/>
            <a:r>
              <a:rPr lang="en-US" dirty="0"/>
              <a:t>if i == 3:</a:t>
            </a:r>
          </a:p>
          <a:p>
            <a:pPr lvl="1"/>
            <a:r>
              <a:rPr lang="en-US" dirty="0"/>
              <a:t>    break</a:t>
            </a:r>
          </a:p>
          <a:p>
            <a:r>
              <a:rPr lang="en-US" dirty="0"/>
              <a:t>Here, when i is equal to 3, the break statement terminates the loop. Hence, the output doesn't include values after 2.</a:t>
            </a:r>
          </a:p>
          <a:p>
            <a:r>
              <a:rPr lang="en-US" dirty="0"/>
              <a:t>Note: The break statement is almost always used with decision-making statements.</a:t>
            </a:r>
          </a:p>
        </p:txBody>
      </p:sp>
    </p:spTree>
    <p:extLst>
      <p:ext uri="{BB962C8B-B14F-4D97-AF65-F5344CB8AC3E}">
        <p14:creationId xmlns:p14="http://schemas.microsoft.com/office/powerpoint/2010/main" val="28552309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A355-25BF-F933-8541-5043E2E14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/>
          <a:lstStyle/>
          <a:p>
            <a:r>
              <a:rPr lang="en-US" b="1" dirty="0"/>
              <a:t>Python break Statement with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B38B-7DAE-05B6-5CCC-D7985CB9F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164"/>
            <a:ext cx="10515600" cy="4876799"/>
          </a:xfrm>
        </p:spPr>
        <p:txBody>
          <a:bodyPr/>
          <a:lstStyle/>
          <a:p>
            <a:r>
              <a:rPr lang="en-US"/>
              <a:t>We can also terminate the while loop using the break statement. For example,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59C8F-22EC-F230-E3A1-BE3F4439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33" y="2235202"/>
            <a:ext cx="5857348" cy="3836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86719C-BDC2-03AC-9E4D-B87847CD5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932" y="2235202"/>
            <a:ext cx="2162256" cy="290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42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F64AB-C28D-FA8D-5307-5C6B2A674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above example, we have used the while loop to find the first 5 multiples of 6. Here notice the line,</a:t>
            </a:r>
          </a:p>
          <a:p>
            <a:pPr lvl="1"/>
            <a:r>
              <a:rPr lang="en-US" dirty="0"/>
              <a:t>if i &gt;= 5:</a:t>
            </a:r>
          </a:p>
          <a:p>
            <a:pPr lvl="1"/>
            <a:r>
              <a:rPr lang="en-US" dirty="0"/>
              <a:t>    break</a:t>
            </a:r>
          </a:p>
          <a:p>
            <a:r>
              <a:rPr lang="en-US" dirty="0"/>
              <a:t>This means when i is greater than or equal to 5, the while loop is terminated.</a:t>
            </a:r>
          </a:p>
        </p:txBody>
      </p:sp>
    </p:spTree>
    <p:extLst>
      <p:ext uri="{BB962C8B-B14F-4D97-AF65-F5344CB8AC3E}">
        <p14:creationId xmlns:p14="http://schemas.microsoft.com/office/powerpoint/2010/main" val="2017148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B4CB-57D4-5E3A-71C5-406C2681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A486D-AB15-799D-4622-1A29598DC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4200" cy="4351338"/>
          </a:xfrm>
        </p:spPr>
        <p:txBody>
          <a:bodyPr/>
          <a:lstStyle/>
          <a:p>
            <a:r>
              <a:rPr lang="en-US" dirty="0"/>
              <a:t>The continue statement is used to skip the current iteration of the loop and the control flow of the program goes to the next iteration.</a:t>
            </a:r>
          </a:p>
          <a:p>
            <a:r>
              <a:rPr lang="en-US" dirty="0"/>
              <a:t>The syntax of the continue statement is: continue</a:t>
            </a:r>
          </a:p>
          <a:p>
            <a:r>
              <a:rPr lang="en-US" dirty="0"/>
              <a:t>The working of the continue statement in for and while loop is shown in the diagram.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C0843-4BFA-B0CA-DED1-15DECB3F6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314" y="1825625"/>
            <a:ext cx="2906129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FE6562-FF82-4D3B-8392-4B626208175D}"/>
              </a:ext>
            </a:extLst>
          </p:cNvPr>
          <p:cNvSpPr txBox="1"/>
          <p:nvPr/>
        </p:nvSpPr>
        <p:spPr>
          <a:xfrm>
            <a:off x="7441189" y="6123543"/>
            <a:ext cx="416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euclid_circular_a"/>
              </a:rPr>
              <a:t>How continue statement works in python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8137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44ED-0ED2-9C56-B23A-545C90E0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463"/>
          </a:xfrm>
        </p:spPr>
        <p:txBody>
          <a:bodyPr/>
          <a:lstStyle/>
          <a:p>
            <a:r>
              <a:rPr lang="en-US" b="1" dirty="0"/>
              <a:t>Python continue Statement with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F98E-0FA4-0AB3-ABFC-B38770ED2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588"/>
            <a:ext cx="10515600" cy="4905375"/>
          </a:xfrm>
        </p:spPr>
        <p:txBody>
          <a:bodyPr/>
          <a:lstStyle/>
          <a:p>
            <a:r>
              <a:rPr lang="en-US"/>
              <a:t>We can use the continue statement with the for loop to skip the current iteration of the loop. Then the control of the program jumps to the next iteration. For example,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9A5F2-D9F0-B158-3A70-6E718D815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20" y="2609735"/>
            <a:ext cx="3043344" cy="1656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63C37B-4F1A-F591-4A57-98E8585D6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18" y="4527159"/>
            <a:ext cx="1014519" cy="2180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647C68-6413-847F-7763-1593BCD43C33}"/>
              </a:ext>
            </a:extLst>
          </p:cNvPr>
          <p:cNvSpPr txBox="1"/>
          <p:nvPr/>
        </p:nvSpPr>
        <p:spPr>
          <a:xfrm>
            <a:off x="4662384" y="2609735"/>
            <a:ext cx="630099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euclid_circular_a"/>
              </a:rPr>
              <a:t>In the above example, we have used the for loop to print the value of i. Notice the use of the continue statement,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euclid_circular_a"/>
              </a:rPr>
              <a:t>if i == 3: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euclid_circular_a"/>
              </a:rPr>
              <a:t>    continue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euclid_circular_a"/>
              </a:rPr>
              <a:t>Here, when i is equal to 3, the continue statement is executed. Hence, the value 3 is not printed to the output.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0903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8EE9-55E0-D843-2519-07AFFC9D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b="1" dirty="0"/>
              <a:t>Python continue Statement with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AFFA4-CABD-4B78-A0E3-17AE022C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88"/>
            <a:ext cx="10515600" cy="4791075"/>
          </a:xfrm>
        </p:spPr>
        <p:txBody>
          <a:bodyPr/>
          <a:lstStyle/>
          <a:p>
            <a:r>
              <a:rPr lang="en-US" dirty="0"/>
              <a:t>In Python, we can also skip the current iteration of the while loop using the continue statement. For example,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D165D-A90C-D36E-412B-4E15AD2B5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65" y="2257274"/>
            <a:ext cx="4512052" cy="2729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70DF9-C360-837A-7B25-DAC67E5E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565" y="5081327"/>
            <a:ext cx="690810" cy="1585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70C860-C705-24A3-16DB-59BE9A342E19}"/>
              </a:ext>
            </a:extLst>
          </p:cNvPr>
          <p:cNvSpPr txBox="1"/>
          <p:nvPr/>
        </p:nvSpPr>
        <p:spPr>
          <a:xfrm>
            <a:off x="5790535" y="2257274"/>
            <a:ext cx="52349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euclid_circular_a"/>
              </a:rPr>
              <a:t>In the above example, we have used the while loop to print the odd numbers between 1 to 10. Notice the line,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euclid_circular_a"/>
              </a:rPr>
              <a:t>if (num % 2) == 0: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euclid_circular_a"/>
              </a:rPr>
              <a:t>    continue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euclid_circular_a"/>
              </a:rPr>
              <a:t>Here, when the number is even, the continue statement skips the current iteration and starts the next iteration.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3301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ABAD-C635-3B74-5FEE-3D42185F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163"/>
          </a:xfrm>
        </p:spPr>
        <p:txBody>
          <a:bodyPr/>
          <a:lstStyle/>
          <a:p>
            <a:r>
              <a:rPr lang="en-US" b="1" dirty="0"/>
              <a:t>Python pass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72581-5A90-F52B-2D67-2F47C384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7288"/>
            <a:ext cx="10515600" cy="5335587"/>
          </a:xfrm>
        </p:spPr>
        <p:txBody>
          <a:bodyPr/>
          <a:lstStyle/>
          <a:p>
            <a:r>
              <a:rPr lang="en-US" dirty="0"/>
              <a:t>In Python programming, the pass statement is a null statement which can be used as a placeholder for future code.</a:t>
            </a:r>
          </a:p>
          <a:p>
            <a:r>
              <a:rPr lang="en-US" dirty="0"/>
              <a:t>Suppose we have a loop or a function that is not implemented yet, but we want to implement it in the future. In such cases, we can use the pass statement.</a:t>
            </a:r>
          </a:p>
          <a:p>
            <a:r>
              <a:rPr lang="en-US" dirty="0"/>
              <a:t>The syntax of the pass statement is: pass</a:t>
            </a:r>
          </a:p>
          <a:p>
            <a:r>
              <a:rPr lang="en-US" dirty="0"/>
              <a:t>Using pass With Conditional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AD4FB-5A0B-5247-D283-B636626D3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51" y="4409976"/>
            <a:ext cx="3659147" cy="2082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9702B5-B361-88C7-6008-CE8C889D02A0}"/>
              </a:ext>
            </a:extLst>
          </p:cNvPr>
          <p:cNvSpPr txBox="1"/>
          <p:nvPr/>
        </p:nvSpPr>
        <p:spPr>
          <a:xfrm>
            <a:off x="5073940" y="4409976"/>
            <a:ext cx="60936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euclid_circular_a"/>
              </a:rPr>
              <a:t>Here, notice that we have used the pass statement inside the if statement.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euclid_circular_a"/>
              </a:rPr>
              <a:t>However, nothing happens when the pass is executed. It results in no operation (NOP).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27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E2B7-DF3A-B494-0B99-D420ECFF9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1"/>
            <a:ext cx="10515600" cy="6038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Suppose we didn't use pass or just put a comment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we will get an error message: IndentationError: expected an indented block</a:t>
            </a:r>
          </a:p>
          <a:p>
            <a:r>
              <a:rPr lang="en-US" dirty="0"/>
              <a:t>Note: The difference between a comment and a pass statement in Python is that while the interpreter ignores a comment entirely, pass is not ignored.</a:t>
            </a:r>
          </a:p>
          <a:p>
            <a:r>
              <a:rPr lang="en-US" dirty="0"/>
              <a:t>Use of pass Statement inside Function or Class</a:t>
            </a:r>
          </a:p>
          <a:p>
            <a:r>
              <a:rPr lang="en-US" dirty="0"/>
              <a:t>We can do the same thing in an empty function or class as well. For example,</a:t>
            </a:r>
          </a:p>
          <a:p>
            <a:pPr lvl="1"/>
            <a:r>
              <a:rPr lang="en-US" dirty="0"/>
              <a:t>def function(args):</a:t>
            </a:r>
          </a:p>
          <a:p>
            <a:pPr lvl="1"/>
            <a:r>
              <a:rPr lang="en-US" dirty="0"/>
              <a:t>    pass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026A5-D509-FD5E-F730-2106CE4B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46" y="590464"/>
            <a:ext cx="2886205" cy="190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92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2650</Words>
  <Application>Microsoft Office PowerPoint</Application>
  <PresentationFormat>Widescreen</PresentationFormat>
  <Paragraphs>252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Droid Sans Mono</vt:lpstr>
      <vt:lpstr>euclid_circular_a</vt:lpstr>
      <vt:lpstr>Wingdings</vt:lpstr>
      <vt:lpstr>Office Theme</vt:lpstr>
      <vt:lpstr>Python Control Flow</vt:lpstr>
      <vt:lpstr>What is control flow?</vt:lpstr>
      <vt:lpstr>Python if...else Statement</vt:lpstr>
      <vt:lpstr>Python if statement</vt:lpstr>
      <vt:lpstr>1. Python if statement</vt:lpstr>
      <vt:lpstr>PowerPoint Presentation</vt:lpstr>
      <vt:lpstr>2. Python if...else Statement</vt:lpstr>
      <vt:lpstr>PowerPoint Presentation</vt:lpstr>
      <vt:lpstr>PowerPoint Presentation</vt:lpstr>
      <vt:lpstr>3. Python if...elif...else Statement</vt:lpstr>
      <vt:lpstr>PowerPoint Presentation</vt:lpstr>
      <vt:lpstr>PowerPoint Presentation</vt:lpstr>
      <vt:lpstr>Python Nested if statements</vt:lpstr>
      <vt:lpstr>Example 4: Python Nested if Statement</vt:lpstr>
      <vt:lpstr>Loops in Python </vt:lpstr>
      <vt:lpstr>Python for Loop</vt:lpstr>
      <vt:lpstr>PowerPoint Presentation</vt:lpstr>
      <vt:lpstr>PowerPoint Presentation</vt:lpstr>
      <vt:lpstr>PowerPoint Presentation</vt:lpstr>
      <vt:lpstr>Using a for Loop Without Accessing Items</vt:lpstr>
      <vt:lpstr>PowerPoint Presentation</vt:lpstr>
      <vt:lpstr>Python for loop with else</vt:lpstr>
      <vt:lpstr>Python while Loop</vt:lpstr>
      <vt:lpstr>PowerPoint Presentation</vt:lpstr>
      <vt:lpstr>PowerPoint Presentation</vt:lpstr>
      <vt:lpstr>PowerPoint Presentation</vt:lpstr>
      <vt:lpstr>PowerPoint Presentation</vt:lpstr>
      <vt:lpstr>Infinite while Loop in Python</vt:lpstr>
      <vt:lpstr>Python While loop with else</vt:lpstr>
      <vt:lpstr>PowerPoint Presentation</vt:lpstr>
      <vt:lpstr>Python for Vs while loops</vt:lpstr>
      <vt:lpstr>Python break Statement</vt:lpstr>
      <vt:lpstr>Python break Statement with for Loop</vt:lpstr>
      <vt:lpstr>Python break Statement with while Loop</vt:lpstr>
      <vt:lpstr>PowerPoint Presentation</vt:lpstr>
      <vt:lpstr>Python continue Statement</vt:lpstr>
      <vt:lpstr>Python continue Statement with for Loop</vt:lpstr>
      <vt:lpstr>Python continue Statement with while Loop</vt:lpstr>
      <vt:lpstr>Python pass Statement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Control Flow</dc:title>
  <dc:creator>Godfrey Ouma</dc:creator>
  <cp:lastModifiedBy>Godfrey Ouma</cp:lastModifiedBy>
  <cp:revision>37</cp:revision>
  <dcterms:created xsi:type="dcterms:W3CDTF">2023-07-17T17:05:30Z</dcterms:created>
  <dcterms:modified xsi:type="dcterms:W3CDTF">2023-07-19T01:16:08Z</dcterms:modified>
</cp:coreProperties>
</file>