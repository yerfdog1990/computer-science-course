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16F4-1259-CC58-0876-84D577603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553FC8-7EF7-67B3-363D-3E919F52A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738BB-2326-8AB0-3F12-C08666323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BEB6B-4069-402F-A58D-CFE85D79A8E8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AED00-6BC3-CEF0-7125-2932B8C47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5A614-E697-CA37-1E6B-B26E3443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C0DD-D73B-46C8-B625-DD9CF6715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53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0F05-981E-D4BE-4A48-198E31C1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D621A-0CC6-396B-6AF4-ECBBB74D3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59C96-9E78-6B9C-8F40-9E224154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BEB6B-4069-402F-A58D-CFE85D79A8E8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E8C93-AC5E-FF16-D23C-C897AF1A3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BDF57-75DD-F736-5AE1-1E9C4935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C0DD-D73B-46C8-B625-DD9CF6715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61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2669E-C253-F4BF-3EBB-9EB3A3A7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6C5C9-6721-613C-6146-53E988AC9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BB539-7DD5-BEF4-B003-A4608DE1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BEB6B-4069-402F-A58D-CFE85D79A8E8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02F11-7BF2-ADBA-3E8B-F4B6E0225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AC82B-6921-1B78-C86F-F3DA940F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C0DD-D73B-46C8-B625-DD9CF6715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3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07CC3-D6FD-E91A-93C0-9BE061EF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C2093-C35F-44EA-CDEC-572AC3FCDC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08A46-4A53-571B-E54F-37475D1E7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AD167-E4B5-F741-9E6D-231E92F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BEB6B-4069-402F-A58D-CFE85D79A8E8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0311B-BF57-6127-76AD-3B971C49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B045B-CA11-3DF2-23CD-7A552098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C0DD-D73B-46C8-B625-DD9CF6715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77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B6B6-171F-22EF-27B5-45FFF279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4E312-ABAB-0E75-9B72-0411BB27E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52290-5BF8-C757-9378-C4B03B048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22A8AC-D265-3A3E-EDD7-A64D73928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258CE-F496-E6B3-F1C7-C1F395DE2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01964-DEFD-A742-4061-6F20A918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BEB6B-4069-402F-A58D-CFE85D79A8E8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D7A7AC-4520-0E76-E219-7011165DE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595D7-95A7-4562-807E-3ADCBED8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C0DD-D73B-46C8-B625-DD9CF6715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05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5CB4-7E95-1398-8B1A-010B55A6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9E617-2DAD-7259-FBA7-BF974FFCB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BEB6B-4069-402F-A58D-CFE85D79A8E8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41DCA-93BA-F4A7-8E81-62EABB86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892625-F703-BB6A-3962-2EBD1925A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C0DD-D73B-46C8-B625-DD9CF6715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16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BA8251-FC8B-6A22-C8BA-0E1695C53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BEB6B-4069-402F-A58D-CFE85D79A8E8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E7431B-71F5-0011-D9B5-5EE1F73D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43870-9932-166A-E858-62CD946F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C0DD-D73B-46C8-B625-DD9CF6715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2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E2BDB-32FB-4F95-D4EC-276BDD513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5A073-2713-EDF1-5649-CB3A27FD2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AD25A-CCAD-A53B-19EF-1CA32C349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DE547-236B-74B2-126A-B86E558B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BEB6B-4069-402F-A58D-CFE85D79A8E8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045B8-7657-45BC-276E-5819527C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D235B-B05B-5966-5D61-1DF88ECF2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C0DD-D73B-46C8-B625-DD9CF6715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01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171C1-BD8A-EF99-FB97-7EEB2D907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6F288-498B-7A0A-BABB-3B437B2CA4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37FAE-908F-1924-83C8-7F22EBCA6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BAF04-F58F-1DAA-004B-3C725E97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BEB6B-4069-402F-A58D-CFE85D79A8E8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0048E-AC79-A6C5-82A8-D47F1938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C9AA5-B743-158E-C6A5-39F3C420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C0DD-D73B-46C8-B625-DD9CF6715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20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D1C8B-DC0A-F238-AED8-38E3DF4EC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2778-DF17-827C-E411-82AABB10E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6836E-07C2-A9FA-3527-192B12260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BEB6B-4069-402F-A58D-CFE85D79A8E8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254FF-47F9-9141-E755-C6D2637CE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53999-CFFC-F39A-010D-7D26DA997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C0DD-D73B-46C8-B625-DD9CF6715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54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8766AD-F313-BD9D-DFC9-8ACD748A1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0F728-F3C2-9EB8-5208-4471C48DB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41645-C411-48CA-6A4F-411D45B4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BEB6B-4069-402F-A58D-CFE85D79A8E8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6E82-4D0A-B890-E068-53910A6C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4E460-0286-9940-ECD8-720D1C75B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DC0DD-D73B-46C8-B625-DD9CF6715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25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0210B9-960C-B025-5C9D-51938390A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264DE-DDB5-F824-DF88-841E7EED7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516F4-F9E8-20E3-5AA6-5A094D60C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BEB6B-4069-402F-A58D-CFE85D79A8E8}" type="datetimeFigureOut">
              <a:rPr lang="en-US" smtClean="0"/>
              <a:t>8/19/2023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DDE11-7723-2F56-A58A-CDEB485DE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4D5C2-597D-229E-4193-5ADABE8C5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DC0DD-D73B-46C8-B625-DD9CF6715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78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463FE-AC2F-D59E-D60C-A889E12218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Files and Directory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76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0043-74C8-8789-9561-F42197D48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9363"/>
          </a:xfrm>
        </p:spPr>
        <p:txBody>
          <a:bodyPr/>
          <a:lstStyle/>
          <a:p>
            <a:r>
              <a:rPr lang="en-US" b="1" dirty="0"/>
              <a:t>File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830A3-E1A0-2343-A04F-D7DA0BE3A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488"/>
            <a:ext cx="10515600" cy="5114925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The key function for working with files in Python is the open() function.</a:t>
            </a:r>
          </a:p>
          <a:p>
            <a:r>
              <a:rPr lang="en-US" sz="3200" dirty="0"/>
              <a:t>The open() function takes two parameters; filename, and mode.</a:t>
            </a:r>
          </a:p>
          <a:p>
            <a:r>
              <a:rPr lang="en-US" sz="3200" dirty="0"/>
              <a:t>There are four different methods (modes) for opening a file: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"r" - Read - Default value. Opens a file for reading, error if the file does not exist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"a" - Append - Opens a file for appending, creates the file if it does not exist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"w" - Write - Opens a file for writing, creates the file if it does not exist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"x" - Create - Creates the specified file, returns an error if the file exists</a:t>
            </a:r>
          </a:p>
          <a:p>
            <a:r>
              <a:rPr lang="en-US" sz="3200" dirty="0"/>
              <a:t>In addition you can specify if the file should be handled as binary or text mode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"t" - Text - Default value. Text mode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"b" - Binary - Binary mode (e.g. images)</a:t>
            </a:r>
          </a:p>
        </p:txBody>
      </p:sp>
    </p:spTree>
    <p:extLst>
      <p:ext uri="{BB962C8B-B14F-4D97-AF65-F5344CB8AC3E}">
        <p14:creationId xmlns:p14="http://schemas.microsoft.com/office/powerpoint/2010/main" val="4113347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346E0-063A-8CF1-9254-BB65801DA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C1F36-42F7-8E92-90E6-BF36A74E6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open a file for reading it is enough to specify the name of the file:</a:t>
            </a:r>
          </a:p>
          <a:p>
            <a:pPr lvl="1"/>
            <a:r>
              <a:rPr lang="en-US" dirty="0"/>
              <a:t>f = open("demofile.txt")</a:t>
            </a:r>
          </a:p>
          <a:p>
            <a:r>
              <a:rPr lang="en-US" dirty="0"/>
              <a:t>The code above is the same as:</a:t>
            </a:r>
          </a:p>
          <a:p>
            <a:pPr lvl="1"/>
            <a:r>
              <a:rPr lang="en-US" dirty="0"/>
              <a:t>f = open("demofile.txt", "rt")</a:t>
            </a:r>
          </a:p>
          <a:p>
            <a:r>
              <a:rPr lang="en-US" dirty="0"/>
              <a:t>Because "r" for read, and "t" for text are the default values, you do not need to specify them.</a:t>
            </a:r>
          </a:p>
          <a:p>
            <a:r>
              <a:rPr lang="en-US" b="1" dirty="0"/>
              <a:t>Note: </a:t>
            </a:r>
            <a:r>
              <a:rPr lang="en-US" dirty="0"/>
              <a:t>Make sure the file exists, or else you will get an error.</a:t>
            </a:r>
          </a:p>
        </p:txBody>
      </p:sp>
    </p:spTree>
    <p:extLst>
      <p:ext uri="{BB962C8B-B14F-4D97-AF65-F5344CB8AC3E}">
        <p14:creationId xmlns:p14="http://schemas.microsoft.com/office/powerpoint/2010/main" val="2140756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8C6CC-04CD-ABE9-5D62-DBC997F30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49374"/>
          </a:xfrm>
        </p:spPr>
        <p:txBody>
          <a:bodyPr/>
          <a:lstStyle/>
          <a:p>
            <a:r>
              <a:rPr lang="en-US" b="1" dirty="0"/>
              <a:t>Open a File on the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70074-2008-827B-4EA1-7118DB67A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4500"/>
            <a:ext cx="10515600" cy="4462463"/>
          </a:xfrm>
        </p:spPr>
        <p:txBody>
          <a:bodyPr>
            <a:normAutofit/>
          </a:bodyPr>
          <a:lstStyle/>
          <a:p>
            <a:r>
              <a:rPr lang="en-US" sz="3200" dirty="0"/>
              <a:t>Assume we have the following file, located in the same folder as Python:</a:t>
            </a:r>
          </a:p>
          <a:p>
            <a:pPr lvl="1"/>
            <a:r>
              <a:rPr lang="en-US" sz="2800" dirty="0"/>
              <a:t>demofile.txt</a:t>
            </a:r>
          </a:p>
          <a:p>
            <a:pPr lvl="1"/>
            <a:r>
              <a:rPr lang="en-US" sz="2800" dirty="0"/>
              <a:t>Hello! Welcome to demofile.txt</a:t>
            </a:r>
          </a:p>
          <a:p>
            <a:pPr lvl="1"/>
            <a:r>
              <a:rPr lang="en-US" sz="2800" dirty="0"/>
              <a:t>This file is for testing purposes.</a:t>
            </a:r>
          </a:p>
          <a:p>
            <a:pPr lvl="1"/>
            <a:r>
              <a:rPr lang="en-US" sz="2800" dirty="0"/>
              <a:t>Good Luck!</a:t>
            </a:r>
          </a:p>
          <a:p>
            <a:r>
              <a:rPr lang="en-US" sz="3200" dirty="0"/>
              <a:t>To open the file, use the built-in open() function.</a:t>
            </a:r>
          </a:p>
          <a:p>
            <a:r>
              <a:rPr lang="en-US" sz="3200" dirty="0"/>
              <a:t>The open() function returns a file object, which has a read() method for reading the content of the file:</a:t>
            </a:r>
          </a:p>
        </p:txBody>
      </p:sp>
    </p:spTree>
    <p:extLst>
      <p:ext uri="{BB962C8B-B14F-4D97-AF65-F5344CB8AC3E}">
        <p14:creationId xmlns:p14="http://schemas.microsoft.com/office/powerpoint/2010/main" val="174583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C8ABB-4EE7-96AA-817E-0398FFF6E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49"/>
            <a:ext cx="10515600" cy="641985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f = open("demofile.txt", "r")</a:t>
            </a:r>
          </a:p>
          <a:p>
            <a:pPr lvl="1"/>
            <a:r>
              <a:rPr lang="en-US" dirty="0"/>
              <a:t>print(</a:t>
            </a:r>
            <a:r>
              <a:rPr lang="en-US" dirty="0" err="1"/>
              <a:t>f.read</a:t>
            </a:r>
            <a:r>
              <a:rPr lang="en-US" dirty="0"/>
              <a:t>())</a:t>
            </a:r>
          </a:p>
          <a:p>
            <a:r>
              <a:rPr lang="en-US" dirty="0"/>
              <a:t>If the file is located in a different location, you will have to specify the file path, like this: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Open a file on a different location:</a:t>
            </a:r>
          </a:p>
          <a:p>
            <a:pPr lvl="1"/>
            <a:r>
              <a:rPr lang="en-US" dirty="0"/>
              <a:t>f = open("D:\\myfiles\welcome.txt", "r")</a:t>
            </a:r>
          </a:p>
          <a:p>
            <a:pPr lvl="1"/>
            <a:r>
              <a:rPr lang="en-US" dirty="0"/>
              <a:t>print(f.read())</a:t>
            </a:r>
          </a:p>
          <a:p>
            <a:r>
              <a:rPr lang="en-US" b="1" dirty="0"/>
              <a:t>Read Only Parts of the File</a:t>
            </a:r>
          </a:p>
          <a:p>
            <a:r>
              <a:rPr lang="en-US" dirty="0"/>
              <a:t>By default the read() method returns the whole text, but you can also specify how many characters you want to return: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Return the 5 first characters of the file:</a:t>
            </a:r>
          </a:p>
          <a:p>
            <a:pPr lvl="1"/>
            <a:r>
              <a:rPr lang="en-US" dirty="0"/>
              <a:t>f = open("demofile.txt", "r")</a:t>
            </a:r>
          </a:p>
          <a:p>
            <a:pPr lvl="1"/>
            <a:r>
              <a:rPr lang="en-US" dirty="0"/>
              <a:t>print(f.read(5))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524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14960-4BAB-0AFA-20ED-A9A8AB1E5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2950"/>
            <a:ext cx="10515600" cy="5434013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/>
              <a:t>Read Lines</a:t>
            </a:r>
          </a:p>
          <a:p>
            <a:r>
              <a:rPr lang="en-US" sz="3200" dirty="0"/>
              <a:t>You can return one line by using the readline() method:</a:t>
            </a:r>
          </a:p>
          <a:p>
            <a:r>
              <a:rPr lang="en-US" sz="3200" dirty="0"/>
              <a:t>Example</a:t>
            </a:r>
          </a:p>
          <a:p>
            <a:r>
              <a:rPr lang="en-US" sz="3200" dirty="0"/>
              <a:t>Read one line of the file:</a:t>
            </a:r>
          </a:p>
          <a:p>
            <a:pPr lvl="1"/>
            <a:r>
              <a:rPr lang="en-US" sz="2800" dirty="0"/>
              <a:t>f = open("demofile.txt", "r")</a:t>
            </a:r>
          </a:p>
          <a:p>
            <a:pPr lvl="1"/>
            <a:r>
              <a:rPr lang="en-US" sz="2800" dirty="0"/>
              <a:t>print(</a:t>
            </a:r>
            <a:r>
              <a:rPr lang="en-US" sz="2800" dirty="0" err="1"/>
              <a:t>f.readline</a:t>
            </a:r>
            <a:r>
              <a:rPr lang="en-US" sz="2800" dirty="0"/>
              <a:t>())</a:t>
            </a:r>
          </a:p>
          <a:p>
            <a:r>
              <a:rPr lang="en-US" sz="3200" dirty="0"/>
              <a:t>By calling readline() two times, you can read the two first lines:</a:t>
            </a:r>
          </a:p>
          <a:p>
            <a:r>
              <a:rPr lang="en-US" sz="3200" b="1" dirty="0"/>
              <a:t>Example</a:t>
            </a:r>
          </a:p>
          <a:p>
            <a:r>
              <a:rPr lang="en-US" sz="3200" dirty="0"/>
              <a:t>Read two lines of the file:</a:t>
            </a:r>
          </a:p>
          <a:p>
            <a:pPr lvl="1"/>
            <a:r>
              <a:rPr lang="en-US" sz="2800" dirty="0"/>
              <a:t>f = open("demofile.txt", "r")</a:t>
            </a:r>
          </a:p>
          <a:p>
            <a:pPr lvl="1"/>
            <a:r>
              <a:rPr lang="en-US" sz="2800" dirty="0"/>
              <a:t>print(</a:t>
            </a:r>
            <a:r>
              <a:rPr lang="en-US" sz="2800" dirty="0" err="1"/>
              <a:t>f.readline</a:t>
            </a:r>
            <a:r>
              <a:rPr lang="en-US" sz="2800" dirty="0"/>
              <a:t>())</a:t>
            </a:r>
          </a:p>
          <a:p>
            <a:pPr lvl="1"/>
            <a:r>
              <a:rPr lang="en-US" sz="2800" dirty="0"/>
              <a:t>print(</a:t>
            </a:r>
            <a:r>
              <a:rPr lang="en-US" sz="2800" dirty="0" err="1"/>
              <a:t>f.readline</a:t>
            </a:r>
            <a:r>
              <a:rPr lang="en-US" sz="2800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59191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2F7D2-A3BE-01D8-5812-E8992A5B6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50"/>
            <a:ext cx="10515600" cy="6400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By looping through the lines of the file, you can read the whole file, line by line: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Loop through the file line by line:</a:t>
            </a:r>
          </a:p>
          <a:p>
            <a:pPr lvl="1"/>
            <a:r>
              <a:rPr lang="en-US" dirty="0"/>
              <a:t>f = open("demofile.txt", "r")</a:t>
            </a:r>
          </a:p>
          <a:p>
            <a:pPr lvl="1"/>
            <a:r>
              <a:rPr lang="en-US" dirty="0"/>
              <a:t>for x in f:</a:t>
            </a:r>
          </a:p>
          <a:p>
            <a:pPr lvl="2"/>
            <a:r>
              <a:rPr lang="en-US" dirty="0"/>
              <a:t>print(x)</a:t>
            </a:r>
          </a:p>
          <a:p>
            <a:r>
              <a:rPr lang="en-US" b="1" dirty="0"/>
              <a:t>Close Files</a:t>
            </a:r>
          </a:p>
          <a:p>
            <a:r>
              <a:rPr lang="en-US" dirty="0"/>
              <a:t>It is a good practice to always close the file when you are done with it.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Close the file when you are finish with it:</a:t>
            </a:r>
          </a:p>
          <a:p>
            <a:pPr lvl="1"/>
            <a:r>
              <a:rPr lang="en-US" dirty="0"/>
              <a:t>f = open("demofile.txt", "r")</a:t>
            </a:r>
          </a:p>
          <a:p>
            <a:pPr lvl="1"/>
            <a:r>
              <a:rPr lang="en-US" dirty="0"/>
              <a:t>print(f.readline())</a:t>
            </a:r>
          </a:p>
          <a:p>
            <a:pPr lvl="1"/>
            <a:r>
              <a:rPr lang="en-US" dirty="0"/>
              <a:t>f.close()</a:t>
            </a:r>
          </a:p>
          <a:p>
            <a:r>
              <a:rPr lang="en-US" dirty="0"/>
              <a:t>Note: You should always close your files, in some cases, due to buffering, changes made to a file may not show until you close the file.</a:t>
            </a:r>
          </a:p>
        </p:txBody>
      </p:sp>
    </p:spTree>
    <p:extLst>
      <p:ext uri="{BB962C8B-B14F-4D97-AF65-F5344CB8AC3E}">
        <p14:creationId xmlns:p14="http://schemas.microsoft.com/office/powerpoint/2010/main" val="2962785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FF91-F24C-582B-FF98-18CF57A54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3530"/>
            <a:ext cx="10515600" cy="735013"/>
          </a:xfrm>
        </p:spPr>
        <p:txBody>
          <a:bodyPr/>
          <a:lstStyle/>
          <a:p>
            <a:r>
              <a:rPr lang="en-US" b="1" dirty="0"/>
              <a:t>Python File Write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57E7F-8DF3-9D98-5066-DD8F0DC5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8542"/>
            <a:ext cx="10515600" cy="54959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Write to an Existing File</a:t>
            </a:r>
          </a:p>
          <a:p>
            <a:r>
              <a:rPr lang="en-US" dirty="0"/>
              <a:t>To write to an existing file, you must add a parameter to the open() function:</a:t>
            </a:r>
          </a:p>
          <a:p>
            <a:pPr lvl="1"/>
            <a:r>
              <a:rPr lang="en-US" dirty="0"/>
              <a:t>"a" - Append - will append to the end of the file</a:t>
            </a:r>
          </a:p>
          <a:p>
            <a:pPr lvl="1"/>
            <a:r>
              <a:rPr lang="en-US" dirty="0"/>
              <a:t>"w" - Write - will overwrite any existing content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Get your own Python Server</a:t>
            </a:r>
          </a:p>
          <a:p>
            <a:r>
              <a:rPr lang="en-US" dirty="0"/>
              <a:t>Open the file "demofile2.txt" and append content to the file:</a:t>
            </a:r>
          </a:p>
          <a:p>
            <a:pPr lvl="1"/>
            <a:r>
              <a:rPr lang="en-US" dirty="0"/>
              <a:t>f = open("demofile2.txt", "a")</a:t>
            </a:r>
          </a:p>
          <a:p>
            <a:pPr lvl="1"/>
            <a:r>
              <a:rPr lang="en-US" dirty="0" err="1"/>
              <a:t>f.write</a:t>
            </a:r>
            <a:r>
              <a:rPr lang="en-US" dirty="0"/>
              <a:t>("Now the file has more content!")</a:t>
            </a:r>
          </a:p>
          <a:p>
            <a:pPr lvl="1"/>
            <a:r>
              <a:rPr lang="en-US" dirty="0"/>
              <a:t>f.close()</a:t>
            </a:r>
          </a:p>
          <a:p>
            <a:pPr lvl="1"/>
            <a:r>
              <a:rPr lang="en-US" dirty="0"/>
              <a:t>#open and read the file after the appending:</a:t>
            </a:r>
          </a:p>
          <a:p>
            <a:pPr lvl="1"/>
            <a:r>
              <a:rPr lang="en-US" dirty="0"/>
              <a:t>f = open("demofile2.txt", "r")</a:t>
            </a:r>
          </a:p>
          <a:p>
            <a:pPr lvl="1"/>
            <a:r>
              <a:rPr lang="en-US" dirty="0"/>
              <a:t>print(f.read())</a:t>
            </a:r>
          </a:p>
        </p:txBody>
      </p:sp>
    </p:spTree>
    <p:extLst>
      <p:ext uri="{BB962C8B-B14F-4D97-AF65-F5344CB8AC3E}">
        <p14:creationId xmlns:p14="http://schemas.microsoft.com/office/powerpoint/2010/main" val="2358859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CA9C2-B9CF-3D81-B5D5-C530D63AA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5849"/>
            <a:ext cx="10515600" cy="4529139"/>
          </a:xfrm>
        </p:spPr>
        <p:txBody>
          <a:bodyPr>
            <a:normAutofit/>
          </a:bodyPr>
          <a:lstStyle/>
          <a:p>
            <a:r>
              <a:rPr lang="en-US" b="1" dirty="0"/>
              <a:t>Example</a:t>
            </a:r>
          </a:p>
          <a:p>
            <a:r>
              <a:rPr lang="en-US" dirty="0"/>
              <a:t>Open the file "demofile3.txt" and overwrite the content:</a:t>
            </a:r>
          </a:p>
          <a:p>
            <a:pPr lvl="1"/>
            <a:r>
              <a:rPr lang="en-US" dirty="0"/>
              <a:t>f = open("demofile3.txt", "w")</a:t>
            </a:r>
          </a:p>
          <a:p>
            <a:pPr lvl="1"/>
            <a:r>
              <a:rPr lang="en-US" dirty="0" err="1"/>
              <a:t>f.write</a:t>
            </a:r>
            <a:r>
              <a:rPr lang="en-US" dirty="0"/>
              <a:t>("Woops! I have deleted the content!")</a:t>
            </a:r>
          </a:p>
          <a:p>
            <a:pPr lvl="1"/>
            <a:r>
              <a:rPr lang="en-US" dirty="0"/>
              <a:t>f.close()</a:t>
            </a:r>
          </a:p>
          <a:p>
            <a:r>
              <a:rPr lang="en-US" dirty="0"/>
              <a:t>#open and read the file after the overwriting:</a:t>
            </a:r>
          </a:p>
          <a:p>
            <a:pPr lvl="1"/>
            <a:r>
              <a:rPr lang="en-US" dirty="0"/>
              <a:t>f = open("demofile3.txt", "r")</a:t>
            </a:r>
          </a:p>
          <a:p>
            <a:pPr lvl="1"/>
            <a:r>
              <a:rPr lang="en-US" dirty="0"/>
              <a:t>print(f.read())</a:t>
            </a:r>
          </a:p>
          <a:p>
            <a:r>
              <a:rPr lang="en-US" dirty="0"/>
              <a:t>Note: the "w" method will overwrite the entire file.</a:t>
            </a:r>
          </a:p>
        </p:txBody>
      </p:sp>
    </p:spTree>
    <p:extLst>
      <p:ext uri="{BB962C8B-B14F-4D97-AF65-F5344CB8AC3E}">
        <p14:creationId xmlns:p14="http://schemas.microsoft.com/office/powerpoint/2010/main" val="1809085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74082-1CCE-4C5B-7BFC-39A922322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387"/>
            <a:ext cx="10515600" cy="979488"/>
          </a:xfrm>
        </p:spPr>
        <p:txBody>
          <a:bodyPr/>
          <a:lstStyle/>
          <a:p>
            <a:r>
              <a:rPr lang="en-US" b="1" dirty="0"/>
              <a:t>Create a New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4077D-1D26-449B-FB81-729B3E090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875"/>
            <a:ext cx="10515600" cy="5265738"/>
          </a:xfrm>
        </p:spPr>
        <p:txBody>
          <a:bodyPr>
            <a:normAutofit/>
          </a:bodyPr>
          <a:lstStyle/>
          <a:p>
            <a:r>
              <a:rPr lang="en-US" dirty="0"/>
              <a:t>To create a new file in Python, use the open() method, with one of the following parameters:</a:t>
            </a:r>
          </a:p>
          <a:p>
            <a:pPr lvl="1"/>
            <a:r>
              <a:rPr lang="en-US" dirty="0"/>
              <a:t>"x" - Create - will create a file, returns an error if the file exist</a:t>
            </a:r>
          </a:p>
          <a:p>
            <a:pPr lvl="1"/>
            <a:r>
              <a:rPr lang="en-US" dirty="0"/>
              <a:t>"a" - Append - will create a file if the specified file does not exist</a:t>
            </a:r>
          </a:p>
          <a:p>
            <a:pPr lvl="1"/>
            <a:r>
              <a:rPr lang="en-US" dirty="0"/>
              <a:t>"w" - Write - will create a file if the specified file does not exist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Create a file called "myfile.txt":</a:t>
            </a:r>
          </a:p>
          <a:p>
            <a:pPr lvl="1"/>
            <a:r>
              <a:rPr lang="en-US" dirty="0"/>
              <a:t>f = open("myfile.txt", "x")</a:t>
            </a:r>
          </a:p>
          <a:p>
            <a:pPr lvl="1"/>
            <a:r>
              <a:rPr lang="en-US" dirty="0"/>
              <a:t>Result: a new empty file is created!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Create a new file if it does not exist:</a:t>
            </a:r>
          </a:p>
          <a:p>
            <a:pPr lvl="1"/>
            <a:r>
              <a:rPr lang="en-US" dirty="0"/>
              <a:t>f = open("myfile.txt", "w")</a:t>
            </a:r>
          </a:p>
        </p:txBody>
      </p:sp>
    </p:spTree>
    <p:extLst>
      <p:ext uri="{BB962C8B-B14F-4D97-AF65-F5344CB8AC3E}">
        <p14:creationId xmlns:p14="http://schemas.microsoft.com/office/powerpoint/2010/main" val="4022578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03E06-7349-5823-4541-3FB8FEA3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812"/>
            <a:ext cx="10515600" cy="1222376"/>
          </a:xfrm>
        </p:spPr>
        <p:txBody>
          <a:bodyPr/>
          <a:lstStyle/>
          <a:p>
            <a:r>
              <a:rPr lang="en-US" b="1" dirty="0"/>
              <a:t>Python Delete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2853D-CA72-0E5D-6170-DC9CB66F4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88"/>
            <a:ext cx="10515600" cy="4086225"/>
          </a:xfrm>
        </p:spPr>
        <p:txBody>
          <a:bodyPr>
            <a:normAutofit/>
          </a:bodyPr>
          <a:lstStyle/>
          <a:p>
            <a:r>
              <a:rPr lang="en-US" b="1" dirty="0"/>
              <a:t>Delete a File</a:t>
            </a:r>
          </a:p>
          <a:p>
            <a:r>
              <a:rPr lang="en-US" dirty="0"/>
              <a:t>To delete a file, you must import the OS module, and run its </a:t>
            </a:r>
            <a:r>
              <a:rPr lang="en-US" dirty="0" err="1"/>
              <a:t>os.remove</a:t>
            </a:r>
            <a:r>
              <a:rPr lang="en-US" dirty="0"/>
              <a:t>() function: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Get your own Python Server</a:t>
            </a:r>
          </a:p>
          <a:p>
            <a:r>
              <a:rPr lang="en-US" dirty="0"/>
              <a:t>Remove the file "demofile.txt":</a:t>
            </a:r>
          </a:p>
          <a:p>
            <a:pPr lvl="1"/>
            <a:r>
              <a:rPr lang="en-US" dirty="0"/>
              <a:t>import os</a:t>
            </a:r>
          </a:p>
          <a:p>
            <a:pPr lvl="1"/>
            <a:r>
              <a:rPr lang="en-US" dirty="0"/>
              <a:t>os.remove("demofile.txt")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183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CF9F1-2E1C-8586-5AFF-CA5E2A8EB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064"/>
            <a:ext cx="10515600" cy="607218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Check if File exist:</a:t>
            </a:r>
          </a:p>
          <a:p>
            <a:r>
              <a:rPr lang="en-US" dirty="0"/>
              <a:t>To avoid getting an error, you might want to check if the file exists before you try to delete it: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Check if file exists, then delete it:</a:t>
            </a:r>
          </a:p>
          <a:p>
            <a:pPr lvl="1"/>
            <a:r>
              <a:rPr lang="en-US" dirty="0"/>
              <a:t>import os</a:t>
            </a:r>
          </a:p>
          <a:p>
            <a:pPr lvl="1"/>
            <a:r>
              <a:rPr lang="en-US" dirty="0"/>
              <a:t>if os.path.exists("demofile.txt"):</a:t>
            </a:r>
          </a:p>
          <a:p>
            <a:pPr lvl="1"/>
            <a:r>
              <a:rPr lang="en-US" dirty="0"/>
              <a:t>  </a:t>
            </a:r>
            <a:r>
              <a:rPr lang="en-US" dirty="0" err="1"/>
              <a:t>os.remove</a:t>
            </a:r>
            <a:r>
              <a:rPr lang="en-US" dirty="0"/>
              <a:t>("demofile.txt")</a:t>
            </a:r>
          </a:p>
          <a:p>
            <a:pPr lvl="1"/>
            <a:r>
              <a:rPr lang="en-US" dirty="0"/>
              <a:t>else:</a:t>
            </a:r>
          </a:p>
          <a:p>
            <a:pPr lvl="1"/>
            <a:r>
              <a:rPr lang="en-US" dirty="0"/>
              <a:t>print("The file does not exist")</a:t>
            </a:r>
          </a:p>
          <a:p>
            <a:r>
              <a:rPr lang="en-US" b="1" dirty="0"/>
              <a:t>Delete Folder</a:t>
            </a:r>
          </a:p>
          <a:p>
            <a:r>
              <a:rPr lang="en-US" dirty="0"/>
              <a:t>To delete an entire folder, use the </a:t>
            </a:r>
            <a:r>
              <a:rPr lang="en-US" dirty="0" err="1"/>
              <a:t>os.rmdir</a:t>
            </a:r>
            <a:r>
              <a:rPr lang="en-US" dirty="0"/>
              <a:t>() method: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Remove the folder "</a:t>
            </a:r>
            <a:r>
              <a:rPr lang="en-US" dirty="0" err="1"/>
              <a:t>myfolder</a:t>
            </a:r>
            <a:r>
              <a:rPr lang="en-US" dirty="0"/>
              <a:t>":</a:t>
            </a:r>
          </a:p>
          <a:p>
            <a:pPr lvl="1"/>
            <a:r>
              <a:rPr lang="en-US" dirty="0"/>
              <a:t>import os</a:t>
            </a:r>
          </a:p>
          <a:p>
            <a:pPr lvl="1"/>
            <a:r>
              <a:rPr lang="en-US" dirty="0" err="1"/>
              <a:t>os.rmdir</a:t>
            </a:r>
            <a:r>
              <a:rPr lang="en-US" dirty="0"/>
              <a:t>("</a:t>
            </a:r>
            <a:r>
              <a:rPr lang="en-US" dirty="0" err="1"/>
              <a:t>myfolder</a:t>
            </a:r>
            <a:r>
              <a:rPr lang="en-US" dirty="0"/>
              <a:t>")</a:t>
            </a:r>
          </a:p>
          <a:p>
            <a:r>
              <a:rPr lang="en-US" dirty="0"/>
              <a:t>Note: You can only remove empty folders.</a:t>
            </a:r>
          </a:p>
        </p:txBody>
      </p:sp>
    </p:spTree>
    <p:extLst>
      <p:ext uri="{BB962C8B-B14F-4D97-AF65-F5344CB8AC3E}">
        <p14:creationId xmlns:p14="http://schemas.microsoft.com/office/powerpoint/2010/main" val="3097667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2E29-10FE-83E9-2AB6-5619FB53D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Directory and Files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3703C-1D08-CBF7-142B-40C79F124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directory is a collection of files and subdirectories. A directory inside a directory is known as a subdirectory.</a:t>
            </a:r>
          </a:p>
          <a:p>
            <a:r>
              <a:rPr lang="en-US" dirty="0"/>
              <a:t>Python has the os module that provides us with many useful methods to work with directories (and files as well).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439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F87B2-5416-1E62-C78D-F2E68510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Get Current Directory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F7C1D-70A8-5E69-51BC-7FF4C28E9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get the present working directory using the </a:t>
            </a:r>
            <a:r>
              <a:rPr lang="en-US" dirty="0" err="1"/>
              <a:t>getcwd</a:t>
            </a:r>
            <a:r>
              <a:rPr lang="en-US" dirty="0"/>
              <a:t>() method of the os module.</a:t>
            </a:r>
          </a:p>
          <a:p>
            <a:r>
              <a:rPr lang="en-US" dirty="0"/>
              <a:t>This method returns the current working directory in the form of a string. For example,</a:t>
            </a:r>
          </a:p>
          <a:p>
            <a:pPr lvl="1"/>
            <a:r>
              <a:rPr lang="en-US" dirty="0"/>
              <a:t>import os</a:t>
            </a:r>
          </a:p>
          <a:p>
            <a:pPr lvl="1"/>
            <a:r>
              <a:rPr lang="en-US" dirty="0"/>
              <a:t>print(os.getcwd())</a:t>
            </a:r>
          </a:p>
          <a:p>
            <a:pPr lvl="1"/>
            <a:r>
              <a:rPr lang="en-US" dirty="0"/>
              <a:t># Output: C:\Program Files\PyScripter</a:t>
            </a:r>
          </a:p>
          <a:p>
            <a:r>
              <a:rPr lang="en-US" dirty="0"/>
              <a:t>Here, </a:t>
            </a:r>
            <a:r>
              <a:rPr lang="en-US" dirty="0" err="1"/>
              <a:t>getcwd</a:t>
            </a:r>
            <a:r>
              <a:rPr lang="en-US" dirty="0"/>
              <a:t>() returns the current directory in the form of a string.</a:t>
            </a:r>
          </a:p>
        </p:txBody>
      </p:sp>
    </p:spTree>
    <p:extLst>
      <p:ext uri="{BB962C8B-B14F-4D97-AF65-F5344CB8AC3E}">
        <p14:creationId xmlns:p14="http://schemas.microsoft.com/office/powerpoint/2010/main" val="4258324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07E8C-E866-8994-BEB4-885A6A313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7913"/>
          </a:xfrm>
        </p:spPr>
        <p:txBody>
          <a:bodyPr/>
          <a:lstStyle/>
          <a:p>
            <a:r>
              <a:rPr lang="en-US" b="1" dirty="0"/>
              <a:t>Changing Directory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828FC-B980-5556-A627-0F8BFD5E2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038"/>
            <a:ext cx="10515600" cy="52006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Python, we can change the current working directory by using the chdir() method.</a:t>
            </a:r>
          </a:p>
          <a:p>
            <a:r>
              <a:rPr lang="en-US" dirty="0"/>
              <a:t>The new path that we want to change into must be supplied as a string to this method. And we can use both the forward-slash / or the backward-slash \ to separate the path elements.</a:t>
            </a:r>
          </a:p>
          <a:p>
            <a:r>
              <a:rPr lang="en-US" dirty="0"/>
              <a:t>Let's see an example,</a:t>
            </a:r>
          </a:p>
          <a:p>
            <a:pPr lvl="1"/>
            <a:r>
              <a:rPr lang="en-US" dirty="0"/>
              <a:t>import os</a:t>
            </a:r>
          </a:p>
          <a:p>
            <a:pPr lvl="1"/>
            <a:r>
              <a:rPr lang="en-US" dirty="0"/>
              <a:t># change directory</a:t>
            </a:r>
          </a:p>
          <a:p>
            <a:pPr lvl="1"/>
            <a:r>
              <a:rPr lang="en-US" dirty="0"/>
              <a:t>os.chdir('C:\\Python33')</a:t>
            </a:r>
          </a:p>
          <a:p>
            <a:pPr lvl="1"/>
            <a:r>
              <a:rPr lang="en-US" dirty="0"/>
              <a:t>print(os.getcwd())</a:t>
            </a:r>
          </a:p>
          <a:p>
            <a:pPr lvl="1"/>
            <a:r>
              <a:rPr lang="en-US" dirty="0"/>
              <a:t>Output: C:\Python33</a:t>
            </a:r>
          </a:p>
          <a:p>
            <a:r>
              <a:rPr lang="en-US" dirty="0"/>
              <a:t>Here, we have used the chdir() method to change the current working directory and passed a new path as a string to chdir().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60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BE347-1A91-C462-2F4D-A62D7AA46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 Directories and Files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62CCE-7537-6691-2183-3A0793B2A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76976" cy="4351338"/>
          </a:xfrm>
        </p:spPr>
        <p:txBody>
          <a:bodyPr>
            <a:normAutofit/>
          </a:bodyPr>
          <a:lstStyle/>
          <a:p>
            <a:r>
              <a:rPr lang="en-US" dirty="0"/>
              <a:t>All files and sub-directories inside a directory can be retrieved using the listdir() method.</a:t>
            </a:r>
          </a:p>
          <a:p>
            <a:r>
              <a:rPr lang="en-US" dirty="0"/>
              <a:t>This method takes in a path and returns a list of subdirectories and files in that path.</a:t>
            </a:r>
          </a:p>
          <a:p>
            <a:r>
              <a:rPr lang="en-US" dirty="0"/>
              <a:t>If no path is specified, it returns the list of subdirectories and files from the current working directory.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EB275-A979-E57C-902C-EE181581E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788" y="1690688"/>
            <a:ext cx="3910012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79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4E68-85F1-6250-9F77-DBDB15EA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Making a New Directory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0F60-F16E-8FEB-C7DC-CEE61F073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Python, we can make a new directory using the </a:t>
            </a:r>
            <a:r>
              <a:rPr lang="en-US" dirty="0" err="1"/>
              <a:t>mkdir</a:t>
            </a:r>
            <a:r>
              <a:rPr lang="en-US" dirty="0"/>
              <a:t>() method.</a:t>
            </a:r>
          </a:p>
          <a:p>
            <a:r>
              <a:rPr lang="en-US" dirty="0"/>
              <a:t>This method takes in the path of the new directory. If the full path is not specified, the new directory is created in the current working directory.</a:t>
            </a:r>
          </a:p>
          <a:p>
            <a:pPr lvl="1"/>
            <a:r>
              <a:rPr lang="en-US" dirty="0"/>
              <a:t>os.mkdir('test')</a:t>
            </a:r>
          </a:p>
          <a:p>
            <a:pPr lvl="1"/>
            <a:r>
              <a:rPr lang="en-US" dirty="0"/>
              <a:t>os.listdir()</a:t>
            </a:r>
          </a:p>
          <a:p>
            <a:pPr lvl="1"/>
            <a:r>
              <a:rPr lang="en-US" dirty="0"/>
              <a:t>['test']</a:t>
            </a:r>
          </a:p>
        </p:txBody>
      </p:sp>
    </p:spTree>
    <p:extLst>
      <p:ext uri="{BB962C8B-B14F-4D97-AF65-F5344CB8AC3E}">
        <p14:creationId xmlns:p14="http://schemas.microsoft.com/office/powerpoint/2010/main" val="3549250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F3B03-0F52-13DD-1695-0DABA5EAE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18"/>
            <a:ext cx="10515600" cy="706438"/>
          </a:xfrm>
        </p:spPr>
        <p:txBody>
          <a:bodyPr/>
          <a:lstStyle/>
          <a:p>
            <a:r>
              <a:rPr lang="en-US" b="1" dirty="0"/>
              <a:t>Renaming a Directory or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51A75-6CE2-E80F-2055-5DB1A9D01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256"/>
            <a:ext cx="10515600" cy="5495926"/>
          </a:xfrm>
        </p:spPr>
        <p:txBody>
          <a:bodyPr>
            <a:normAutofit fontScale="92500"/>
          </a:bodyPr>
          <a:lstStyle/>
          <a:p>
            <a:r>
              <a:rPr lang="en-US" dirty="0"/>
              <a:t>The rename() method can rename a directory or a file.</a:t>
            </a:r>
          </a:p>
          <a:p>
            <a:r>
              <a:rPr lang="en-US" dirty="0"/>
              <a:t>For renaming any directory or file, rename() takes in two basic arguments:</a:t>
            </a:r>
          </a:p>
          <a:p>
            <a:pPr lvl="1"/>
            <a:r>
              <a:rPr lang="en-US" dirty="0"/>
              <a:t>the old name as the first argument</a:t>
            </a:r>
          </a:p>
          <a:p>
            <a:pPr lvl="1"/>
            <a:r>
              <a:rPr lang="en-US" dirty="0"/>
              <a:t>the new name as the second argument.</a:t>
            </a:r>
          </a:p>
          <a:p>
            <a:r>
              <a:rPr lang="en-US" dirty="0"/>
              <a:t>Let's see an example,</a:t>
            </a:r>
          </a:p>
          <a:p>
            <a:pPr lvl="1"/>
            <a:r>
              <a:rPr lang="en-US" dirty="0"/>
              <a:t>import os</a:t>
            </a:r>
          </a:p>
          <a:p>
            <a:pPr lvl="1"/>
            <a:r>
              <a:rPr lang="en-US" dirty="0"/>
              <a:t>os.listdir()</a:t>
            </a:r>
          </a:p>
          <a:p>
            <a:pPr lvl="1"/>
            <a:r>
              <a:rPr lang="en-US" dirty="0"/>
              <a:t>['test']</a:t>
            </a:r>
          </a:p>
          <a:p>
            <a:pPr lvl="1"/>
            <a:r>
              <a:rPr lang="en-US" dirty="0"/>
              <a:t># rename a directory</a:t>
            </a:r>
          </a:p>
          <a:p>
            <a:pPr lvl="1"/>
            <a:r>
              <a:rPr lang="en-US" dirty="0" err="1"/>
              <a:t>os.rename</a:t>
            </a:r>
            <a:r>
              <a:rPr lang="en-US" dirty="0"/>
              <a:t>('test','</a:t>
            </a:r>
            <a:r>
              <a:rPr lang="en-US" dirty="0" err="1"/>
              <a:t>new_one</a:t>
            </a:r>
            <a:r>
              <a:rPr lang="en-US" dirty="0"/>
              <a:t>')</a:t>
            </a:r>
          </a:p>
          <a:p>
            <a:pPr lvl="1"/>
            <a:r>
              <a:rPr lang="en-US" dirty="0"/>
              <a:t>os.listdir()</a:t>
            </a:r>
          </a:p>
          <a:p>
            <a:pPr lvl="1"/>
            <a:r>
              <a:rPr lang="en-US" dirty="0"/>
              <a:t>['</a:t>
            </a:r>
            <a:r>
              <a:rPr lang="en-US" dirty="0" err="1"/>
              <a:t>new_one</a:t>
            </a:r>
            <a:r>
              <a:rPr lang="en-US" dirty="0"/>
              <a:t>']</a:t>
            </a:r>
          </a:p>
          <a:p>
            <a:r>
              <a:rPr lang="en-US" dirty="0"/>
              <a:t>Here, 'test' directory is renamed to '</a:t>
            </a:r>
            <a:r>
              <a:rPr lang="en-US" dirty="0" err="1"/>
              <a:t>new_one</a:t>
            </a:r>
            <a:r>
              <a:rPr lang="en-US" dirty="0"/>
              <a:t>' using the rename() method.</a:t>
            </a:r>
          </a:p>
        </p:txBody>
      </p:sp>
    </p:spTree>
    <p:extLst>
      <p:ext uri="{BB962C8B-B14F-4D97-AF65-F5344CB8AC3E}">
        <p14:creationId xmlns:p14="http://schemas.microsoft.com/office/powerpoint/2010/main" val="1688339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13026-4AF4-67EF-284E-DE87A8C91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Removing Directory or File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D3901-96B8-E875-F0C1-873146C66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Python, we can use the remove() method or the </a:t>
            </a:r>
            <a:r>
              <a:rPr lang="en-US" dirty="0" err="1"/>
              <a:t>rmdir</a:t>
            </a:r>
            <a:r>
              <a:rPr lang="en-US" dirty="0"/>
              <a:t>() method to remove a file or directory.</a:t>
            </a:r>
          </a:p>
          <a:p>
            <a:r>
              <a:rPr lang="en-US" dirty="0"/>
              <a:t>First let's use remove() to delete a file,</a:t>
            </a:r>
          </a:p>
          <a:p>
            <a:pPr lvl="1"/>
            <a:r>
              <a:rPr lang="en-US" dirty="0"/>
              <a:t>import os</a:t>
            </a:r>
          </a:p>
          <a:p>
            <a:pPr lvl="1"/>
            <a:r>
              <a:rPr lang="en-US" dirty="0"/>
              <a:t># delete "myfile.txt" file</a:t>
            </a:r>
          </a:p>
          <a:p>
            <a:pPr lvl="1"/>
            <a:r>
              <a:rPr lang="en-US" dirty="0"/>
              <a:t>os.remove("myfile.txt")</a:t>
            </a:r>
          </a:p>
          <a:p>
            <a:r>
              <a:rPr lang="en-US" dirty="0"/>
              <a:t>Here, we have used the remove() method to remove the "myfile.txt" file.</a:t>
            </a:r>
          </a:p>
        </p:txBody>
      </p:sp>
    </p:spTree>
    <p:extLst>
      <p:ext uri="{BB962C8B-B14F-4D97-AF65-F5344CB8AC3E}">
        <p14:creationId xmlns:p14="http://schemas.microsoft.com/office/powerpoint/2010/main" val="1992571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8752C-1D41-D3C7-D33A-A87B8BF91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5838"/>
            <a:ext cx="10515600" cy="5191125"/>
          </a:xfrm>
        </p:spPr>
        <p:txBody>
          <a:bodyPr>
            <a:normAutofit/>
          </a:bodyPr>
          <a:lstStyle/>
          <a:p>
            <a:r>
              <a:rPr lang="en-US" dirty="0"/>
              <a:t>Now let's use </a:t>
            </a:r>
            <a:r>
              <a:rPr lang="en-US" dirty="0" err="1"/>
              <a:t>rmdir</a:t>
            </a:r>
            <a:r>
              <a:rPr lang="en-US" dirty="0"/>
              <a:t>() to delete an empty directory,</a:t>
            </a:r>
          </a:p>
          <a:p>
            <a:pPr lvl="1"/>
            <a:r>
              <a:rPr lang="en-US" dirty="0"/>
              <a:t>import os</a:t>
            </a:r>
          </a:p>
          <a:p>
            <a:pPr lvl="1"/>
            <a:r>
              <a:rPr lang="en-US" dirty="0"/>
              <a:t># delete the empty directory "</a:t>
            </a:r>
            <a:r>
              <a:rPr lang="en-US" dirty="0" err="1"/>
              <a:t>mydir</a:t>
            </a:r>
            <a:r>
              <a:rPr lang="en-US" dirty="0"/>
              <a:t>"</a:t>
            </a:r>
          </a:p>
          <a:p>
            <a:pPr lvl="1"/>
            <a:r>
              <a:rPr lang="en-US" dirty="0"/>
              <a:t>os.rmdir("</a:t>
            </a:r>
            <a:r>
              <a:rPr lang="en-US" dirty="0" err="1"/>
              <a:t>mydir</a:t>
            </a:r>
            <a:r>
              <a:rPr lang="en-US" dirty="0"/>
              <a:t>") </a:t>
            </a:r>
          </a:p>
          <a:p>
            <a:r>
              <a:rPr lang="en-US" dirty="0"/>
              <a:t>In order to remove a non-empty directory, we can use the </a:t>
            </a:r>
            <a:r>
              <a:rPr lang="en-US" dirty="0" err="1"/>
              <a:t>rmtree</a:t>
            </a:r>
            <a:r>
              <a:rPr lang="en-US" dirty="0"/>
              <a:t>() method inside the </a:t>
            </a:r>
            <a:r>
              <a:rPr lang="en-US" dirty="0" err="1"/>
              <a:t>shutil</a:t>
            </a:r>
            <a:r>
              <a:rPr lang="en-US" dirty="0"/>
              <a:t> module. For example,</a:t>
            </a:r>
          </a:p>
          <a:p>
            <a:pPr lvl="1"/>
            <a:r>
              <a:rPr lang="en-US" dirty="0"/>
              <a:t>import </a:t>
            </a:r>
            <a:r>
              <a:rPr lang="en-US" dirty="0" err="1"/>
              <a:t>shutil</a:t>
            </a:r>
            <a:endParaRPr lang="en-US" dirty="0"/>
          </a:p>
          <a:p>
            <a:pPr lvl="1"/>
            <a:r>
              <a:rPr lang="en-US" dirty="0"/>
              <a:t># delete "</a:t>
            </a:r>
            <a:r>
              <a:rPr lang="en-US" dirty="0" err="1"/>
              <a:t>mydir</a:t>
            </a:r>
            <a:r>
              <a:rPr lang="en-US" dirty="0"/>
              <a:t>" directory and all of its contents</a:t>
            </a:r>
          </a:p>
          <a:p>
            <a:pPr lvl="1"/>
            <a:r>
              <a:rPr lang="en-US" dirty="0" err="1"/>
              <a:t>shutil.rmtree</a:t>
            </a:r>
            <a:r>
              <a:rPr lang="en-US" dirty="0"/>
              <a:t>("</a:t>
            </a:r>
            <a:r>
              <a:rPr lang="en-US" dirty="0" err="1"/>
              <a:t>mydir</a:t>
            </a:r>
            <a:r>
              <a:rPr lang="en-US" dirty="0"/>
              <a:t>")</a:t>
            </a:r>
          </a:p>
          <a:p>
            <a:r>
              <a:rPr lang="en-US" dirty="0"/>
              <a:t>It's important to note that these functions permanently delete the files or directories, so we need to careful when using them.</a:t>
            </a:r>
          </a:p>
        </p:txBody>
      </p:sp>
    </p:spTree>
    <p:extLst>
      <p:ext uri="{BB962C8B-B14F-4D97-AF65-F5344CB8AC3E}">
        <p14:creationId xmlns:p14="http://schemas.microsoft.com/office/powerpoint/2010/main" val="3578538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7A1F4-507C-16A2-6612-44D86E3A1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58591-1019-5B34-8AC6-B0F2EA652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exception is an unexpected event that occurs during program execution. For example,</a:t>
            </a:r>
          </a:p>
          <a:p>
            <a:pPr lvl="1"/>
            <a:r>
              <a:rPr lang="en-US" dirty="0" err="1"/>
              <a:t>divide_by_zero</a:t>
            </a:r>
            <a:r>
              <a:rPr lang="en-US" dirty="0"/>
              <a:t> = 7 / 0</a:t>
            </a:r>
          </a:p>
          <a:p>
            <a:r>
              <a:rPr lang="en-US" dirty="0"/>
              <a:t>The above code causes an exception as it is not possible to divide a number by 0.</a:t>
            </a:r>
          </a:p>
          <a:p>
            <a:r>
              <a:rPr lang="en-US" dirty="0"/>
              <a:t>Let's learn about Python Exceptions in detail.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352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ACF7-03AB-DE12-2997-46F14A0A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Logical Errors (Exceptions)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8C0ED-AE5F-7F9C-34B3-A0DFDA47C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Errors that occur at runtime (after passing the syntax test) are called exceptions or logical errors.</a:t>
            </a:r>
          </a:p>
          <a:p>
            <a:r>
              <a:rPr lang="en-US" dirty="0"/>
              <a:t>For instance, they occur when we</a:t>
            </a:r>
          </a:p>
          <a:p>
            <a:pPr lvl="1"/>
            <a:r>
              <a:rPr lang="en-US" dirty="0"/>
              <a:t>try to open a file(for reading) that does not exist (FileNotFoundError)</a:t>
            </a:r>
          </a:p>
          <a:p>
            <a:pPr lvl="1"/>
            <a:r>
              <a:rPr lang="en-US" dirty="0"/>
              <a:t>try to divide a number by zero (ZeroDivisionError)</a:t>
            </a:r>
          </a:p>
          <a:p>
            <a:pPr lvl="1"/>
            <a:r>
              <a:rPr lang="en-US" dirty="0"/>
              <a:t>try to import a module that does not exist (ImportError) and so on.</a:t>
            </a:r>
          </a:p>
          <a:p>
            <a:r>
              <a:rPr lang="en-US" dirty="0"/>
              <a:t>Whenever these types of runtime errors occur, Python creates an exception object.</a:t>
            </a:r>
          </a:p>
          <a:p>
            <a:r>
              <a:rPr lang="en-US" dirty="0"/>
              <a:t>If not handled properly, it prints a traceback to that error along with some details about why that error occurred.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599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755E5-EF11-D71C-3958-A9AE97C0C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4451"/>
            <a:ext cx="10515600" cy="4357688"/>
          </a:xfrm>
        </p:spPr>
        <p:txBody>
          <a:bodyPr>
            <a:normAutofit/>
          </a:bodyPr>
          <a:lstStyle/>
          <a:p>
            <a:r>
              <a:rPr lang="en-US" dirty="0"/>
              <a:t>Let's look at how Python treats these errors:</a:t>
            </a:r>
          </a:p>
          <a:p>
            <a:pPr lvl="1"/>
            <a:r>
              <a:rPr lang="en-US" dirty="0" err="1"/>
              <a:t>divide_numbers</a:t>
            </a:r>
            <a:r>
              <a:rPr lang="en-US" dirty="0"/>
              <a:t> = 7 / 0</a:t>
            </a:r>
          </a:p>
          <a:p>
            <a:pPr lvl="1"/>
            <a:r>
              <a:rPr lang="en-US" dirty="0" err="1"/>
              <a:t>prit</a:t>
            </a:r>
            <a:r>
              <a:rPr lang="en-US" dirty="0"/>
              <a:t>(</a:t>
            </a:r>
            <a:r>
              <a:rPr lang="en-US" dirty="0" err="1"/>
              <a:t>divide_numbers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Run Code</a:t>
            </a:r>
          </a:p>
          <a:p>
            <a:pPr lvl="1"/>
            <a:r>
              <a:rPr lang="en-US" dirty="0"/>
              <a:t>Output</a:t>
            </a:r>
          </a:p>
          <a:p>
            <a:pPr lvl="1"/>
            <a:r>
              <a:rPr lang="en-US" dirty="0"/>
              <a:t>Traceback (most recent call last):</a:t>
            </a:r>
          </a:p>
          <a:p>
            <a:pPr lvl="1"/>
            <a:r>
              <a:rPr lang="en-US" dirty="0"/>
              <a:t> File "&lt;string&gt;", line 1, in &lt;module&gt;</a:t>
            </a:r>
          </a:p>
          <a:p>
            <a:pPr lvl="1"/>
            <a:r>
              <a:rPr lang="en-US" dirty="0"/>
              <a:t>ZeroDivisionError: division by zero</a:t>
            </a:r>
          </a:p>
          <a:p>
            <a:r>
              <a:rPr lang="en-US" dirty="0"/>
              <a:t>Here, while trying to divide 7 / 0, the program throws a system exception ZeroDivisionError</a:t>
            </a:r>
          </a:p>
        </p:txBody>
      </p:sp>
    </p:spTree>
    <p:extLst>
      <p:ext uri="{BB962C8B-B14F-4D97-AF65-F5344CB8AC3E}">
        <p14:creationId xmlns:p14="http://schemas.microsoft.com/office/powerpoint/2010/main" val="832814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18A96-E3DE-ADA6-8A79-D14E45EDC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Built-in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FC7B7-7F1F-9D35-EA68-34778E7E3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Illegal operations can raise exceptions. There are plenty of built-in exceptions in Python that are raised when corresponding errors occur.</a:t>
            </a:r>
          </a:p>
          <a:p>
            <a:r>
              <a:rPr lang="en-US" dirty="0"/>
              <a:t>We can view all the built-in exceptions using the built-in local() function as follows:</a:t>
            </a:r>
          </a:p>
          <a:p>
            <a:pPr lvl="1"/>
            <a:r>
              <a:rPr lang="en-US" dirty="0"/>
              <a:t>print(</a:t>
            </a:r>
            <a:r>
              <a:rPr lang="en-US" dirty="0" err="1"/>
              <a:t>dir</a:t>
            </a:r>
            <a:r>
              <a:rPr lang="en-US" dirty="0"/>
              <a:t>(locals()['__</a:t>
            </a:r>
            <a:r>
              <a:rPr lang="en-US" dirty="0" err="1"/>
              <a:t>builtins</a:t>
            </a:r>
            <a:r>
              <a:rPr lang="en-US" dirty="0"/>
              <a:t>__']))</a:t>
            </a:r>
          </a:p>
          <a:p>
            <a:r>
              <a:rPr lang="en-US" dirty="0"/>
              <a:t>Here, locals()['__</a:t>
            </a:r>
            <a:r>
              <a:rPr lang="en-US" dirty="0" err="1"/>
              <a:t>builtins</a:t>
            </a:r>
            <a:r>
              <a:rPr lang="en-US" dirty="0"/>
              <a:t>__'] will return a module of built-in exceptions, functions, and attributes and </a:t>
            </a:r>
            <a:r>
              <a:rPr lang="en-US" dirty="0" err="1"/>
              <a:t>dir</a:t>
            </a:r>
            <a:r>
              <a:rPr lang="en-US" dirty="0"/>
              <a:t> allows us to list these attributes as strings.</a:t>
            </a:r>
          </a:p>
          <a:p>
            <a:r>
              <a:rPr lang="en-US" dirty="0"/>
              <a:t>Some of the common built-in exceptions in Python programming along with the error that cause them are listed below:</a:t>
            </a:r>
          </a:p>
        </p:txBody>
      </p:sp>
    </p:spTree>
    <p:extLst>
      <p:ext uri="{BB962C8B-B14F-4D97-AF65-F5344CB8AC3E}">
        <p14:creationId xmlns:p14="http://schemas.microsoft.com/office/powerpoint/2010/main" val="2598816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428187-CCAD-7F10-6D65-A03C00A49B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367097"/>
              </p:ext>
            </p:extLst>
          </p:nvPr>
        </p:nvGraphicFramePr>
        <p:xfrm>
          <a:off x="838200" y="335454"/>
          <a:ext cx="10515600" cy="6187092"/>
        </p:xfrm>
        <a:graphic>
          <a:graphicData uri="http://schemas.openxmlformats.org/drawingml/2006/table">
            <a:tbl>
              <a:tblPr/>
              <a:tblGrid>
                <a:gridCol w="3690938">
                  <a:extLst>
                    <a:ext uri="{9D8B030D-6E8A-4147-A177-3AD203B41FA5}">
                      <a16:colId xmlns:a16="http://schemas.microsoft.com/office/drawing/2014/main" val="2772239044"/>
                    </a:ext>
                  </a:extLst>
                </a:gridCol>
                <a:gridCol w="6824662">
                  <a:extLst>
                    <a:ext uri="{9D8B030D-6E8A-4147-A177-3AD203B41FA5}">
                      <a16:colId xmlns:a16="http://schemas.microsoft.com/office/drawing/2014/main" val="4276439327"/>
                    </a:ext>
                  </a:extLst>
                </a:gridCol>
              </a:tblGrid>
              <a:tr h="122416">
                <a:tc>
                  <a:txBody>
                    <a:bodyPr/>
                    <a:lstStyle/>
                    <a:p>
                      <a:pPr algn="l"/>
                      <a:r>
                        <a:rPr lang="en-US" sz="1400" b="1" u="sng" dirty="0">
                          <a:effectLst/>
                        </a:rPr>
                        <a:t>Exception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sng" dirty="0">
                          <a:effectLst/>
                        </a:rPr>
                        <a:t>Cause of Error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123526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AssertionError</a:t>
                      </a:r>
                      <a:endParaRPr lang="en-US" sz="1400" dirty="0">
                        <a:effectLst/>
                      </a:endParaRP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Raised when an assert statement fails.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33112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AttributeError</a:t>
                      </a:r>
                      <a:endParaRPr lang="en-US" sz="1400" dirty="0">
                        <a:effectLst/>
                      </a:endParaRP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Raised when attribute assignment or reference fails.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399287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EOFError</a:t>
                      </a:r>
                      <a:endParaRPr lang="en-US" sz="1400" dirty="0">
                        <a:effectLst/>
                      </a:endParaRP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Raised when the input() function hits end-of-file condition.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920794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FloatingPointError</a:t>
                      </a:r>
                      <a:endParaRPr lang="en-US" sz="1400" dirty="0">
                        <a:effectLst/>
                      </a:endParaRP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Raised when a floating point operation fails.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853788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GeneratorExit</a:t>
                      </a:r>
                      <a:endParaRPr lang="en-US" sz="1400" dirty="0">
                        <a:effectLst/>
                      </a:endParaRP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Raise when a generator's close() method is called.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848531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ImportError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Raised when the imported module is not found.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26119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IndexError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Raised when the index of a sequence is out of range.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700815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KeyError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when a key is not found in a dictionary.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075799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KeyboardInterrupt</a:t>
                      </a:r>
                      <a:endParaRPr lang="en-US" sz="1400" dirty="0">
                        <a:effectLst/>
                      </a:endParaRP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when the user hits the interrupt key (</a:t>
                      </a:r>
                      <a:r>
                        <a:rPr lang="en-US" sz="1400" dirty="0" err="1">
                          <a:effectLst/>
                        </a:rPr>
                        <a:t>Ctrl+C</a:t>
                      </a:r>
                      <a:r>
                        <a:rPr lang="en-US" sz="1400" dirty="0">
                          <a:effectLst/>
                        </a:rPr>
                        <a:t> or Delete).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07167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MemoryError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when an operation runs out of memory.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715981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NameError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when a variable is not found in local or global scope.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400569"/>
                  </a:ext>
                </a:extLst>
              </a:tr>
              <a:tr h="12241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NotImplementedError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by abstract methods.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956427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OSError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when system operation causes system related error.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17190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OverflowError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when the result of an arithmetic operation is too large to be represented.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19021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ReferenceError</a:t>
                      </a:r>
                      <a:endParaRPr lang="en-US" sz="1400" dirty="0">
                        <a:effectLst/>
                      </a:endParaRP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when a weak reference proxy is used to access a garbage collected referent.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998251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RuntimeError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when an error does not fall under any other category.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46526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StopIteration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by next() function to indicate that there is no further item to be returned by iterator.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50680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SyntaxError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by parser when syntax error is encountered.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380734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IndentationError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when there is incorrect indentation.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046790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TabError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when indentation consists of inconsistent tabs and spaces.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57328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SystemError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when interpreter detects internal error.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525410"/>
                  </a:ext>
                </a:extLst>
              </a:tr>
              <a:tr h="12241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SystemExit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Raised by </a:t>
                      </a:r>
                      <a:r>
                        <a:rPr lang="en-US" sz="1400" dirty="0" err="1">
                          <a:effectLst/>
                        </a:rPr>
                        <a:t>sys.exit</a:t>
                      </a:r>
                      <a:r>
                        <a:rPr lang="en-US" sz="1400" dirty="0">
                          <a:effectLst/>
                        </a:rPr>
                        <a:t>() function.</a:t>
                      </a:r>
                    </a:p>
                  </a:txBody>
                  <a:tcPr marL="55644" marR="55644" marT="27822" marB="27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389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3365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57042-878C-39F9-00FE-85866812D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787" y="4214812"/>
            <a:ext cx="10515600" cy="2247900"/>
          </a:xfrm>
        </p:spPr>
        <p:txBody>
          <a:bodyPr/>
          <a:lstStyle/>
          <a:p>
            <a:r>
              <a:rPr lang="en-US" dirty="0"/>
              <a:t>If required, we can also define our own exceptions in Python. To learn more about them, visit Python User-defined Exceptions.</a:t>
            </a:r>
          </a:p>
          <a:p>
            <a:r>
              <a:rPr lang="en-US" dirty="0"/>
              <a:t>We can handle these built-in and user-defined exceptions in Python using try, except and finally statements. To learn more about them, visit Python try, except and finally statements.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430BF8E-0942-8042-125F-D7B559C07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672482"/>
              </p:ext>
            </p:extLst>
          </p:nvPr>
        </p:nvGraphicFramePr>
        <p:xfrm>
          <a:off x="1095374" y="395288"/>
          <a:ext cx="10258426" cy="3560558"/>
        </p:xfrm>
        <a:graphic>
          <a:graphicData uri="http://schemas.openxmlformats.org/drawingml/2006/table">
            <a:tbl>
              <a:tblPr/>
              <a:tblGrid>
                <a:gridCol w="3462338">
                  <a:extLst>
                    <a:ext uri="{9D8B030D-6E8A-4147-A177-3AD203B41FA5}">
                      <a16:colId xmlns:a16="http://schemas.microsoft.com/office/drawing/2014/main" val="2064358622"/>
                    </a:ext>
                  </a:extLst>
                </a:gridCol>
                <a:gridCol w="6796088">
                  <a:extLst>
                    <a:ext uri="{9D8B030D-6E8A-4147-A177-3AD203B41FA5}">
                      <a16:colId xmlns:a16="http://schemas.microsoft.com/office/drawing/2014/main" val="3968464859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TypeError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Raised when a function or operation is applied to an object of incorrect type.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59923"/>
                  </a:ext>
                </a:extLst>
              </a:tr>
              <a:tr h="308723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UnboundLocalError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Raised when a reference is made to a local variable in a function or method, but no value has been bound to that variable.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24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UnicodeError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Raised when a Unicode-related encoding or decoding error occurs.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730452"/>
                  </a:ext>
                </a:extLst>
              </a:tr>
              <a:tr h="39337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UnicodeEncodeError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Raised when a Unicode-related error occurs during encoding.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451024"/>
                  </a:ext>
                </a:extLst>
              </a:tr>
              <a:tr h="430074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UnicodeDecodeError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Raised when a Unicode-related error occurs during decoding.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206559"/>
                  </a:ext>
                </a:extLst>
              </a:tr>
              <a:tr h="430074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UnicodeTranslateError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Raised when a Unicode-related error occurs during translating.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0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ValueError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Raised when a function gets an argument of correct type but improper value.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595892"/>
                  </a:ext>
                </a:extLst>
              </a:tr>
              <a:tr h="581865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ZeroDivisionError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Raised when the second operand of division or modulo operation is zero.</a:t>
                      </a:r>
                    </a:p>
                  </a:txBody>
                  <a:tcPr marL="126492" marR="126492" marT="63246" marB="63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829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693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E564-62F6-7580-A38F-012B0855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Error and Exception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3FA73-B3B6-6E96-50A8-E282E98BA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Errors represent conditions such as compilation error, syntax error, error in the logical part of the code, library incompatibility, infinite recursion, etc.</a:t>
            </a:r>
          </a:p>
          <a:p>
            <a:r>
              <a:rPr lang="en-US" dirty="0"/>
              <a:t>Errors are usually beyond the control of the programmer and we should not try to handle errors.</a:t>
            </a:r>
          </a:p>
          <a:p>
            <a:r>
              <a:rPr lang="en-US" dirty="0"/>
              <a:t>Exceptions can be caught and handled by the program.</a:t>
            </a:r>
          </a:p>
          <a:p>
            <a:r>
              <a:rPr lang="en-US" dirty="0"/>
              <a:t>Now we know about exceptions, we will learn about handling exceptions in the next tutorial.</a:t>
            </a:r>
          </a:p>
        </p:txBody>
      </p:sp>
    </p:spTree>
    <p:extLst>
      <p:ext uri="{BB962C8B-B14F-4D97-AF65-F5344CB8AC3E}">
        <p14:creationId xmlns:p14="http://schemas.microsoft.com/office/powerpoint/2010/main" val="2038479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D25D9-F6FD-FA3F-3CD5-589B30338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E3FD8-76E1-57D5-5508-3817AFEBB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the last tutorial, we learned about Python exceptions. We know that exceptions abnormally terminate the execution of a program.</a:t>
            </a:r>
          </a:p>
          <a:p>
            <a:r>
              <a:rPr lang="en-US" dirty="0"/>
              <a:t>This is why it is important to handle exceptions. In Python, we use the try...except block</a:t>
            </a:r>
          </a:p>
          <a:p>
            <a:r>
              <a:rPr lang="en-US" dirty="0"/>
              <a:t>Python try...except Block</a:t>
            </a:r>
          </a:p>
          <a:p>
            <a:r>
              <a:rPr lang="en-US" dirty="0"/>
              <a:t>The try...except block is used to handle exceptions in Python. Here's the syntax of try...except block:</a:t>
            </a:r>
          </a:p>
          <a:p>
            <a:pPr lvl="1"/>
            <a:r>
              <a:rPr lang="en-US" dirty="0"/>
              <a:t>try:</a:t>
            </a:r>
          </a:p>
          <a:p>
            <a:pPr lvl="1"/>
            <a:r>
              <a:rPr lang="en-US" dirty="0"/>
              <a:t>    # code that may cause exception</a:t>
            </a:r>
          </a:p>
          <a:p>
            <a:pPr lvl="1"/>
            <a:r>
              <a:rPr lang="en-US" dirty="0"/>
              <a:t>except:</a:t>
            </a:r>
          </a:p>
          <a:p>
            <a:pPr lvl="1"/>
            <a:r>
              <a:rPr lang="en-US" dirty="0"/>
              <a:t>    # code to run when exception occurs</a:t>
            </a:r>
          </a:p>
        </p:txBody>
      </p:sp>
    </p:spTree>
    <p:extLst>
      <p:ext uri="{BB962C8B-B14F-4D97-AF65-F5344CB8AC3E}">
        <p14:creationId xmlns:p14="http://schemas.microsoft.com/office/powerpoint/2010/main" val="3824722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CE693-963F-F839-FB6A-8D8225EFB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5788"/>
            <a:ext cx="10515600" cy="5591175"/>
          </a:xfrm>
        </p:spPr>
        <p:txBody>
          <a:bodyPr>
            <a:normAutofit/>
          </a:bodyPr>
          <a:lstStyle/>
          <a:p>
            <a:r>
              <a:rPr lang="en-US" dirty="0"/>
              <a:t>Here, we have placed the code that might generate an exception inside the try block. Every try block is followed by an except block.</a:t>
            </a:r>
          </a:p>
          <a:p>
            <a:r>
              <a:rPr lang="en-US" dirty="0"/>
              <a:t>When an exception occurs, it is caught by the except block. The except block cannot be used without the try block.</a:t>
            </a:r>
          </a:p>
          <a:p>
            <a:r>
              <a:rPr lang="en-US" dirty="0"/>
              <a:t>Example: Exception Handling Using try...except</a:t>
            </a:r>
          </a:p>
          <a:p>
            <a:pPr lvl="1"/>
            <a:r>
              <a:rPr lang="en-US" dirty="0"/>
              <a:t>try:</a:t>
            </a:r>
          </a:p>
          <a:p>
            <a:pPr lvl="1"/>
            <a:r>
              <a:rPr lang="en-US" dirty="0"/>
              <a:t>    numerator = 10</a:t>
            </a:r>
          </a:p>
          <a:p>
            <a:pPr lvl="1"/>
            <a:r>
              <a:rPr lang="en-US" dirty="0"/>
              <a:t>    denominator = 0</a:t>
            </a:r>
          </a:p>
          <a:p>
            <a:pPr lvl="1"/>
            <a:r>
              <a:rPr lang="en-US" dirty="0"/>
              <a:t>    result = numerator/denominator</a:t>
            </a:r>
          </a:p>
          <a:p>
            <a:pPr lvl="1"/>
            <a:r>
              <a:rPr lang="en-US" dirty="0"/>
              <a:t>    print(result)</a:t>
            </a:r>
          </a:p>
          <a:p>
            <a:pPr lvl="1"/>
            <a:r>
              <a:rPr lang="en-US" dirty="0"/>
              <a:t>except:</a:t>
            </a:r>
          </a:p>
          <a:p>
            <a:pPr lvl="1"/>
            <a:r>
              <a:rPr lang="en-US" dirty="0"/>
              <a:t>    print("Error: Denominator cannot be 0.")</a:t>
            </a:r>
          </a:p>
          <a:p>
            <a:pPr lvl="1"/>
            <a:r>
              <a:rPr lang="en-US" dirty="0"/>
              <a:t># Output: Error: Denominator cannot be 0. </a:t>
            </a:r>
          </a:p>
        </p:txBody>
      </p:sp>
    </p:spTree>
    <p:extLst>
      <p:ext uri="{BB962C8B-B14F-4D97-AF65-F5344CB8AC3E}">
        <p14:creationId xmlns:p14="http://schemas.microsoft.com/office/powerpoint/2010/main" val="3662427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7A1B0-8824-25A7-5E04-9C8200B9A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750"/>
            <a:ext cx="10515600" cy="4748213"/>
          </a:xfrm>
        </p:spPr>
        <p:txBody>
          <a:bodyPr/>
          <a:lstStyle/>
          <a:p>
            <a:r>
              <a:rPr lang="en-US" dirty="0"/>
              <a:t>In the example, we are trying to divide a number by 0. Here, this code generates an exception.</a:t>
            </a:r>
          </a:p>
          <a:p>
            <a:r>
              <a:rPr lang="en-US" dirty="0"/>
              <a:t>To handle the exception, we have put the code, result = numerator/denominator inside the try block. Now when an exception occurs, the rest of the code inside the try block is skipped.</a:t>
            </a:r>
          </a:p>
          <a:p>
            <a:r>
              <a:rPr lang="en-US" dirty="0"/>
              <a:t>The except block catches the exception and statements inside the except block are executed.</a:t>
            </a:r>
          </a:p>
          <a:p>
            <a:r>
              <a:rPr lang="en-US" dirty="0"/>
              <a:t>If none of the statements in the try block generates an exception, the except block is skipped.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321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7A551-0B1F-F9BF-49C3-5A881A28E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Catching Specific Exceptions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9D1E-72AE-8DDC-43A1-84579D178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each try block, there can be zero or more except blocks. Multiple except blocks allow us to handle each exception differently.</a:t>
            </a:r>
          </a:p>
          <a:p>
            <a:r>
              <a:rPr lang="en-US" dirty="0"/>
              <a:t>The argument type of each except block indicates the type of exception that can be handled by it. For example,</a:t>
            </a:r>
          </a:p>
          <a:p>
            <a:pPr lvl="1"/>
            <a:r>
              <a:rPr lang="en-US" dirty="0"/>
              <a:t>try: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even_numbers</a:t>
            </a:r>
            <a:r>
              <a:rPr lang="en-US" dirty="0"/>
              <a:t> = [2,4,6,8]</a:t>
            </a:r>
          </a:p>
          <a:p>
            <a:pPr lvl="1"/>
            <a:r>
              <a:rPr lang="en-US" dirty="0"/>
              <a:t>    print(</a:t>
            </a:r>
            <a:r>
              <a:rPr lang="en-US" dirty="0" err="1"/>
              <a:t>even_numbers</a:t>
            </a:r>
            <a:r>
              <a:rPr lang="en-US" dirty="0"/>
              <a:t>[5])</a:t>
            </a:r>
          </a:p>
          <a:p>
            <a:pPr lvl="1"/>
            <a:r>
              <a:rPr lang="en-US" dirty="0"/>
              <a:t>except ZeroDivisionError:</a:t>
            </a:r>
          </a:p>
          <a:p>
            <a:pPr lvl="1"/>
            <a:r>
              <a:rPr lang="en-US" dirty="0"/>
              <a:t>    print("Denominator cannot be 0.")</a:t>
            </a:r>
          </a:p>
          <a:p>
            <a:pPr lvl="1"/>
            <a:r>
              <a:rPr lang="en-US" dirty="0"/>
              <a:t>    except IndexError:</a:t>
            </a:r>
          </a:p>
          <a:p>
            <a:pPr lvl="1"/>
            <a:r>
              <a:rPr lang="en-US" dirty="0"/>
              <a:t>    print("Index Out of Bound.")</a:t>
            </a:r>
          </a:p>
          <a:p>
            <a:pPr lvl="1"/>
            <a:r>
              <a:rPr lang="en-US" dirty="0"/>
              <a:t># Output: Index Out of Bound</a:t>
            </a:r>
          </a:p>
        </p:txBody>
      </p:sp>
    </p:spTree>
    <p:extLst>
      <p:ext uri="{BB962C8B-B14F-4D97-AF65-F5344CB8AC3E}">
        <p14:creationId xmlns:p14="http://schemas.microsoft.com/office/powerpoint/2010/main" val="1552730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F3F2C-91D5-65B7-99A5-EAAD1FE1C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/>
          </a:bodyPr>
          <a:lstStyle/>
          <a:p>
            <a:r>
              <a:rPr lang="en-US" dirty="0"/>
              <a:t>In this example, we have created a list named </a:t>
            </a:r>
            <a:r>
              <a:rPr lang="en-US" dirty="0" err="1"/>
              <a:t>even_numbers</a:t>
            </a:r>
            <a:r>
              <a:rPr lang="en-US" dirty="0"/>
              <a:t>.</a:t>
            </a:r>
          </a:p>
          <a:p>
            <a:r>
              <a:rPr lang="en-US" dirty="0"/>
              <a:t>Since the list index starts from 0, the last element of the list is at index 3. Notice the statement,</a:t>
            </a:r>
          </a:p>
          <a:p>
            <a:pPr lvl="1"/>
            <a:r>
              <a:rPr lang="en-US" dirty="0"/>
              <a:t>print(</a:t>
            </a:r>
            <a:r>
              <a:rPr lang="en-US" dirty="0" err="1"/>
              <a:t>even_numbers</a:t>
            </a:r>
            <a:r>
              <a:rPr lang="en-US" dirty="0"/>
              <a:t>[5])</a:t>
            </a:r>
          </a:p>
          <a:p>
            <a:r>
              <a:rPr lang="en-US" dirty="0"/>
              <a:t>Here, we are trying to access a value to the index 5. Hence, IndexError exception occurs.</a:t>
            </a:r>
          </a:p>
          <a:p>
            <a:r>
              <a:rPr lang="en-US" dirty="0"/>
              <a:t>When the IndexError exception occurs in the try block,</a:t>
            </a:r>
          </a:p>
          <a:p>
            <a:pPr lvl="1"/>
            <a:r>
              <a:rPr lang="en-US" dirty="0"/>
              <a:t>The ZeroDivisionError exception is skipped.</a:t>
            </a:r>
          </a:p>
          <a:p>
            <a:pPr lvl="1"/>
            <a:r>
              <a:rPr lang="en-US" dirty="0"/>
              <a:t>The set of code inside the IndexError exception is executed.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030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6C9D-75AB-80B7-E44E-97CEB35E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try with else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7EC70-4B40-5A7D-D766-ABB3DFECC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 some situations, we might want to run a certain block of code if the code block inside try runs without any errors.</a:t>
            </a:r>
          </a:p>
          <a:p>
            <a:r>
              <a:rPr lang="en-US" dirty="0"/>
              <a:t>For these cases, you can use the optional else keyword with the try statement.</a:t>
            </a:r>
          </a:p>
          <a:p>
            <a:r>
              <a:rPr lang="en-US" dirty="0"/>
              <a:t>Let's look at an example:</a:t>
            </a:r>
          </a:p>
          <a:p>
            <a:pPr lvl="1"/>
            <a:r>
              <a:rPr lang="en-US" dirty="0"/>
              <a:t># program to print the reciprocal of even numbers</a:t>
            </a:r>
          </a:p>
          <a:p>
            <a:pPr lvl="1"/>
            <a:r>
              <a:rPr lang="en-US" dirty="0"/>
              <a:t>try:</a:t>
            </a:r>
          </a:p>
          <a:p>
            <a:pPr lvl="1"/>
            <a:r>
              <a:rPr lang="en-US" dirty="0"/>
              <a:t>    num = int(input("Enter a number: "))</a:t>
            </a:r>
          </a:p>
          <a:p>
            <a:pPr lvl="1"/>
            <a:r>
              <a:rPr lang="en-US" dirty="0"/>
              <a:t>    assert num % 2 == 0</a:t>
            </a:r>
          </a:p>
          <a:p>
            <a:pPr lvl="1"/>
            <a:r>
              <a:rPr lang="en-US" dirty="0"/>
              <a:t>except:</a:t>
            </a:r>
          </a:p>
          <a:p>
            <a:pPr lvl="1"/>
            <a:r>
              <a:rPr lang="en-US" dirty="0"/>
              <a:t>    print("Not an even number!")</a:t>
            </a:r>
          </a:p>
          <a:p>
            <a:pPr lvl="1"/>
            <a:r>
              <a:rPr lang="en-US" dirty="0"/>
              <a:t>else:</a:t>
            </a:r>
          </a:p>
          <a:p>
            <a:pPr lvl="1"/>
            <a:r>
              <a:rPr lang="en-US" dirty="0"/>
              <a:t>    reciprocal = 1/num</a:t>
            </a:r>
          </a:p>
          <a:p>
            <a:pPr lvl="1"/>
            <a:r>
              <a:rPr lang="en-US" dirty="0"/>
              <a:t>    print(reciprocal)</a:t>
            </a:r>
          </a:p>
        </p:txBody>
      </p:sp>
    </p:spTree>
    <p:extLst>
      <p:ext uri="{BB962C8B-B14F-4D97-AF65-F5344CB8AC3E}">
        <p14:creationId xmlns:p14="http://schemas.microsoft.com/office/powerpoint/2010/main" val="1382434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2AC9A-BDDD-6F0B-C0BC-6E72A28D8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7225"/>
            <a:ext cx="10515600" cy="58864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#Output</a:t>
            </a:r>
          </a:p>
          <a:p>
            <a:r>
              <a:rPr lang="en-US" dirty="0"/>
              <a:t>If we pass an odd number:</a:t>
            </a:r>
          </a:p>
          <a:p>
            <a:pPr lvl="1"/>
            <a:r>
              <a:rPr lang="en-US" dirty="0"/>
              <a:t>Enter a number: 1</a:t>
            </a:r>
          </a:p>
          <a:p>
            <a:pPr lvl="1"/>
            <a:r>
              <a:rPr lang="en-US" dirty="0"/>
              <a:t>Not an even number!</a:t>
            </a:r>
          </a:p>
          <a:p>
            <a:r>
              <a:rPr lang="en-US" dirty="0"/>
              <a:t>If we pass an even number, the reciprocal is computed and displayed.</a:t>
            </a:r>
          </a:p>
          <a:p>
            <a:pPr lvl="1"/>
            <a:r>
              <a:rPr lang="en-US" dirty="0"/>
              <a:t>Enter a number: 4</a:t>
            </a:r>
          </a:p>
          <a:p>
            <a:pPr lvl="1"/>
            <a:r>
              <a:rPr lang="en-US" dirty="0"/>
              <a:t>0.25</a:t>
            </a:r>
          </a:p>
          <a:p>
            <a:r>
              <a:rPr lang="en-US" dirty="0"/>
              <a:t>However, if we pass 0, we get ZeroDivisionError as the code block inside else is not handled by preceding except.</a:t>
            </a:r>
          </a:p>
          <a:p>
            <a:pPr lvl="1"/>
            <a:r>
              <a:rPr lang="en-US" dirty="0"/>
              <a:t>Enter a number: 0</a:t>
            </a:r>
          </a:p>
          <a:p>
            <a:pPr lvl="1"/>
            <a:r>
              <a:rPr lang="en-US" dirty="0"/>
              <a:t>Traceback (most recent call last):</a:t>
            </a:r>
          </a:p>
          <a:p>
            <a:pPr lvl="1"/>
            <a:r>
              <a:rPr lang="en-US" dirty="0"/>
              <a:t>  File "&lt;string&gt;", line 7, in &lt;module&gt;</a:t>
            </a:r>
          </a:p>
          <a:p>
            <a:pPr lvl="1"/>
            <a:r>
              <a:rPr lang="en-US" dirty="0"/>
              <a:t>    reciprocal = 1/num</a:t>
            </a:r>
          </a:p>
          <a:p>
            <a:pPr lvl="1"/>
            <a:r>
              <a:rPr lang="en-US" dirty="0"/>
              <a:t>ZeroDivisionError: division by zero</a:t>
            </a:r>
          </a:p>
          <a:p>
            <a:r>
              <a:rPr lang="en-US" b="1" dirty="0"/>
              <a:t>Note: </a:t>
            </a:r>
            <a:r>
              <a:rPr lang="en-US" dirty="0"/>
              <a:t>Exceptions in the else clause are not handled by the preceding except clauses.</a:t>
            </a:r>
          </a:p>
        </p:txBody>
      </p:sp>
    </p:spTree>
    <p:extLst>
      <p:ext uri="{BB962C8B-B14F-4D97-AF65-F5344CB8AC3E}">
        <p14:creationId xmlns:p14="http://schemas.microsoft.com/office/powerpoint/2010/main" val="1108671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37C0-08D6-B0FE-95D4-180E5FCA3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3588"/>
          </a:xfrm>
        </p:spPr>
        <p:txBody>
          <a:bodyPr/>
          <a:lstStyle/>
          <a:p>
            <a:r>
              <a:rPr lang="en-US" b="1" dirty="0"/>
              <a:t>Python try...finally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F32A4-B0DF-652E-EDEA-EE2050219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714"/>
            <a:ext cx="10515600" cy="536416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 Python, the finally block is always executed no matter whether there is an exception or not.</a:t>
            </a:r>
          </a:p>
          <a:p>
            <a:r>
              <a:rPr lang="en-US" dirty="0"/>
              <a:t>The finally block is optional. And, for each try block, there can be only one finally block.</a:t>
            </a:r>
          </a:p>
          <a:p>
            <a:r>
              <a:rPr lang="en-US" dirty="0"/>
              <a:t>Let's see an example,</a:t>
            </a:r>
          </a:p>
          <a:p>
            <a:pPr lvl="1"/>
            <a:r>
              <a:rPr lang="en-US" dirty="0"/>
              <a:t>try:</a:t>
            </a:r>
          </a:p>
          <a:p>
            <a:pPr lvl="1"/>
            <a:r>
              <a:rPr lang="en-US" dirty="0"/>
              <a:t>    numerator = 10</a:t>
            </a:r>
          </a:p>
          <a:p>
            <a:pPr lvl="1"/>
            <a:r>
              <a:rPr lang="en-US" dirty="0"/>
              <a:t>    denominator = 0</a:t>
            </a:r>
          </a:p>
          <a:p>
            <a:pPr lvl="1"/>
            <a:r>
              <a:rPr lang="en-US" dirty="0"/>
              <a:t>    result = numerator/denominator</a:t>
            </a:r>
          </a:p>
          <a:p>
            <a:pPr lvl="1"/>
            <a:r>
              <a:rPr lang="en-US" dirty="0"/>
              <a:t>    print(result)</a:t>
            </a:r>
          </a:p>
          <a:p>
            <a:pPr lvl="1"/>
            <a:r>
              <a:rPr lang="en-US" dirty="0"/>
              <a:t>except:</a:t>
            </a:r>
          </a:p>
          <a:p>
            <a:pPr lvl="1"/>
            <a:r>
              <a:rPr lang="en-US" dirty="0"/>
              <a:t>    print("Error: Denominator cannot be 0.")</a:t>
            </a:r>
          </a:p>
          <a:p>
            <a:pPr lvl="1"/>
            <a:r>
              <a:rPr lang="en-US" dirty="0"/>
              <a:t>    finally:</a:t>
            </a:r>
          </a:p>
          <a:p>
            <a:pPr lvl="1"/>
            <a:r>
              <a:rPr lang="en-US" dirty="0"/>
              <a:t>    print("This is finally block.")</a:t>
            </a:r>
          </a:p>
          <a:p>
            <a:pPr lvl="1"/>
            <a:r>
              <a:rPr lang="en-US" dirty="0"/>
              <a:t>Run Code</a:t>
            </a:r>
          </a:p>
          <a:p>
            <a:pPr lvl="1"/>
            <a:r>
              <a:rPr lang="en-US" dirty="0"/>
              <a:t>Output</a:t>
            </a:r>
          </a:p>
          <a:p>
            <a:pPr lvl="1"/>
            <a:r>
              <a:rPr lang="en-US" dirty="0"/>
              <a:t>Error: Denominator cannot be 0.</a:t>
            </a:r>
          </a:p>
          <a:p>
            <a:pPr lvl="1"/>
            <a:r>
              <a:rPr lang="en-US" dirty="0"/>
              <a:t>This is finally block.</a:t>
            </a:r>
          </a:p>
          <a:p>
            <a:r>
              <a:rPr lang="en-US" dirty="0"/>
              <a:t>In the above example, we are dividing a number by 0 inside the try block. Here, this code generates an exception.</a:t>
            </a:r>
          </a:p>
          <a:p>
            <a:r>
              <a:rPr lang="en-US" dirty="0"/>
              <a:t>The exception is caught by the except block. And, then the finally block is executed.</a:t>
            </a:r>
          </a:p>
        </p:txBody>
      </p:sp>
    </p:spTree>
    <p:extLst>
      <p:ext uri="{BB962C8B-B14F-4D97-AF65-F5344CB8AC3E}">
        <p14:creationId xmlns:p14="http://schemas.microsoft.com/office/powerpoint/2010/main" val="16017824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6C668-2770-62B4-E54E-A299B21A4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3530"/>
            <a:ext cx="10515600" cy="1115220"/>
          </a:xfrm>
        </p:spPr>
        <p:txBody>
          <a:bodyPr/>
          <a:lstStyle/>
          <a:p>
            <a:r>
              <a:rPr lang="en-US" b="1" dirty="0"/>
              <a:t>Python Custom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4221E-E849-A6CD-FE07-7285E548D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750"/>
            <a:ext cx="10515600" cy="511571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the previous tutorial, we learned about different built-in exceptions in Python and why it is important to handle exceptions. .</a:t>
            </a:r>
          </a:p>
          <a:p>
            <a:r>
              <a:rPr lang="en-US" dirty="0"/>
              <a:t>However, sometimes we may need to create our own custom exceptions that serve our purpose.</a:t>
            </a:r>
          </a:p>
          <a:p>
            <a:r>
              <a:rPr lang="en-US" dirty="0"/>
              <a:t>Defining Custom Exceptions</a:t>
            </a:r>
          </a:p>
          <a:p>
            <a:r>
              <a:rPr lang="en-US" dirty="0"/>
              <a:t>In Python, we can define custom exceptions by creating a new class that is derived from the built-in Exception class.</a:t>
            </a:r>
          </a:p>
          <a:p>
            <a:r>
              <a:rPr lang="en-US" dirty="0"/>
              <a:t>Here's the syntax to define custom exceptions,</a:t>
            </a:r>
          </a:p>
          <a:p>
            <a:pPr lvl="1"/>
            <a:r>
              <a:rPr lang="en-US" dirty="0"/>
              <a:t>class </a:t>
            </a:r>
            <a:r>
              <a:rPr lang="en-US" dirty="0" err="1"/>
              <a:t>CustomError</a:t>
            </a:r>
            <a:r>
              <a:rPr lang="en-US" dirty="0"/>
              <a:t>(Exception):</a:t>
            </a:r>
          </a:p>
          <a:p>
            <a:pPr lvl="1"/>
            <a:r>
              <a:rPr lang="en-US" dirty="0"/>
              <a:t>    ...</a:t>
            </a:r>
          </a:p>
          <a:p>
            <a:pPr lvl="1"/>
            <a:r>
              <a:rPr lang="en-US" dirty="0"/>
              <a:t>    pass</a:t>
            </a:r>
          </a:p>
          <a:p>
            <a:pPr lvl="1"/>
            <a:r>
              <a:rPr lang="en-US" dirty="0"/>
              <a:t>try:</a:t>
            </a:r>
          </a:p>
          <a:p>
            <a:pPr lvl="1"/>
            <a:r>
              <a:rPr lang="en-US" dirty="0"/>
              <a:t>   ...</a:t>
            </a:r>
          </a:p>
          <a:p>
            <a:pPr lvl="1"/>
            <a:r>
              <a:rPr lang="en-US" dirty="0"/>
              <a:t>except </a:t>
            </a:r>
            <a:r>
              <a:rPr lang="en-US" dirty="0" err="1"/>
              <a:t>CustomError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...</a:t>
            </a:r>
          </a:p>
          <a:p>
            <a:r>
              <a:rPr lang="en-US" dirty="0"/>
              <a:t>Here, </a:t>
            </a:r>
            <a:r>
              <a:rPr lang="en-US" dirty="0" err="1"/>
              <a:t>CustomError</a:t>
            </a:r>
            <a:r>
              <a:rPr lang="en-US" dirty="0"/>
              <a:t> is a user-defined error which inherits from the Exception class.</a:t>
            </a:r>
          </a:p>
        </p:txBody>
      </p:sp>
    </p:spTree>
    <p:extLst>
      <p:ext uri="{BB962C8B-B14F-4D97-AF65-F5344CB8AC3E}">
        <p14:creationId xmlns:p14="http://schemas.microsoft.com/office/powerpoint/2010/main" val="3098511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4BF64-5586-8694-95DA-F1C4317D8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1"/>
            <a:ext cx="10515600" cy="661511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Note:</a:t>
            </a:r>
          </a:p>
          <a:p>
            <a:r>
              <a:rPr lang="en-US" dirty="0"/>
              <a:t>When we are developing a large Python program, it is a good practice to place all the user-defined exceptions that our program raises in a separate file.</a:t>
            </a:r>
          </a:p>
          <a:p>
            <a:r>
              <a:rPr lang="en-US" dirty="0"/>
              <a:t>Many standard modules define their exceptions separately as exceptions.py or errors.py (generally but not always).</a:t>
            </a:r>
          </a:p>
          <a:p>
            <a:r>
              <a:rPr lang="en-US" dirty="0"/>
              <a:t>Example: Python User-Defined Exception</a:t>
            </a:r>
          </a:p>
          <a:p>
            <a:pPr lvl="1"/>
            <a:r>
              <a:rPr lang="en-US" dirty="0"/>
              <a:t># define Python user-defined exceptions</a:t>
            </a:r>
          </a:p>
          <a:p>
            <a:pPr lvl="1"/>
            <a:r>
              <a:rPr lang="en-US" dirty="0"/>
              <a:t>class InvalidAgeException(Exception):</a:t>
            </a:r>
          </a:p>
          <a:p>
            <a:pPr lvl="1"/>
            <a:r>
              <a:rPr lang="en-US" dirty="0"/>
              <a:t>    "Raised when the input value is less than 18"</a:t>
            </a:r>
          </a:p>
          <a:p>
            <a:pPr lvl="1"/>
            <a:r>
              <a:rPr lang="en-US" dirty="0"/>
              <a:t>    pass</a:t>
            </a:r>
          </a:p>
          <a:p>
            <a:pPr lvl="1"/>
            <a:r>
              <a:rPr lang="en-US" dirty="0"/>
              <a:t># you need to guess this number</a:t>
            </a:r>
          </a:p>
          <a:p>
            <a:pPr lvl="1"/>
            <a:r>
              <a:rPr lang="en-US" dirty="0"/>
              <a:t>number = 18</a:t>
            </a:r>
          </a:p>
          <a:p>
            <a:pPr lvl="1"/>
            <a:r>
              <a:rPr lang="en-US" dirty="0"/>
              <a:t>try:</a:t>
            </a:r>
          </a:p>
          <a:p>
            <a:pPr lvl="1"/>
            <a:r>
              <a:rPr lang="en-US" dirty="0"/>
              <a:t>    </a:t>
            </a:r>
            <a:r>
              <a:rPr lang="en-US" dirty="0" err="1"/>
              <a:t>input_num</a:t>
            </a:r>
            <a:r>
              <a:rPr lang="en-US" dirty="0"/>
              <a:t> = int(input("Enter a number: "))</a:t>
            </a:r>
          </a:p>
          <a:p>
            <a:pPr lvl="1"/>
            <a:r>
              <a:rPr lang="en-US" dirty="0"/>
              <a:t>    if </a:t>
            </a:r>
            <a:r>
              <a:rPr lang="en-US" dirty="0" err="1"/>
              <a:t>input_num</a:t>
            </a:r>
            <a:r>
              <a:rPr lang="en-US" dirty="0"/>
              <a:t> &lt; number:</a:t>
            </a:r>
          </a:p>
          <a:p>
            <a:pPr lvl="1"/>
            <a:r>
              <a:rPr lang="en-US" dirty="0"/>
              <a:t>        raise InvalidAgeException</a:t>
            </a:r>
          </a:p>
          <a:p>
            <a:pPr lvl="1"/>
            <a:r>
              <a:rPr lang="en-US" dirty="0"/>
              <a:t>    else:</a:t>
            </a:r>
          </a:p>
          <a:p>
            <a:pPr lvl="1"/>
            <a:r>
              <a:rPr lang="en-US" dirty="0"/>
              <a:t>        print("Eligible to Vote")</a:t>
            </a:r>
          </a:p>
          <a:p>
            <a:pPr lvl="1"/>
            <a:r>
              <a:rPr lang="en-US" dirty="0"/>
              <a:t>        except InvalidAgeException:</a:t>
            </a:r>
          </a:p>
          <a:p>
            <a:pPr lvl="1"/>
            <a:r>
              <a:rPr lang="en-US" dirty="0"/>
              <a:t>    print("Exception occurred: Invalid Age")</a:t>
            </a:r>
          </a:p>
        </p:txBody>
      </p:sp>
    </p:spTree>
    <p:extLst>
      <p:ext uri="{BB962C8B-B14F-4D97-AF65-F5344CB8AC3E}">
        <p14:creationId xmlns:p14="http://schemas.microsoft.com/office/powerpoint/2010/main" val="17285228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6AAD7-1A97-BBCA-9EF1-6324118FC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5763"/>
            <a:ext cx="10515600" cy="591502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Output</a:t>
            </a:r>
          </a:p>
          <a:p>
            <a:pPr lvl="1"/>
            <a:r>
              <a:rPr lang="en-US" dirty="0"/>
              <a:t>If the user input input_num is greater than 18,</a:t>
            </a:r>
          </a:p>
          <a:p>
            <a:pPr lvl="1"/>
            <a:r>
              <a:rPr lang="en-US" dirty="0"/>
              <a:t>Enter a number: 45</a:t>
            </a:r>
          </a:p>
          <a:p>
            <a:pPr lvl="1"/>
            <a:r>
              <a:rPr lang="en-US" dirty="0"/>
              <a:t>Eligible to Vote</a:t>
            </a:r>
          </a:p>
          <a:p>
            <a:pPr lvl="1"/>
            <a:r>
              <a:rPr lang="en-US" dirty="0"/>
              <a:t>If the user input input_num is smaller than 18,</a:t>
            </a:r>
          </a:p>
          <a:p>
            <a:pPr lvl="1"/>
            <a:r>
              <a:rPr lang="en-US" dirty="0"/>
              <a:t>Enter a number: 14</a:t>
            </a:r>
          </a:p>
          <a:p>
            <a:pPr lvl="1"/>
            <a:r>
              <a:rPr lang="en-US" dirty="0"/>
              <a:t>Exception occurred: Invalid Age</a:t>
            </a:r>
          </a:p>
          <a:p>
            <a:r>
              <a:rPr lang="en-US" dirty="0"/>
              <a:t>In the above example, we have defined the custom exception InvalidAgeException by creating a new class that is derived from the built-in Exception class.</a:t>
            </a:r>
          </a:p>
          <a:p>
            <a:r>
              <a:rPr lang="en-US" dirty="0"/>
              <a:t>Here, when input_num is smaller than 18, this code generates an exception.</a:t>
            </a:r>
          </a:p>
          <a:p>
            <a:r>
              <a:rPr lang="en-US" dirty="0"/>
              <a:t>When an exception occurs, the rest of the code inside the try block is skipped.</a:t>
            </a:r>
          </a:p>
          <a:p>
            <a:r>
              <a:rPr lang="en-US" dirty="0"/>
              <a:t>The except block catches the user-defined InvalidAgeException exception and statements inside the except block are executed.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11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297B0-D31A-49DD-F693-F86EBFA14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537"/>
            <a:ext cx="10515600" cy="635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Customizing Exception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C814E-F536-3945-9050-42306CC7B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8537"/>
            <a:ext cx="10515600" cy="571658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We can further customize this class to accept other arguments as per our needs.</a:t>
            </a:r>
          </a:p>
          <a:p>
            <a:r>
              <a:rPr lang="en-US" dirty="0"/>
              <a:t>To learn about customizing the Exception classes, you need to have the basic knowledge of Object-Oriented programming.</a:t>
            </a:r>
          </a:p>
          <a:p>
            <a:r>
              <a:rPr lang="en-US" dirty="0"/>
              <a:t>Visit Python Object Oriented Programming to learn about Object-Oriented programming in Python.</a:t>
            </a:r>
          </a:p>
          <a:p>
            <a:r>
              <a:rPr lang="en-US" dirty="0"/>
              <a:t>Let's see an example,</a:t>
            </a:r>
          </a:p>
          <a:p>
            <a:pPr lvl="1"/>
            <a:r>
              <a:rPr lang="en-US" dirty="0"/>
              <a:t>class SalaryNotInRangeError(Exception):</a:t>
            </a:r>
          </a:p>
          <a:p>
            <a:pPr lvl="1"/>
            <a:r>
              <a:rPr lang="en-US" dirty="0"/>
              <a:t>    """Exception raised for errors in the input salary.</a:t>
            </a:r>
          </a:p>
          <a:p>
            <a:pPr lvl="1"/>
            <a:r>
              <a:rPr lang="en-US" dirty="0"/>
              <a:t>    Attributes:</a:t>
            </a:r>
          </a:p>
          <a:p>
            <a:pPr lvl="1"/>
            <a:r>
              <a:rPr lang="en-US" dirty="0"/>
              <a:t>        salary -- input salary which caused the error</a:t>
            </a:r>
          </a:p>
          <a:p>
            <a:pPr lvl="1"/>
            <a:r>
              <a:rPr lang="en-US" dirty="0"/>
              <a:t>        message -- explanation of the error</a:t>
            </a:r>
          </a:p>
          <a:p>
            <a:pPr lvl="1"/>
            <a:r>
              <a:rPr lang="en-US" dirty="0"/>
              <a:t>    """</a:t>
            </a:r>
          </a:p>
          <a:p>
            <a:pPr lvl="1"/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salary, message="Salary is not in (5000, 15000) range"):</a:t>
            </a:r>
          </a:p>
          <a:p>
            <a:pPr lvl="1"/>
            <a:r>
              <a:rPr lang="en-US" dirty="0"/>
              <a:t>        </a:t>
            </a:r>
            <a:r>
              <a:rPr lang="en-US" dirty="0" err="1"/>
              <a:t>self.salary</a:t>
            </a:r>
            <a:r>
              <a:rPr lang="en-US" dirty="0"/>
              <a:t> = salary</a:t>
            </a:r>
          </a:p>
          <a:p>
            <a:pPr lvl="1"/>
            <a:r>
              <a:rPr lang="en-US" dirty="0"/>
              <a:t>        </a:t>
            </a:r>
            <a:r>
              <a:rPr lang="en-US" dirty="0" err="1"/>
              <a:t>self.message</a:t>
            </a:r>
            <a:r>
              <a:rPr lang="en-US" dirty="0"/>
              <a:t> = message</a:t>
            </a:r>
          </a:p>
          <a:p>
            <a:pPr lvl="1"/>
            <a:r>
              <a:rPr lang="en-US" dirty="0"/>
              <a:t>        super().__</a:t>
            </a:r>
            <a:r>
              <a:rPr lang="en-US" dirty="0" err="1"/>
              <a:t>init</a:t>
            </a:r>
            <a:r>
              <a:rPr lang="en-US" dirty="0"/>
              <a:t>__(</a:t>
            </a:r>
            <a:r>
              <a:rPr lang="en-US" dirty="0" err="1"/>
              <a:t>self.message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salary = int(input("Enter salary amount: "))</a:t>
            </a:r>
          </a:p>
          <a:p>
            <a:pPr lvl="1"/>
            <a:r>
              <a:rPr lang="en-US" dirty="0"/>
              <a:t>if not 5000 &lt; salary &lt; 15000:</a:t>
            </a:r>
          </a:p>
          <a:p>
            <a:pPr lvl="1"/>
            <a:r>
              <a:rPr lang="en-US" dirty="0"/>
              <a:t>    raise SalaryNotInRangeError(salary)</a:t>
            </a:r>
          </a:p>
        </p:txBody>
      </p:sp>
    </p:spTree>
    <p:extLst>
      <p:ext uri="{BB962C8B-B14F-4D97-AF65-F5344CB8AC3E}">
        <p14:creationId xmlns:p14="http://schemas.microsoft.com/office/powerpoint/2010/main" val="15493787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8B530-5A87-C253-91E7-4C6CAEE69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0075"/>
            <a:ext cx="10515600" cy="564356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Output</a:t>
            </a:r>
          </a:p>
          <a:p>
            <a:r>
              <a:rPr lang="en-US" dirty="0"/>
              <a:t>Enter salary amount: 2000</a:t>
            </a:r>
          </a:p>
          <a:p>
            <a:pPr lvl="1"/>
            <a:r>
              <a:rPr lang="en-US" dirty="0"/>
              <a:t>Traceback (most recent call last):</a:t>
            </a:r>
          </a:p>
          <a:p>
            <a:pPr lvl="1"/>
            <a:r>
              <a:rPr lang="en-US" dirty="0"/>
              <a:t>  File "&lt;string&gt;", line 17, in &lt;module&gt;</a:t>
            </a:r>
          </a:p>
          <a:p>
            <a:pPr lvl="1"/>
            <a:r>
              <a:rPr lang="en-US" dirty="0"/>
              <a:t>    raise SalaryNotInRangeError(salary)</a:t>
            </a:r>
          </a:p>
          <a:p>
            <a:pPr lvl="1"/>
            <a:r>
              <a:rPr lang="en-US" dirty="0"/>
              <a:t>__main__.SalaryNotInRangeError: Salary is not in (5000, 15000) range</a:t>
            </a:r>
          </a:p>
          <a:p>
            <a:r>
              <a:rPr lang="en-US" dirty="0"/>
              <a:t>Here, we have overridden the constructor of the Exception class to accept our own custom arguments salary and message.</a:t>
            </a:r>
          </a:p>
          <a:p>
            <a:r>
              <a:rPr lang="en-US" dirty="0"/>
              <a:t>Then, the constructor of the parent Exception class is called manually with the self.message argument using super().</a:t>
            </a:r>
          </a:p>
          <a:p>
            <a:r>
              <a:rPr lang="en-US" dirty="0"/>
              <a:t>The custom </a:t>
            </a:r>
            <a:r>
              <a:rPr lang="en-US" dirty="0" err="1"/>
              <a:t>self.salary</a:t>
            </a:r>
            <a:r>
              <a:rPr lang="en-US" dirty="0"/>
              <a:t> attribute is defined to be used later.</a:t>
            </a:r>
          </a:p>
          <a:p>
            <a:r>
              <a:rPr lang="en-US" dirty="0"/>
              <a:t>The inherited __str__ method of the Exception class is then used to display the corresponding message when SalaryNotInRangeError is raised.</a:t>
            </a:r>
          </a:p>
        </p:txBody>
      </p:sp>
    </p:spTree>
    <p:extLst>
      <p:ext uri="{BB962C8B-B14F-4D97-AF65-F5344CB8AC3E}">
        <p14:creationId xmlns:p14="http://schemas.microsoft.com/office/powerpoint/2010/main" val="1554936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4128</Words>
  <Application>Microsoft Office PowerPoint</Application>
  <PresentationFormat>Widescreen</PresentationFormat>
  <Paragraphs>442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Wingdings</vt:lpstr>
      <vt:lpstr>Office Theme</vt:lpstr>
      <vt:lpstr>Files and Directory</vt:lpstr>
      <vt:lpstr>File Handling</vt:lpstr>
      <vt:lpstr>Syntax</vt:lpstr>
      <vt:lpstr>Open a File on the Server</vt:lpstr>
      <vt:lpstr>PowerPoint Presentation</vt:lpstr>
      <vt:lpstr>PowerPoint Presentation</vt:lpstr>
      <vt:lpstr>PowerPoint Presentation</vt:lpstr>
      <vt:lpstr>Python File Write</vt:lpstr>
      <vt:lpstr>PowerPoint Presentation</vt:lpstr>
      <vt:lpstr>Create a New File</vt:lpstr>
      <vt:lpstr>Python Delete File</vt:lpstr>
      <vt:lpstr>PowerPoint Presentation</vt:lpstr>
      <vt:lpstr>Python Directory and Files Management</vt:lpstr>
      <vt:lpstr>Get Current Directory in Python</vt:lpstr>
      <vt:lpstr>Changing Directory in Python</vt:lpstr>
      <vt:lpstr>List Directories and Files in Python</vt:lpstr>
      <vt:lpstr>Making a New Directory in Python</vt:lpstr>
      <vt:lpstr>Renaming a Directory or a File</vt:lpstr>
      <vt:lpstr>Removing Directory or File in Python</vt:lpstr>
      <vt:lpstr>PowerPoint Presentation</vt:lpstr>
      <vt:lpstr>Python Exceptions</vt:lpstr>
      <vt:lpstr>Python Logical Errors (Exceptions)</vt:lpstr>
      <vt:lpstr>PowerPoint Presentation</vt:lpstr>
      <vt:lpstr>Python Built-in Exceptions</vt:lpstr>
      <vt:lpstr>PowerPoint Presentation</vt:lpstr>
      <vt:lpstr>PowerPoint Presentation</vt:lpstr>
      <vt:lpstr>Python Error and Exception</vt:lpstr>
      <vt:lpstr>Python Exception Handling</vt:lpstr>
      <vt:lpstr>PowerPoint Presentation</vt:lpstr>
      <vt:lpstr>PowerPoint Presentation</vt:lpstr>
      <vt:lpstr>Catching Specific Exceptions in Python</vt:lpstr>
      <vt:lpstr>PowerPoint Presentation</vt:lpstr>
      <vt:lpstr>Python try with else clause</vt:lpstr>
      <vt:lpstr>PowerPoint Presentation</vt:lpstr>
      <vt:lpstr>Python try...finally</vt:lpstr>
      <vt:lpstr>Python Custom Exceptions</vt:lpstr>
      <vt:lpstr>PowerPoint Presentation</vt:lpstr>
      <vt:lpstr>PowerPoint Presentation</vt:lpstr>
      <vt:lpstr>Customizing Exception Classes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Files </dc:title>
  <dc:creator>Godfrey Ouma</dc:creator>
  <cp:lastModifiedBy>Godfrey Ouma</cp:lastModifiedBy>
  <cp:revision>35</cp:revision>
  <dcterms:created xsi:type="dcterms:W3CDTF">2023-08-07T12:23:24Z</dcterms:created>
  <dcterms:modified xsi:type="dcterms:W3CDTF">2023-08-19T09:01:05Z</dcterms:modified>
</cp:coreProperties>
</file>