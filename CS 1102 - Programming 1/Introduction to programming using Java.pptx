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63"/>
  </p:notes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861" autoAdjust="0"/>
  </p:normalViewPr>
  <p:slideViewPr>
    <p:cSldViewPr snapToGrid="0">
      <p:cViewPr varScale="1">
        <p:scale>
          <a:sx n="63" d="100"/>
          <a:sy n="63" d="100"/>
        </p:scale>
        <p:origin x="10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5F6B5F-DFD7-40DE-8C18-B62EDC18471F}" type="datetimeFigureOut">
              <a:rPr lang="en-US" smtClean="0"/>
              <a:t>11/20/2023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DE9281-9A58-4623-BAB9-AA9AF36D73F8}" type="slidenum">
              <a:rPr lang="en-US" smtClean="0"/>
              <a:t>‹#›</a:t>
            </a:fld>
            <a:endParaRPr lang="en-US"/>
          </a:p>
        </p:txBody>
      </p:sp>
    </p:spTree>
    <p:extLst>
      <p:ext uri="{BB962C8B-B14F-4D97-AF65-F5344CB8AC3E}">
        <p14:creationId xmlns:p14="http://schemas.microsoft.com/office/powerpoint/2010/main" val="150430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https://www.javatpoint.com/java-reserved-keywords</a:t>
            </a:r>
          </a:p>
        </p:txBody>
      </p:sp>
      <p:sp>
        <p:nvSpPr>
          <p:cNvPr id="4" name="Slide Number Placeholder 3"/>
          <p:cNvSpPr>
            <a:spLocks noGrp="1"/>
          </p:cNvSpPr>
          <p:nvPr>
            <p:ph type="sldNum" sz="quarter" idx="5"/>
          </p:nvPr>
        </p:nvSpPr>
        <p:spPr/>
        <p:txBody>
          <a:bodyPr/>
          <a:lstStyle/>
          <a:p>
            <a:fld id="{78DE9281-9A58-4623-BAB9-AA9AF36D73F8}" type="slidenum">
              <a:rPr lang="en-US" smtClean="0"/>
              <a:t>3</a:t>
            </a:fld>
            <a:endParaRPr lang="en-US"/>
          </a:p>
        </p:txBody>
      </p:sp>
    </p:spTree>
    <p:extLst>
      <p:ext uri="{BB962C8B-B14F-4D97-AF65-F5344CB8AC3E}">
        <p14:creationId xmlns:p14="http://schemas.microsoft.com/office/powerpoint/2010/main" val="484356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11/20/2023</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11/20/2023</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11/20/2023</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11/20/2023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11/20/2023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11/20/2023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11/20/2023</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11/20/2023</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11/20/2023</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11/20/2023</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java-reserved-keyword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The Basic Java Application</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
        <p:nvSpPr>
          <p:cNvPr id="5" name="Subtitle 4">
            <a:extLst>
              <a:ext uri="{FF2B5EF4-FFF2-40B4-BE49-F238E27FC236}">
                <a16:creationId xmlns:a16="http://schemas.microsoft.com/office/drawing/2014/main" id="{1E619FE0-9A8F-414C-73D5-9ABDE9C87417}"/>
              </a:ext>
            </a:extLst>
          </p:cNvPr>
          <p:cNvSpPr>
            <a:spLocks noGrp="1"/>
          </p:cNvSpPr>
          <p:nvPr>
            <p:ph type="subTitle" idx="1"/>
          </p:nvPr>
        </p:nvSpPr>
        <p:spPr/>
        <p:txBody>
          <a:bodyPr/>
          <a:lstStyle/>
          <a:p>
            <a:r>
              <a:rPr lang="en-US" b="1" dirty="0"/>
              <a:t>Chapter 2</a:t>
            </a: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9EBEE-A8BB-3C4E-F252-9BB63C378D4F}"/>
              </a:ext>
            </a:extLst>
          </p:cNvPr>
          <p:cNvSpPr>
            <a:spLocks noGrp="1"/>
          </p:cNvSpPr>
          <p:nvPr>
            <p:ph type="title"/>
          </p:nvPr>
        </p:nvSpPr>
        <p:spPr>
          <a:xfrm>
            <a:off x="581192" y="702156"/>
            <a:ext cx="11029616" cy="540857"/>
          </a:xfrm>
        </p:spPr>
        <p:txBody>
          <a:bodyPr/>
          <a:lstStyle/>
          <a:p>
            <a:r>
              <a:rPr lang="en-US" dirty="0"/>
              <a:t>The Basic Java Application</a:t>
            </a:r>
          </a:p>
        </p:txBody>
      </p:sp>
      <p:sp>
        <p:nvSpPr>
          <p:cNvPr id="3" name="Content Placeholder 2">
            <a:extLst>
              <a:ext uri="{FF2B5EF4-FFF2-40B4-BE49-F238E27FC236}">
                <a16:creationId xmlns:a16="http://schemas.microsoft.com/office/drawing/2014/main" id="{A18643C4-39C7-784B-2614-9ADBD4FD3422}"/>
              </a:ext>
            </a:extLst>
          </p:cNvPr>
          <p:cNvSpPr>
            <a:spLocks noGrp="1"/>
          </p:cNvSpPr>
          <p:nvPr>
            <p:ph idx="1"/>
          </p:nvPr>
        </p:nvSpPr>
        <p:spPr>
          <a:xfrm>
            <a:off x="581192" y="1243013"/>
            <a:ext cx="11029615" cy="5200650"/>
          </a:xfrm>
        </p:spPr>
        <p:txBody>
          <a:bodyPr>
            <a:normAutofit lnSpcReduction="10000"/>
          </a:bodyPr>
          <a:lstStyle/>
          <a:p>
            <a:r>
              <a:rPr lang="en-US" sz="2000" dirty="0"/>
              <a:t>A </a:t>
            </a:r>
            <a:r>
              <a:rPr lang="en-US" sz="2000" b="1" dirty="0"/>
              <a:t>program </a:t>
            </a:r>
            <a:r>
              <a:rPr lang="en-US" sz="2000" dirty="0"/>
              <a:t>is a sequence of instructions that a computer can execute to perform some task. </a:t>
            </a:r>
          </a:p>
          <a:p>
            <a:r>
              <a:rPr lang="en-US" sz="2000" dirty="0"/>
              <a:t>Programs have to be written in </a:t>
            </a:r>
            <a:r>
              <a:rPr lang="en-US" sz="2000" b="1" dirty="0"/>
              <a:t>programming languages</a:t>
            </a:r>
            <a:r>
              <a:rPr lang="en-US" sz="2000" dirty="0"/>
              <a:t>, which differ from ordinary human languages in being completely unambiguous and very strict about what is and is not allowed in a program. </a:t>
            </a:r>
          </a:p>
          <a:p>
            <a:r>
              <a:rPr lang="en-US" sz="2000" dirty="0"/>
              <a:t>The rules that determine what is allowed are called the </a:t>
            </a:r>
            <a:r>
              <a:rPr lang="en-US" sz="2000" b="1" dirty="0"/>
              <a:t>syntax</a:t>
            </a:r>
            <a:r>
              <a:rPr lang="en-US" sz="2000" dirty="0"/>
              <a:t> of the language. Syntax rules specify the basic vocabulary of the language and how programs can be constructed using things like loops, branches, and subroutines. A syntactically correct program is one that can be successfully compiled or interpreted; programs that have syntax errors will be rejected (hopefully with a useful error message that will help you fix the problem).</a:t>
            </a:r>
          </a:p>
          <a:p>
            <a:r>
              <a:rPr lang="en-US" sz="2000" dirty="0"/>
              <a:t>The meaning of a program is referred to as its </a:t>
            </a:r>
            <a:r>
              <a:rPr lang="en-US" sz="2000" b="1" dirty="0"/>
              <a:t>semantics</a:t>
            </a:r>
            <a:r>
              <a:rPr lang="en-US" sz="2000" dirty="0"/>
              <a:t>. More correctly, the semantics of a programming language is the set of rules that determine the meaning of a program written in that language. A semantically correct program is one that does what you want it to.</a:t>
            </a:r>
          </a:p>
          <a:p>
            <a:r>
              <a:rPr lang="en-US" sz="2000" b="1" dirty="0"/>
              <a:t>Pragmatic</a:t>
            </a:r>
            <a:r>
              <a:rPr lang="en-US" sz="2000" dirty="0"/>
              <a:t> refers to aspect of writing a program in a way that will make it easy for people to read and to understand. It follows conventions that will be familiar to other programmers. </a:t>
            </a:r>
          </a:p>
        </p:txBody>
      </p:sp>
    </p:spTree>
    <p:extLst>
      <p:ext uri="{BB962C8B-B14F-4D97-AF65-F5344CB8AC3E}">
        <p14:creationId xmlns:p14="http://schemas.microsoft.com/office/powerpoint/2010/main" val="3590790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F466-8C25-AA69-828D-728F4FF3D7B5}"/>
              </a:ext>
            </a:extLst>
          </p:cNvPr>
          <p:cNvSpPr>
            <a:spLocks noGrp="1"/>
          </p:cNvSpPr>
          <p:nvPr>
            <p:ph type="title"/>
          </p:nvPr>
        </p:nvSpPr>
        <p:spPr>
          <a:xfrm>
            <a:off x="581192" y="702156"/>
            <a:ext cx="11029616" cy="640869"/>
          </a:xfrm>
        </p:spPr>
        <p:txBody>
          <a:bodyPr>
            <a:normAutofit/>
          </a:bodyPr>
          <a:lstStyle/>
          <a:p>
            <a:r>
              <a:rPr lang="en-US" dirty="0"/>
              <a:t>Variables and the Primitive Types</a:t>
            </a:r>
          </a:p>
        </p:txBody>
      </p:sp>
      <p:sp>
        <p:nvSpPr>
          <p:cNvPr id="3" name="Content Placeholder 2">
            <a:extLst>
              <a:ext uri="{FF2B5EF4-FFF2-40B4-BE49-F238E27FC236}">
                <a16:creationId xmlns:a16="http://schemas.microsoft.com/office/drawing/2014/main" id="{42EC7589-FA63-562B-988F-2B808FE676B4}"/>
              </a:ext>
            </a:extLst>
          </p:cNvPr>
          <p:cNvSpPr>
            <a:spLocks noGrp="1"/>
          </p:cNvSpPr>
          <p:nvPr>
            <p:ph idx="1"/>
          </p:nvPr>
        </p:nvSpPr>
        <p:spPr>
          <a:xfrm>
            <a:off x="581192" y="1375410"/>
            <a:ext cx="11029615" cy="5186363"/>
          </a:xfrm>
        </p:spPr>
        <p:txBody>
          <a:bodyPr>
            <a:normAutofit fontScale="77500" lnSpcReduction="20000"/>
          </a:bodyPr>
          <a:lstStyle/>
          <a:p>
            <a:r>
              <a:rPr lang="en-US" sz="3100" dirty="0"/>
              <a:t>Identifiers can be used to name classes, variables, and subroutines. An identifier is a sequence of one or more characters that must begin with a letter or underscore and must consist entirely of letters, digits, and underscores. ("Underscore" refers to the character '_'.) For example, here are some legal identifiers: </a:t>
            </a:r>
            <a:r>
              <a:rPr lang="en-US" sz="3100" b="1" i="1" dirty="0"/>
              <a:t>N, n, rate, x15, quite_a_long_name</a:t>
            </a:r>
            <a:r>
              <a:rPr lang="en-US" sz="3100" dirty="0"/>
              <a:t>, and </a:t>
            </a:r>
            <a:r>
              <a:rPr lang="en-US" sz="3100" b="1" i="1" dirty="0"/>
              <a:t>HelloWorld</a:t>
            </a:r>
            <a:r>
              <a:rPr lang="en-US" sz="3100" dirty="0"/>
              <a:t>.</a:t>
            </a:r>
          </a:p>
          <a:p>
            <a:r>
              <a:rPr lang="en-US" sz="3100" dirty="0"/>
              <a:t>Note:</a:t>
            </a:r>
          </a:p>
          <a:p>
            <a:pPr marL="666900" lvl="1" indent="-342900">
              <a:buFont typeface="+mj-lt"/>
              <a:buAutoNum type="arabicPeriod"/>
            </a:pPr>
            <a:r>
              <a:rPr lang="en-US" sz="3100" dirty="0"/>
              <a:t>No spaces are allowed in identifiers; HelloWorld is a legal identifier, but "Hello World" is not. </a:t>
            </a:r>
          </a:p>
          <a:p>
            <a:pPr marL="666900" lvl="1" indent="-342900">
              <a:buFont typeface="+mj-lt"/>
              <a:buAutoNum type="arabicPeriod"/>
            </a:pPr>
            <a:r>
              <a:rPr lang="en-US" sz="3100" dirty="0"/>
              <a:t>Upper case and lower case letters are considered to be different, so that HelloWorld, helloworld, HELLOWORLD, and hElloWorLD are all distinct names. </a:t>
            </a:r>
          </a:p>
          <a:p>
            <a:pPr marL="666900" lvl="1" indent="-342900">
              <a:buFont typeface="+mj-lt"/>
              <a:buAutoNum type="arabicPeriod"/>
            </a:pPr>
            <a:r>
              <a:rPr lang="en-US" sz="3100" dirty="0"/>
              <a:t>Certain words are </a:t>
            </a:r>
            <a:r>
              <a:rPr lang="en-US" sz="3100" dirty="0">
                <a:hlinkClick r:id="rId3"/>
              </a:rPr>
              <a:t>reserved</a:t>
            </a:r>
            <a:r>
              <a:rPr lang="en-US" sz="3100" dirty="0"/>
              <a:t> for special uses in Java, and cannot be used as identifiers. These reserved words include: </a:t>
            </a:r>
            <a:r>
              <a:rPr lang="en-US" sz="3100" b="1" i="1" dirty="0"/>
              <a:t>class, public, static, if, else, while</a:t>
            </a:r>
            <a:r>
              <a:rPr lang="en-US" sz="3100" dirty="0"/>
              <a:t>, and several dozen other words. (Remember that reserved words are not identifiers, since they can't be used as names for things.)</a:t>
            </a:r>
          </a:p>
          <a:p>
            <a:endParaRPr lang="en-US" dirty="0"/>
          </a:p>
        </p:txBody>
      </p:sp>
    </p:spTree>
    <p:extLst>
      <p:ext uri="{BB962C8B-B14F-4D97-AF65-F5344CB8AC3E}">
        <p14:creationId xmlns:p14="http://schemas.microsoft.com/office/powerpoint/2010/main" val="3904398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81D217-748E-01B7-A2E1-6D59E5648E8C}"/>
              </a:ext>
            </a:extLst>
          </p:cNvPr>
          <p:cNvSpPr>
            <a:spLocks noGrp="1"/>
          </p:cNvSpPr>
          <p:nvPr>
            <p:ph idx="1"/>
          </p:nvPr>
        </p:nvSpPr>
        <p:spPr>
          <a:xfrm>
            <a:off x="581192" y="944880"/>
            <a:ext cx="11029615" cy="5608320"/>
          </a:xfrm>
        </p:spPr>
        <p:txBody>
          <a:bodyPr>
            <a:normAutofit lnSpcReduction="10000"/>
          </a:bodyPr>
          <a:lstStyle/>
          <a:p>
            <a:r>
              <a:rPr lang="en-US" sz="2000" dirty="0"/>
              <a:t>Java uses the</a:t>
            </a:r>
            <a:r>
              <a:rPr lang="en-US" sz="2000" b="1" i="1" dirty="0"/>
              <a:t> Unicode </a:t>
            </a:r>
            <a:r>
              <a:rPr lang="en-US" sz="2000" dirty="0"/>
              <a:t>character set, which includes thousands of characters from many different languages and different alphabets, and many of these characters count as letters or digits. </a:t>
            </a:r>
          </a:p>
          <a:p>
            <a:r>
              <a:rPr lang="en-US" sz="2000" dirty="0"/>
              <a:t>The pragmatics of naming includes style guidelines about how to choose names for things. For example, it is customary for </a:t>
            </a:r>
            <a:r>
              <a:rPr lang="en-US" sz="2000" b="1" i="1" dirty="0"/>
              <a:t>names of classes to begin with upper case letters</a:t>
            </a:r>
            <a:r>
              <a:rPr lang="en-US" sz="2000" dirty="0"/>
              <a:t>, while </a:t>
            </a:r>
            <a:r>
              <a:rPr lang="en-US" sz="2000" b="1" i="1" dirty="0"/>
              <a:t>names of variables and of subroutines begin with lower case letters</a:t>
            </a:r>
            <a:r>
              <a:rPr lang="en-US" sz="2000" dirty="0"/>
              <a:t>; you can avoid a lot of confusion by following this standard convention in your own programs. </a:t>
            </a:r>
          </a:p>
          <a:p>
            <a:r>
              <a:rPr lang="en-US" sz="2000" dirty="0"/>
              <a:t>Most Java programmers </a:t>
            </a:r>
            <a:r>
              <a:rPr lang="en-US" sz="2000" b="1" i="1" dirty="0"/>
              <a:t>do not use underscores in names</a:t>
            </a:r>
            <a:r>
              <a:rPr lang="en-US" sz="2000" dirty="0"/>
              <a:t>, although some do use them at the beginning of the names of certain kinds of variables. When a </a:t>
            </a:r>
            <a:r>
              <a:rPr lang="en-US" sz="2000" b="1" i="1" dirty="0"/>
              <a:t>name is made up of several words, such as HelloWorld or interestRate, it is customary to capitalize each word</a:t>
            </a:r>
            <a:r>
              <a:rPr lang="en-US" sz="2000" dirty="0"/>
              <a:t>, except possibly the first; this is sometimes referred to as </a:t>
            </a:r>
            <a:r>
              <a:rPr lang="en-US" sz="2000" b="1" i="1" dirty="0"/>
              <a:t>camel case</a:t>
            </a:r>
            <a:r>
              <a:rPr lang="en-US" sz="2000" dirty="0"/>
              <a:t>, since the upper case letters in the middle of a name are supposed to look something like the humps on a camel's back.</a:t>
            </a:r>
          </a:p>
          <a:p>
            <a:r>
              <a:rPr lang="en-US" sz="2000" dirty="0"/>
              <a:t>Compound names (also called qualified names) consist of several simple names separated by periods. The idea here is that things in Java can contain other things. A compound name is a kind of path to an item through one or more levels of containment. The name </a:t>
            </a:r>
            <a:r>
              <a:rPr lang="en-US" sz="2000" b="1" i="1" dirty="0"/>
              <a:t>System.out.println </a:t>
            </a:r>
            <a:r>
              <a:rPr lang="en-US" sz="2000" dirty="0"/>
              <a:t>indicates that something called </a:t>
            </a:r>
            <a:r>
              <a:rPr lang="en-US" sz="2000" b="1" i="1" dirty="0"/>
              <a:t>"System" </a:t>
            </a:r>
            <a:r>
              <a:rPr lang="en-US" sz="2000" dirty="0"/>
              <a:t>contains something called </a:t>
            </a:r>
            <a:r>
              <a:rPr lang="en-US" sz="2000" b="1" i="1" dirty="0"/>
              <a:t>"out" </a:t>
            </a:r>
            <a:r>
              <a:rPr lang="en-US" sz="2000" dirty="0"/>
              <a:t>which in turn contains something called </a:t>
            </a:r>
            <a:r>
              <a:rPr lang="en-US" sz="2000" b="1" i="1" dirty="0"/>
              <a:t>"println"</a:t>
            </a:r>
            <a:r>
              <a:rPr lang="en-US" sz="2000" dirty="0"/>
              <a:t>.</a:t>
            </a:r>
          </a:p>
          <a:p>
            <a:endParaRPr lang="en-US" dirty="0"/>
          </a:p>
        </p:txBody>
      </p:sp>
    </p:spTree>
    <p:extLst>
      <p:ext uri="{BB962C8B-B14F-4D97-AF65-F5344CB8AC3E}">
        <p14:creationId xmlns:p14="http://schemas.microsoft.com/office/powerpoint/2010/main" val="1906655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06867-0DF4-000B-9898-38194CE76CDA}"/>
              </a:ext>
            </a:extLst>
          </p:cNvPr>
          <p:cNvSpPr>
            <a:spLocks noGrp="1"/>
          </p:cNvSpPr>
          <p:nvPr>
            <p:ph type="title"/>
          </p:nvPr>
        </p:nvSpPr>
        <p:spPr>
          <a:xfrm>
            <a:off x="581192" y="702156"/>
            <a:ext cx="11029616" cy="684684"/>
          </a:xfrm>
        </p:spPr>
        <p:txBody>
          <a:bodyPr/>
          <a:lstStyle/>
          <a:p>
            <a:r>
              <a:rPr lang="en-US" dirty="0"/>
              <a:t>Variables</a:t>
            </a:r>
          </a:p>
        </p:txBody>
      </p:sp>
      <p:sp>
        <p:nvSpPr>
          <p:cNvPr id="3" name="Content Placeholder 2">
            <a:extLst>
              <a:ext uri="{FF2B5EF4-FFF2-40B4-BE49-F238E27FC236}">
                <a16:creationId xmlns:a16="http://schemas.microsoft.com/office/drawing/2014/main" id="{A4904852-4475-F299-648E-43402ACD81E5}"/>
              </a:ext>
            </a:extLst>
          </p:cNvPr>
          <p:cNvSpPr>
            <a:spLocks noGrp="1"/>
          </p:cNvSpPr>
          <p:nvPr>
            <p:ph idx="1"/>
          </p:nvPr>
        </p:nvSpPr>
        <p:spPr>
          <a:xfrm>
            <a:off x="581192" y="1386840"/>
            <a:ext cx="11029615" cy="5059680"/>
          </a:xfrm>
        </p:spPr>
        <p:txBody>
          <a:bodyPr>
            <a:normAutofit/>
          </a:bodyPr>
          <a:lstStyle/>
          <a:p>
            <a:r>
              <a:rPr lang="en-US" sz="2000" dirty="0"/>
              <a:t>A </a:t>
            </a:r>
            <a:r>
              <a:rPr lang="en-US" sz="2000" b="1" i="1" dirty="0"/>
              <a:t>variable</a:t>
            </a:r>
            <a:r>
              <a:rPr lang="en-US" sz="2000" dirty="0"/>
              <a:t> is a symbolic name or identifier used to represent or refer to a piece of data stored in computer memory.</a:t>
            </a:r>
          </a:p>
          <a:p>
            <a:r>
              <a:rPr lang="en-US" sz="2000" dirty="0"/>
              <a:t>In high-level programming languages like Java, variables are </a:t>
            </a:r>
            <a:r>
              <a:rPr lang="en-US" sz="2000" b="1" i="1" dirty="0"/>
              <a:t>used to store and manipulate data</a:t>
            </a:r>
            <a:r>
              <a:rPr lang="en-US" sz="2000" dirty="0"/>
              <a:t>. Instead of using numerical addresses (as in machine language), programmers use names or identifiers to reference specific data.</a:t>
            </a:r>
          </a:p>
          <a:p>
            <a:r>
              <a:rPr lang="en-US" sz="2000" dirty="0"/>
              <a:t>Programmers </a:t>
            </a:r>
            <a:r>
              <a:rPr lang="en-US" sz="2000" b="1" i="1" dirty="0"/>
              <a:t>assign values to variables</a:t>
            </a:r>
            <a:r>
              <a:rPr lang="en-US" sz="2000" dirty="0"/>
              <a:t>, and it's the responsibility of the computer to keep track of where in memory these values are stored. Programmers work with variables by using their names, simplifying the coding process.</a:t>
            </a:r>
          </a:p>
          <a:p>
            <a:r>
              <a:rPr lang="en-US" sz="2000" dirty="0"/>
              <a:t>Variables </a:t>
            </a:r>
            <a:r>
              <a:rPr lang="en-US" sz="2000" b="1" i="1" dirty="0"/>
              <a:t>serve as placeholders for data stored in memory locations</a:t>
            </a:r>
            <a:r>
              <a:rPr lang="en-US" sz="2000" dirty="0"/>
              <a:t>. They allow programmers to work with data using easily identifiable names rather than memory addresses or raw numbers.</a:t>
            </a:r>
          </a:p>
          <a:p>
            <a:r>
              <a:rPr lang="en-US" sz="2000" dirty="0"/>
              <a:t>Note that </a:t>
            </a:r>
            <a:r>
              <a:rPr lang="en-US" sz="2000" b="1" i="1" dirty="0"/>
              <a:t>a variable is not a name for the data itself but for a location in memory that can hold data</a:t>
            </a:r>
            <a:r>
              <a:rPr lang="en-US" sz="2000" dirty="0"/>
              <a:t>. You should think of a variable as a container or box where you can store data that you will need to use later. </a:t>
            </a:r>
          </a:p>
        </p:txBody>
      </p:sp>
    </p:spTree>
    <p:extLst>
      <p:ext uri="{BB962C8B-B14F-4D97-AF65-F5344CB8AC3E}">
        <p14:creationId xmlns:p14="http://schemas.microsoft.com/office/powerpoint/2010/main" val="3229985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DC5BA-F677-69D0-118B-7ED5582421B4}"/>
              </a:ext>
            </a:extLst>
          </p:cNvPr>
          <p:cNvSpPr>
            <a:spLocks noGrp="1"/>
          </p:cNvSpPr>
          <p:nvPr>
            <p:ph type="title"/>
          </p:nvPr>
        </p:nvSpPr>
        <p:spPr>
          <a:xfrm>
            <a:off x="581192" y="702156"/>
            <a:ext cx="11029616" cy="669444"/>
          </a:xfrm>
        </p:spPr>
        <p:txBody>
          <a:bodyPr/>
          <a:lstStyle/>
          <a:p>
            <a:r>
              <a:rPr lang="en-US" dirty="0"/>
              <a:t>Types</a:t>
            </a:r>
          </a:p>
        </p:txBody>
      </p:sp>
      <p:sp>
        <p:nvSpPr>
          <p:cNvPr id="3" name="Content Placeholder 2">
            <a:extLst>
              <a:ext uri="{FF2B5EF4-FFF2-40B4-BE49-F238E27FC236}">
                <a16:creationId xmlns:a16="http://schemas.microsoft.com/office/drawing/2014/main" id="{F7159D37-00BF-5D0B-4B44-C3D96D9C4FCC}"/>
              </a:ext>
            </a:extLst>
          </p:cNvPr>
          <p:cNvSpPr>
            <a:spLocks noGrp="1"/>
          </p:cNvSpPr>
          <p:nvPr>
            <p:ph idx="1"/>
          </p:nvPr>
        </p:nvSpPr>
        <p:spPr>
          <a:xfrm>
            <a:off x="581192" y="1371600"/>
            <a:ext cx="11029615" cy="5273040"/>
          </a:xfrm>
        </p:spPr>
        <p:txBody>
          <a:bodyPr>
            <a:normAutofit fontScale="92500"/>
          </a:bodyPr>
          <a:lstStyle/>
          <a:p>
            <a:r>
              <a:rPr lang="en-US" sz="2400" dirty="0"/>
              <a:t>A variable in Java is designed to hold only one particular type of data; it can legally hold that type of data and no other. The compiler will consider it to be a syntax error if you try to violate this rule by assigning a value of the wrong type to a variable. We say that Java is a strongly typed language because it enforces this rule.</a:t>
            </a:r>
          </a:p>
          <a:p>
            <a:r>
              <a:rPr lang="en-US" sz="2400" dirty="0"/>
              <a:t>There are eight so-called primitive types built into Java. The primitive types are named </a:t>
            </a:r>
            <a:r>
              <a:rPr lang="en-US" sz="2400" b="1" i="1" dirty="0"/>
              <a:t>byte, short, int, long, float, double, char, </a:t>
            </a:r>
            <a:r>
              <a:rPr lang="en-US" sz="2400" dirty="0"/>
              <a:t>and </a:t>
            </a:r>
            <a:r>
              <a:rPr lang="en-US" sz="2400" b="1" i="1" dirty="0"/>
              <a:t>boolean</a:t>
            </a:r>
            <a:r>
              <a:rPr lang="en-US" sz="2400" dirty="0"/>
              <a:t>. </a:t>
            </a:r>
          </a:p>
          <a:p>
            <a:r>
              <a:rPr lang="en-US" sz="2400" dirty="0"/>
              <a:t>The first four types hold integers (whole numbers such as 17, -38477, and 0). The four integer types are distinguished by the ranges of integers they can hold. The </a:t>
            </a:r>
            <a:r>
              <a:rPr lang="en-US" sz="2400" b="1" i="1" dirty="0"/>
              <a:t>float</a:t>
            </a:r>
            <a:r>
              <a:rPr lang="en-US" sz="2400" dirty="0"/>
              <a:t> and </a:t>
            </a:r>
            <a:r>
              <a:rPr lang="en-US" sz="2400" b="1" i="1" dirty="0"/>
              <a:t>double </a:t>
            </a:r>
            <a:r>
              <a:rPr lang="en-US" sz="2400" dirty="0"/>
              <a:t>types hold real numbers (such as 3.6 and -145.99). </a:t>
            </a:r>
          </a:p>
          <a:p>
            <a:r>
              <a:rPr lang="en-US" sz="2400" dirty="0"/>
              <a:t>Again, the two real types are distinguished by their range and accuracy. A variable of type </a:t>
            </a:r>
            <a:r>
              <a:rPr lang="en-US" sz="2400" b="1" i="1" dirty="0"/>
              <a:t>char </a:t>
            </a:r>
            <a:r>
              <a:rPr lang="en-US" sz="2400" dirty="0"/>
              <a:t>holds a single character from the Unicode character set. And a variable of type </a:t>
            </a:r>
            <a:r>
              <a:rPr lang="en-US" sz="2400" b="1" i="1" dirty="0"/>
              <a:t>boolean</a:t>
            </a:r>
            <a:r>
              <a:rPr lang="en-US" sz="2400" dirty="0"/>
              <a:t> holds one of the two logical values true or false.</a:t>
            </a:r>
          </a:p>
        </p:txBody>
      </p:sp>
    </p:spTree>
    <p:extLst>
      <p:ext uri="{BB962C8B-B14F-4D97-AF65-F5344CB8AC3E}">
        <p14:creationId xmlns:p14="http://schemas.microsoft.com/office/powerpoint/2010/main" val="1853591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06F94D-9521-C210-74EE-C96A4035241B}"/>
              </a:ext>
            </a:extLst>
          </p:cNvPr>
          <p:cNvSpPr>
            <a:spLocks noGrp="1"/>
          </p:cNvSpPr>
          <p:nvPr>
            <p:ph idx="1"/>
          </p:nvPr>
        </p:nvSpPr>
        <p:spPr>
          <a:xfrm>
            <a:off x="581192" y="868680"/>
            <a:ext cx="11029615" cy="5593080"/>
          </a:xfrm>
        </p:spPr>
        <p:txBody>
          <a:bodyPr>
            <a:normAutofit lnSpcReduction="10000"/>
          </a:bodyPr>
          <a:lstStyle/>
          <a:p>
            <a:r>
              <a:rPr lang="en-US" sz="2400" dirty="0"/>
              <a:t>Any data value stored in the computer's memory must be represented as </a:t>
            </a:r>
            <a:r>
              <a:rPr lang="en-US" sz="2400" b="1" i="1" dirty="0"/>
              <a:t>a binary number</a:t>
            </a:r>
            <a:r>
              <a:rPr lang="en-US" sz="2400" dirty="0"/>
              <a:t>, that is as a string of zeros and ones. A single zero or one is called a bit. </a:t>
            </a:r>
          </a:p>
          <a:p>
            <a:r>
              <a:rPr lang="en-US" sz="2400" dirty="0"/>
              <a:t>A </a:t>
            </a:r>
            <a:r>
              <a:rPr lang="en-US" sz="2400" b="1" i="1" dirty="0"/>
              <a:t>string of eight bits is called a byte</a:t>
            </a:r>
            <a:r>
              <a:rPr lang="en-US" sz="2400" dirty="0"/>
              <a:t>. Memory is usually measured in terms of bytes. Not surprisingly, the byte data type refers to a single byte of memory. A variable of type byte holds a string of eight bits, which can represent any of the integers between -128 and 127, inclusive. (There are 256 integers in that range; eight bits can represent 256—two raised to the power eight—different values.) As for the other integer types,</a:t>
            </a:r>
          </a:p>
          <a:p>
            <a:pPr lvl="1">
              <a:buFont typeface="Wingdings" panose="05000000000000000000" pitchFamily="2" charset="2"/>
              <a:buChar char="Ø"/>
            </a:pPr>
            <a:r>
              <a:rPr lang="en-US" sz="2000" b="1" i="1" dirty="0"/>
              <a:t>short </a:t>
            </a:r>
            <a:r>
              <a:rPr lang="en-US" sz="2000" dirty="0"/>
              <a:t>corresponds to two bytes (16 bits). Variables of type short have values in the range -32768 to 32767.</a:t>
            </a:r>
          </a:p>
          <a:p>
            <a:pPr lvl="1">
              <a:buFont typeface="Wingdings" panose="05000000000000000000" pitchFamily="2" charset="2"/>
              <a:buChar char="Ø"/>
            </a:pPr>
            <a:r>
              <a:rPr lang="en-US" sz="2000" b="1" i="1" dirty="0"/>
              <a:t>int </a:t>
            </a:r>
            <a:r>
              <a:rPr lang="en-US" sz="2000" dirty="0"/>
              <a:t>corresponds to four bytes (32 bits). Variables of type int have values in the range -2147483648 to 2147483647.</a:t>
            </a:r>
          </a:p>
          <a:p>
            <a:pPr lvl="1">
              <a:buFont typeface="Wingdings" panose="05000000000000000000" pitchFamily="2" charset="2"/>
              <a:buChar char="Ø"/>
            </a:pPr>
            <a:r>
              <a:rPr lang="en-US" sz="2000" b="1" i="1" dirty="0"/>
              <a:t>long</a:t>
            </a:r>
            <a:r>
              <a:rPr lang="en-US" sz="2000" dirty="0"/>
              <a:t> corresponds to eight bytes (64 bits). Variables of type long have values in the range -9223372036854775808 to 9223372036854775807.</a:t>
            </a:r>
          </a:p>
        </p:txBody>
      </p:sp>
    </p:spTree>
    <p:extLst>
      <p:ext uri="{BB962C8B-B14F-4D97-AF65-F5344CB8AC3E}">
        <p14:creationId xmlns:p14="http://schemas.microsoft.com/office/powerpoint/2010/main" val="1013863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5CCCE1-324C-3D8F-D73C-292FA85EEFB4}"/>
              </a:ext>
            </a:extLst>
          </p:cNvPr>
          <p:cNvSpPr>
            <a:spLocks noGrp="1"/>
          </p:cNvSpPr>
          <p:nvPr>
            <p:ph idx="1"/>
          </p:nvPr>
        </p:nvSpPr>
        <p:spPr>
          <a:xfrm>
            <a:off x="581192" y="990600"/>
            <a:ext cx="11029615" cy="4984750"/>
          </a:xfrm>
        </p:spPr>
        <p:txBody>
          <a:bodyPr>
            <a:normAutofit fontScale="92500" lnSpcReduction="10000"/>
          </a:bodyPr>
          <a:lstStyle/>
          <a:p>
            <a:r>
              <a:rPr lang="en-US" sz="2400" dirty="0"/>
              <a:t>The </a:t>
            </a:r>
            <a:r>
              <a:rPr lang="en-US" sz="2400" b="1" i="1" dirty="0"/>
              <a:t>float </a:t>
            </a:r>
            <a:r>
              <a:rPr lang="en-US" sz="2400" dirty="0"/>
              <a:t>data type is represented in four bytes of memory, using a standard method for encoding real numbers. The maximum value for a float is about 10 raised to the power 38. A float can have about 7 significant digits. (So that 32.3989231134 and 32.3989234399 would both have to be rounded off to about 32.398923 in order to be stored in a variable of type float.) </a:t>
            </a:r>
          </a:p>
          <a:p>
            <a:r>
              <a:rPr lang="en-US" sz="2400" dirty="0"/>
              <a:t>A </a:t>
            </a:r>
            <a:r>
              <a:rPr lang="en-US" sz="2400" b="1" dirty="0"/>
              <a:t>double</a:t>
            </a:r>
            <a:r>
              <a:rPr lang="en-US" sz="2400" dirty="0"/>
              <a:t> takes up 8 bytes, can range up to about 10 to the power 308, and has about 15 significant digits. Ordinarily, you should stick to the double type for real values.</a:t>
            </a:r>
          </a:p>
          <a:p>
            <a:r>
              <a:rPr lang="en-US" sz="2400" dirty="0"/>
              <a:t>A variable of type </a:t>
            </a:r>
            <a:r>
              <a:rPr lang="en-US" sz="2400" b="1" i="1" dirty="0"/>
              <a:t>char</a:t>
            </a:r>
            <a:r>
              <a:rPr lang="en-US" sz="2400" dirty="0"/>
              <a:t> occupies two bytes in memory. The value of a char variable is a single character such as A, *, x, or a space character. The value can also be a special character such a tab or a carriage return or one of the many Unicode characters that come from different languages. Values of type char are closely related to integer values, since a character is actually stored as a 16-bit integer code number. In fact, we will see that chars in Java can actually be used like integers in certain situations.</a:t>
            </a:r>
          </a:p>
          <a:p>
            <a:endParaRPr lang="en-US" dirty="0"/>
          </a:p>
        </p:txBody>
      </p:sp>
    </p:spTree>
    <p:extLst>
      <p:ext uri="{BB962C8B-B14F-4D97-AF65-F5344CB8AC3E}">
        <p14:creationId xmlns:p14="http://schemas.microsoft.com/office/powerpoint/2010/main" val="4253639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32138B-612B-AAB3-7EBE-00C550A64116}"/>
              </a:ext>
            </a:extLst>
          </p:cNvPr>
          <p:cNvSpPr>
            <a:spLocks noGrp="1"/>
          </p:cNvSpPr>
          <p:nvPr>
            <p:ph idx="1"/>
          </p:nvPr>
        </p:nvSpPr>
        <p:spPr>
          <a:xfrm>
            <a:off x="581192" y="1249680"/>
            <a:ext cx="11029615" cy="4725670"/>
          </a:xfrm>
        </p:spPr>
        <p:txBody>
          <a:bodyPr>
            <a:normAutofit/>
          </a:bodyPr>
          <a:lstStyle/>
          <a:p>
            <a:r>
              <a:rPr lang="en-US" sz="2400" dirty="0"/>
              <a:t>It is important to remember that a primitive type value is represented using only a certain, finite number of bits. So, an int can't be an arbitrary integer; it can only be an integer in a certain finite range of values. </a:t>
            </a:r>
          </a:p>
          <a:p>
            <a:r>
              <a:rPr lang="en-US" sz="2400" dirty="0"/>
              <a:t>Similarly, float and double variables can only take on certain values. They are not true real numbers in the mathematical sense. For example, the mathematical constant π can only be approximated by a value of type float or double, since it would require an infinite number of decimal places to represent it exactly. </a:t>
            </a:r>
          </a:p>
          <a:p>
            <a:r>
              <a:rPr lang="en-US" sz="2400" dirty="0"/>
              <a:t>For that matter, many simple numbers such as 1/3 can only be approximated by floats and doubles.</a:t>
            </a:r>
          </a:p>
        </p:txBody>
      </p:sp>
    </p:spTree>
    <p:extLst>
      <p:ext uri="{BB962C8B-B14F-4D97-AF65-F5344CB8AC3E}">
        <p14:creationId xmlns:p14="http://schemas.microsoft.com/office/powerpoint/2010/main" val="4203253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66787-1188-4FFC-A26F-C8562D27277E}"/>
              </a:ext>
            </a:extLst>
          </p:cNvPr>
          <p:cNvSpPr>
            <a:spLocks noGrp="1"/>
          </p:cNvSpPr>
          <p:nvPr>
            <p:ph type="title"/>
          </p:nvPr>
        </p:nvSpPr>
        <p:spPr>
          <a:xfrm>
            <a:off x="581192" y="702156"/>
            <a:ext cx="11029616" cy="638964"/>
          </a:xfrm>
        </p:spPr>
        <p:txBody>
          <a:bodyPr/>
          <a:lstStyle/>
          <a:p>
            <a:r>
              <a:rPr lang="en-US" dirty="0"/>
              <a:t>Literals</a:t>
            </a:r>
          </a:p>
        </p:txBody>
      </p:sp>
      <p:sp>
        <p:nvSpPr>
          <p:cNvPr id="3" name="Content Placeholder 2">
            <a:extLst>
              <a:ext uri="{FF2B5EF4-FFF2-40B4-BE49-F238E27FC236}">
                <a16:creationId xmlns:a16="http://schemas.microsoft.com/office/drawing/2014/main" id="{C3DD2C51-F2CB-5CA5-8C8A-714793F0029D}"/>
              </a:ext>
            </a:extLst>
          </p:cNvPr>
          <p:cNvSpPr>
            <a:spLocks noGrp="1"/>
          </p:cNvSpPr>
          <p:nvPr>
            <p:ph idx="1"/>
          </p:nvPr>
        </p:nvSpPr>
        <p:spPr>
          <a:xfrm>
            <a:off x="581192" y="1341120"/>
            <a:ext cx="11029615" cy="5151120"/>
          </a:xfrm>
        </p:spPr>
        <p:txBody>
          <a:bodyPr>
            <a:normAutofit fontScale="92500" lnSpcReduction="10000"/>
          </a:bodyPr>
          <a:lstStyle/>
          <a:p>
            <a:r>
              <a:rPr lang="en-US" sz="2400" dirty="0"/>
              <a:t>A </a:t>
            </a:r>
            <a:r>
              <a:rPr lang="en-US" sz="2400" b="1" dirty="0"/>
              <a:t>literal</a:t>
            </a:r>
            <a:r>
              <a:rPr lang="en-US" sz="2400" dirty="0"/>
              <a:t> is something that you can type in a program to represent a value. It is a kind of name for a constant value.</a:t>
            </a:r>
          </a:p>
          <a:p>
            <a:r>
              <a:rPr lang="en-US" sz="2400" dirty="0"/>
              <a:t>For example, to type a value of type</a:t>
            </a:r>
            <a:r>
              <a:rPr lang="en-US" sz="2400" b="1" dirty="0"/>
              <a:t> char </a:t>
            </a:r>
            <a:r>
              <a:rPr lang="en-US" sz="2400" dirty="0"/>
              <a:t>in a program, you must surround it with a pair of single quote marks, such as </a:t>
            </a:r>
            <a:r>
              <a:rPr lang="en-US" sz="2400" b="1" i="1" dirty="0"/>
              <a:t>'A', '*', </a:t>
            </a:r>
            <a:r>
              <a:rPr lang="en-US" sz="2400" dirty="0"/>
              <a:t>or </a:t>
            </a:r>
            <a:r>
              <a:rPr lang="en-US" sz="2400" b="1" dirty="0"/>
              <a:t>'x'. </a:t>
            </a:r>
            <a:r>
              <a:rPr lang="en-US" sz="2400" dirty="0"/>
              <a:t>The character and the quote marks make up a literal of type char. </a:t>
            </a:r>
            <a:r>
              <a:rPr lang="en-US" sz="2400" b="1" i="1" dirty="0"/>
              <a:t>Without the quotes, A would be an identifier and * would be a multiplication operator</a:t>
            </a:r>
            <a:r>
              <a:rPr lang="en-US" sz="2400" dirty="0"/>
              <a:t>. The quotes are not part of the value and are not stored in the variable; they are just a convention for naming a particular character constant in a program. If you want to store the character </a:t>
            </a:r>
            <a:r>
              <a:rPr lang="en-US" sz="2400" b="1" i="1" dirty="0"/>
              <a:t>A</a:t>
            </a:r>
            <a:r>
              <a:rPr lang="en-US" sz="2400" dirty="0"/>
              <a:t> in a variable </a:t>
            </a:r>
            <a:r>
              <a:rPr lang="en-US" sz="2400" b="1" i="1" dirty="0"/>
              <a:t>ch </a:t>
            </a:r>
            <a:r>
              <a:rPr lang="en-US" sz="2400" dirty="0"/>
              <a:t>of type char, you could do so with the assignment statement: </a:t>
            </a:r>
            <a:r>
              <a:rPr lang="en-US" sz="2400" b="1" i="1" dirty="0"/>
              <a:t>ch = 'A’;</a:t>
            </a:r>
          </a:p>
          <a:p>
            <a:r>
              <a:rPr lang="en-US" sz="2400" dirty="0"/>
              <a:t>Certain special characters have special literals that use a backslash, \, as an "escape character." In particular, a tab is represented as '\t', a carriage return as '\r', a linefeed as '\n', the single quote character as '\'', and the backslash itself as '\\'. Note that even though you type two characters between the quotes in '\t', the value represented by this literal is a single tab character.</a:t>
            </a:r>
          </a:p>
        </p:txBody>
      </p:sp>
    </p:spTree>
    <p:extLst>
      <p:ext uri="{BB962C8B-B14F-4D97-AF65-F5344CB8AC3E}">
        <p14:creationId xmlns:p14="http://schemas.microsoft.com/office/powerpoint/2010/main" val="1799140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02EBA0-B5FD-5D9F-E3AD-16AD14538905}"/>
              </a:ext>
            </a:extLst>
          </p:cNvPr>
          <p:cNvSpPr>
            <a:spLocks noGrp="1"/>
          </p:cNvSpPr>
          <p:nvPr>
            <p:ph idx="1"/>
          </p:nvPr>
        </p:nvSpPr>
        <p:spPr>
          <a:xfrm>
            <a:off x="581192" y="838200"/>
            <a:ext cx="11029615" cy="5532120"/>
          </a:xfrm>
        </p:spPr>
        <p:txBody>
          <a:bodyPr>
            <a:normAutofit lnSpcReduction="10000"/>
          </a:bodyPr>
          <a:lstStyle/>
          <a:p>
            <a:r>
              <a:rPr lang="en-US" sz="2200" dirty="0"/>
              <a:t>Numeric literals are a little more complicated than you might expect. Of course, there are the obvious literals such as 317 and 17.42. But there are other possibilities for expressing numbers in a Java program. </a:t>
            </a:r>
          </a:p>
          <a:p>
            <a:r>
              <a:rPr lang="en-US" sz="2200" dirty="0"/>
              <a:t>First of all, real numbers can be represented in an exponential form such as 1.3e12 or 12.3737e-108. The </a:t>
            </a:r>
            <a:r>
              <a:rPr lang="en-US" sz="2200" b="1" i="1" dirty="0"/>
              <a:t>"e12" and "e-108" represent powers of 10</a:t>
            </a:r>
            <a:r>
              <a:rPr lang="en-US" sz="2200" dirty="0"/>
              <a:t>, so that 1.3e12 means 1.3 times 1012 and 12.3737e-108 means 12.3737 times 10-108. This format can be used to express very large and very small numbers. </a:t>
            </a:r>
          </a:p>
          <a:p>
            <a:r>
              <a:rPr lang="en-US" sz="2200" dirty="0"/>
              <a:t>Any </a:t>
            </a:r>
            <a:r>
              <a:rPr lang="en-US" sz="2200" b="1" i="1" dirty="0"/>
              <a:t>numeric literal that contains a decimal point or exponential is a literal of type double. </a:t>
            </a:r>
            <a:r>
              <a:rPr lang="en-US" sz="2200" dirty="0"/>
              <a:t>To make a literal of type float, you have to append an "F" or "f" to the end of the number. For example, "1.2F" stands for 1.2 considered as a value of type float. (Occasionally, you need to know this because the rules of Java say that you can't assign a value of type double to a variable of type float, so you might be confronted with a ridiculous-seeming error message if you try to do something like "x = 1.2;" if x is a variable of type float. You have to say "x = 1.2F;". This is one reason why I advise sticking to type double for real numbers</a:t>
            </a:r>
            <a:r>
              <a:rPr lang="en-US" dirty="0"/>
              <a:t>.)</a:t>
            </a:r>
          </a:p>
        </p:txBody>
      </p:sp>
    </p:spTree>
    <p:extLst>
      <p:ext uri="{BB962C8B-B14F-4D97-AF65-F5344CB8AC3E}">
        <p14:creationId xmlns:p14="http://schemas.microsoft.com/office/powerpoint/2010/main" val="2203246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F2161C-F621-DEDD-E973-A18A279F663B}"/>
              </a:ext>
            </a:extLst>
          </p:cNvPr>
          <p:cNvSpPr>
            <a:spLocks noGrp="1"/>
          </p:cNvSpPr>
          <p:nvPr>
            <p:ph idx="1"/>
          </p:nvPr>
        </p:nvSpPr>
        <p:spPr>
          <a:xfrm>
            <a:off x="581192" y="822960"/>
            <a:ext cx="11029615" cy="5562600"/>
          </a:xfrm>
        </p:spPr>
        <p:txBody>
          <a:bodyPr>
            <a:normAutofit fontScale="92500"/>
          </a:bodyPr>
          <a:lstStyle/>
          <a:p>
            <a:r>
              <a:rPr lang="en-US" sz="2400" dirty="0"/>
              <a:t>Even for integer literals, there are some complications. Ordinary integers such as 177777 and -32 are literals of type byte, short, or int, depending on their size. You can make a literal of type long by adding "L" as a suffix. For example: 17L or 728476874368L. </a:t>
            </a:r>
          </a:p>
          <a:p>
            <a:r>
              <a:rPr lang="en-US" sz="2400" dirty="0"/>
              <a:t>As another complication, Java allows binary, octal (base-8), and hexadecimal (base-16) literals. It's worth knowing a few things: </a:t>
            </a:r>
            <a:r>
              <a:rPr lang="en-US" sz="2400" b="1" i="1" dirty="0"/>
              <a:t>Octal numbers use only the digits 0 through 7</a:t>
            </a:r>
            <a:r>
              <a:rPr lang="en-US" sz="2400" dirty="0"/>
              <a:t>. In Java, a numeric literal that begins with a 0 is interpreted as an octal number; for example, the octal literal 045 represents the number 37, not the number 45. </a:t>
            </a:r>
          </a:p>
          <a:p>
            <a:r>
              <a:rPr lang="en-US" sz="2400" dirty="0"/>
              <a:t>Octal numbers are rarely used, but you need to be aware of what happens when you start a number with a zero. </a:t>
            </a:r>
            <a:r>
              <a:rPr lang="en-US" sz="2400" b="1" i="1" dirty="0"/>
              <a:t>Hexadecimal numbers use 16 digits, the usual digits 0 through 9 and the letters A, B, C, D, E, and F</a:t>
            </a:r>
            <a:r>
              <a:rPr lang="en-US" sz="2400" dirty="0"/>
              <a:t>. Upper case and lower case letters can be used interchangeably in this context. The letters represent the numbers 10 through 15. In Java, </a:t>
            </a:r>
            <a:r>
              <a:rPr lang="en-US" sz="2400" b="1" i="1" dirty="0"/>
              <a:t>a hexadecimal literal begins with 0x or 0X, as in 0x45 or 0xFF7A</a:t>
            </a:r>
            <a:r>
              <a:rPr lang="en-US" sz="2400" dirty="0"/>
              <a:t>. Finally, </a:t>
            </a:r>
            <a:r>
              <a:rPr lang="en-US" sz="2400" b="1" i="1" dirty="0"/>
              <a:t>binary literals start with 0b or 0B and contain only the digits 0 and 1; for example: 0b10110</a:t>
            </a:r>
            <a:r>
              <a:rPr lang="en-US" sz="2400" dirty="0"/>
              <a:t>.</a:t>
            </a:r>
          </a:p>
        </p:txBody>
      </p:sp>
    </p:spTree>
    <p:extLst>
      <p:ext uri="{BB962C8B-B14F-4D97-AF65-F5344CB8AC3E}">
        <p14:creationId xmlns:p14="http://schemas.microsoft.com/office/powerpoint/2010/main" val="3967677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EA8115-5A25-012F-0864-8071B606E93C}"/>
              </a:ext>
            </a:extLst>
          </p:cNvPr>
          <p:cNvSpPr>
            <a:spLocks noGrp="1"/>
          </p:cNvSpPr>
          <p:nvPr>
            <p:ph idx="1"/>
          </p:nvPr>
        </p:nvSpPr>
        <p:spPr>
          <a:xfrm>
            <a:off x="581192" y="716280"/>
            <a:ext cx="11029615" cy="6035040"/>
          </a:xfrm>
        </p:spPr>
        <p:txBody>
          <a:bodyPr>
            <a:normAutofit fontScale="92500" lnSpcReduction="10000"/>
          </a:bodyPr>
          <a:lstStyle/>
          <a:p>
            <a:r>
              <a:rPr lang="en-US" sz="2000" dirty="0"/>
              <a:t>As a final complication, numeric literals can include the </a:t>
            </a:r>
            <a:r>
              <a:rPr lang="en-US" sz="2000" b="1" i="1" dirty="0"/>
              <a:t>underscore character ("_"), which can be used to separate groups of digits</a:t>
            </a:r>
            <a:r>
              <a:rPr lang="en-US" sz="2000" dirty="0"/>
              <a:t>. For example, the integer constant for two billion could be written 2_000_000_000, which is a good deal easier to decipher than 2000000000. There is no rule about how many digits have to be in each group. Underscores can be especially useful in long binary numbers; for example, 0b1010_1100_1011.</a:t>
            </a:r>
          </a:p>
          <a:p>
            <a:r>
              <a:rPr lang="en-US" sz="2000" dirty="0"/>
              <a:t>Note that </a:t>
            </a:r>
            <a:r>
              <a:rPr lang="en-US" sz="2000" b="1" i="1" dirty="0"/>
              <a:t>hexadecimal numbers can also be used to represent arbitrary Unicode characters</a:t>
            </a:r>
            <a:r>
              <a:rPr lang="en-US" sz="2000" dirty="0"/>
              <a:t>. A Unicode literal consists of \u followed by four hexadecimal digits. For example, the character literal '\u00E9' represents the Unicode character that is an "e" with an acute accent.</a:t>
            </a:r>
          </a:p>
          <a:p>
            <a:r>
              <a:rPr lang="en-US" sz="2000" dirty="0"/>
              <a:t>For the </a:t>
            </a:r>
            <a:r>
              <a:rPr lang="en-US" sz="2000" b="1" i="1" dirty="0"/>
              <a:t>type boolean, there are precisely two literals: true and false</a:t>
            </a:r>
            <a:r>
              <a:rPr lang="en-US" sz="2000" dirty="0"/>
              <a:t>. These literals are </a:t>
            </a:r>
            <a:r>
              <a:rPr lang="en-US" sz="2000" b="1" i="1" dirty="0"/>
              <a:t>typed without quotes</a:t>
            </a:r>
            <a:r>
              <a:rPr lang="en-US" sz="2000" dirty="0"/>
              <a:t>, but they </a:t>
            </a:r>
            <a:r>
              <a:rPr lang="en-US" sz="2000" b="1" i="1" dirty="0"/>
              <a:t>represent constant values</a:t>
            </a:r>
            <a:r>
              <a:rPr lang="en-US" sz="2000" dirty="0"/>
              <a:t>, not variables. Boolean values occur most often as the values of conditional expressions. For example, rate &gt; 0.05 is a boolean-valued expression that evaluates to true if the value of the variable rate is greater than 0.05, and to false if the value of rate is less than or equal to 0.05. </a:t>
            </a:r>
          </a:p>
          <a:p>
            <a:r>
              <a:rPr lang="en-US" sz="2000" dirty="0"/>
              <a:t>Note that </a:t>
            </a:r>
            <a:r>
              <a:rPr lang="en-US" sz="2000" b="1" i="1" dirty="0"/>
              <a:t>boolean-valued expressions are used extensively in control structures</a:t>
            </a:r>
            <a:r>
              <a:rPr lang="en-US" sz="2000" dirty="0"/>
              <a:t>. Of course, boolean values can also be assigned to variables of type boolean. For example, if test is a variable of type boolean, then both of the following assignment statements are legal:</a:t>
            </a:r>
          </a:p>
          <a:p>
            <a:pPr lvl="1">
              <a:buFont typeface="Wingdings" panose="05000000000000000000" pitchFamily="2" charset="2"/>
              <a:buChar char="Ø"/>
            </a:pPr>
            <a:r>
              <a:rPr lang="en-US" sz="1800" dirty="0"/>
              <a:t>test = true;</a:t>
            </a:r>
          </a:p>
          <a:p>
            <a:pPr lvl="1">
              <a:buFont typeface="Wingdings" panose="05000000000000000000" pitchFamily="2" charset="2"/>
              <a:buChar char="Ø"/>
            </a:pPr>
            <a:r>
              <a:rPr lang="en-US" sz="1800" dirty="0"/>
              <a:t>test = rate &gt; 0.05;</a:t>
            </a:r>
          </a:p>
        </p:txBody>
      </p:sp>
    </p:spTree>
    <p:extLst>
      <p:ext uri="{BB962C8B-B14F-4D97-AF65-F5344CB8AC3E}">
        <p14:creationId xmlns:p14="http://schemas.microsoft.com/office/powerpoint/2010/main" val="881229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76AF-375F-8E54-0C92-10612739FEEE}"/>
              </a:ext>
            </a:extLst>
          </p:cNvPr>
          <p:cNvSpPr>
            <a:spLocks noGrp="1"/>
          </p:cNvSpPr>
          <p:nvPr>
            <p:ph type="title"/>
          </p:nvPr>
        </p:nvSpPr>
        <p:spPr>
          <a:xfrm>
            <a:off x="581192" y="702156"/>
            <a:ext cx="11029616" cy="623724"/>
          </a:xfrm>
        </p:spPr>
        <p:txBody>
          <a:bodyPr/>
          <a:lstStyle/>
          <a:p>
            <a:r>
              <a:rPr lang="en-US" dirty="0"/>
              <a:t>Strings and String Literals</a:t>
            </a:r>
          </a:p>
        </p:txBody>
      </p:sp>
      <p:sp>
        <p:nvSpPr>
          <p:cNvPr id="3" name="Content Placeholder 2">
            <a:extLst>
              <a:ext uri="{FF2B5EF4-FFF2-40B4-BE49-F238E27FC236}">
                <a16:creationId xmlns:a16="http://schemas.microsoft.com/office/drawing/2014/main" id="{7CB6B664-EEE1-5CBD-337D-FD6456DA46FF}"/>
              </a:ext>
            </a:extLst>
          </p:cNvPr>
          <p:cNvSpPr>
            <a:spLocks noGrp="1"/>
          </p:cNvSpPr>
          <p:nvPr>
            <p:ph idx="1"/>
          </p:nvPr>
        </p:nvSpPr>
        <p:spPr>
          <a:xfrm>
            <a:off x="581192" y="1325880"/>
            <a:ext cx="11029615" cy="5379720"/>
          </a:xfrm>
        </p:spPr>
        <p:txBody>
          <a:bodyPr>
            <a:normAutofit/>
          </a:bodyPr>
          <a:lstStyle/>
          <a:p>
            <a:r>
              <a:rPr lang="en-US" sz="1800" dirty="0"/>
              <a:t>A value of type String is a sequence of characters. You've already seen a string literal: "Hello World!". The double quotes are part of the literal; they have to be typed in the program.</a:t>
            </a:r>
          </a:p>
          <a:p>
            <a:r>
              <a:rPr lang="en-US" sz="1800" dirty="0"/>
              <a:t>However, they are not part of the actual </a:t>
            </a:r>
            <a:r>
              <a:rPr lang="en-US" sz="1800" b="1" i="1" dirty="0"/>
              <a:t>String value, which consists of just the characters between the quotes</a:t>
            </a:r>
            <a:r>
              <a:rPr lang="en-US" sz="1800" dirty="0"/>
              <a:t>. A string can contain any number of characters, even zero. </a:t>
            </a:r>
          </a:p>
          <a:p>
            <a:r>
              <a:rPr lang="en-US" sz="1800" b="1" i="1" dirty="0"/>
              <a:t>A string with no characters is called the empty string and is represented by the literal "", </a:t>
            </a:r>
            <a:r>
              <a:rPr lang="en-US" sz="1800" dirty="0"/>
              <a:t>a pair of double quote marks with nothing between them. Remember the difference between single quotes and double quotes! </a:t>
            </a:r>
            <a:r>
              <a:rPr lang="en-US" sz="1800" b="1" i="1" dirty="0"/>
              <a:t>Single quotes are used for char literals and double quotes for String literals! </a:t>
            </a:r>
            <a:r>
              <a:rPr lang="en-US" sz="1800" dirty="0"/>
              <a:t>There is a big difference between the </a:t>
            </a:r>
            <a:r>
              <a:rPr lang="en-US" sz="1800" b="1" i="1" dirty="0"/>
              <a:t>String "A" </a:t>
            </a:r>
            <a:r>
              <a:rPr lang="en-US" sz="1800" dirty="0"/>
              <a:t>and the </a:t>
            </a:r>
            <a:r>
              <a:rPr lang="en-US" sz="1800" b="1" i="1" dirty="0"/>
              <a:t>char 'A’.</a:t>
            </a:r>
          </a:p>
          <a:p>
            <a:r>
              <a:rPr lang="en-US" sz="1800" dirty="0"/>
              <a:t>Within a string literal, special characters can be represented using the backslash notation. Within this context, the double quote is itself a special character. For example, to represent the string value</a:t>
            </a:r>
          </a:p>
          <a:p>
            <a:pPr lvl="1">
              <a:buFont typeface="Wingdings" panose="05000000000000000000" pitchFamily="2" charset="2"/>
              <a:buChar char="Ø"/>
            </a:pPr>
            <a:r>
              <a:rPr lang="en-US" sz="1600" dirty="0"/>
              <a:t>I said, "Are you listening!"</a:t>
            </a:r>
          </a:p>
          <a:p>
            <a:pPr lvl="1">
              <a:buFont typeface="Wingdings" panose="05000000000000000000" pitchFamily="2" charset="2"/>
              <a:buChar char="Ø"/>
            </a:pPr>
            <a:r>
              <a:rPr lang="en-US" sz="1600" dirty="0"/>
              <a:t>with a linefeed at the end, you would have to type the string literal:</a:t>
            </a:r>
          </a:p>
          <a:p>
            <a:pPr lvl="1">
              <a:buFont typeface="Wingdings" panose="05000000000000000000" pitchFamily="2" charset="2"/>
              <a:buChar char="Ø"/>
            </a:pPr>
            <a:r>
              <a:rPr lang="en-US" sz="1600" dirty="0"/>
              <a:t>"I said, \"Are you listening!\"\n"</a:t>
            </a:r>
          </a:p>
          <a:p>
            <a:pPr lvl="1">
              <a:buFont typeface="Wingdings" panose="05000000000000000000" pitchFamily="2" charset="2"/>
              <a:buChar char="Ø"/>
            </a:pPr>
            <a:r>
              <a:rPr lang="en-US" sz="1600" dirty="0"/>
              <a:t>You can also use \t, \r, \\, and Unicode sequences such as \u00E9 to represent other special characters in string literals.</a:t>
            </a:r>
          </a:p>
        </p:txBody>
      </p:sp>
    </p:spTree>
    <p:extLst>
      <p:ext uri="{BB962C8B-B14F-4D97-AF65-F5344CB8AC3E}">
        <p14:creationId xmlns:p14="http://schemas.microsoft.com/office/powerpoint/2010/main" val="1458791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7B0F-F310-EBDE-4154-18336B9219AA}"/>
              </a:ext>
            </a:extLst>
          </p:cNvPr>
          <p:cNvSpPr>
            <a:spLocks noGrp="1"/>
          </p:cNvSpPr>
          <p:nvPr>
            <p:ph type="title"/>
          </p:nvPr>
        </p:nvSpPr>
        <p:spPr>
          <a:xfrm>
            <a:off x="581192" y="702156"/>
            <a:ext cx="11029616" cy="669444"/>
          </a:xfrm>
        </p:spPr>
        <p:txBody>
          <a:bodyPr/>
          <a:lstStyle/>
          <a:p>
            <a:r>
              <a:rPr lang="en-US" dirty="0"/>
              <a:t>Variables in Programs</a:t>
            </a:r>
          </a:p>
        </p:txBody>
      </p:sp>
      <p:sp>
        <p:nvSpPr>
          <p:cNvPr id="3" name="Content Placeholder 2">
            <a:extLst>
              <a:ext uri="{FF2B5EF4-FFF2-40B4-BE49-F238E27FC236}">
                <a16:creationId xmlns:a16="http://schemas.microsoft.com/office/drawing/2014/main" id="{CA033FCE-4CCB-1945-4CB1-DF4F3A078697}"/>
              </a:ext>
            </a:extLst>
          </p:cNvPr>
          <p:cNvSpPr>
            <a:spLocks noGrp="1"/>
          </p:cNvSpPr>
          <p:nvPr>
            <p:ph idx="1"/>
          </p:nvPr>
        </p:nvSpPr>
        <p:spPr>
          <a:xfrm>
            <a:off x="581192" y="1371600"/>
            <a:ext cx="11029615" cy="4953000"/>
          </a:xfrm>
        </p:spPr>
        <p:txBody>
          <a:bodyPr>
            <a:normAutofit/>
          </a:bodyPr>
          <a:lstStyle/>
          <a:p>
            <a:r>
              <a:rPr lang="en-US" sz="2000" dirty="0"/>
              <a:t>A variable can be used in a program only if it has first been declared. A variable declaration statement is used to declare one or more variables and to give them names. When the computer executes a variable declaration, it sets aside memory for the variable and associates the variable's name with that memory.</a:t>
            </a:r>
          </a:p>
          <a:p>
            <a:r>
              <a:rPr lang="en-US" sz="2000" dirty="0"/>
              <a:t>Variables declared inside a subroutine are called </a:t>
            </a:r>
            <a:r>
              <a:rPr lang="en-US" sz="2000" b="1" i="1" dirty="0"/>
              <a:t>local variables </a:t>
            </a:r>
            <a:r>
              <a:rPr lang="en-US" sz="2000" dirty="0"/>
              <a:t>for that subroutine. They exist only inside the subroutine, while it is running, and </a:t>
            </a:r>
            <a:r>
              <a:rPr lang="en-US" sz="2000" b="1" i="1" dirty="0"/>
              <a:t>are completely inaccessible from outside</a:t>
            </a:r>
            <a:r>
              <a:rPr lang="en-US" sz="2000" dirty="0"/>
              <a:t>. Variable declarations can occur anywhere inside the subroutine, as long as each variable is declared before it is used in any way. </a:t>
            </a:r>
          </a:p>
          <a:p>
            <a:r>
              <a:rPr lang="en-US" sz="2000" dirty="0"/>
              <a:t>Although some people like to declare all the variables at the beginning of the subroutine, while others like to wait to declare a variable until it is needed, it is a good idea to </a:t>
            </a:r>
            <a:r>
              <a:rPr lang="en-US" sz="2000" b="1" i="1" dirty="0"/>
              <a:t>declare important variables at the beginning of the subroutine, and use a comment to explain the purpose of each variable</a:t>
            </a:r>
            <a:r>
              <a:rPr lang="en-US" sz="2000" dirty="0"/>
              <a:t>. Declare "utility variables" which are not important to the overall logic of the subroutine at the point in the subroutine where they are first used. </a:t>
            </a:r>
          </a:p>
        </p:txBody>
      </p:sp>
    </p:spTree>
    <p:extLst>
      <p:ext uri="{BB962C8B-B14F-4D97-AF65-F5344CB8AC3E}">
        <p14:creationId xmlns:p14="http://schemas.microsoft.com/office/powerpoint/2010/main" val="3963185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96895-F465-2AA8-415E-0FB0120C7A29}"/>
              </a:ext>
            </a:extLst>
          </p:cNvPr>
          <p:cNvSpPr>
            <a:spLocks noGrp="1"/>
          </p:cNvSpPr>
          <p:nvPr>
            <p:ph type="title"/>
          </p:nvPr>
        </p:nvSpPr>
        <p:spPr>
          <a:xfrm>
            <a:off x="581192" y="702156"/>
            <a:ext cx="11029616" cy="532284"/>
          </a:xfrm>
        </p:spPr>
        <p:txBody>
          <a:bodyPr/>
          <a:lstStyle/>
          <a:p>
            <a:r>
              <a:rPr lang="en-US" dirty="0"/>
              <a:t>Strings, Classes, Objects, and Subroutines</a:t>
            </a:r>
          </a:p>
        </p:txBody>
      </p:sp>
      <p:sp>
        <p:nvSpPr>
          <p:cNvPr id="3" name="Content Placeholder 2">
            <a:extLst>
              <a:ext uri="{FF2B5EF4-FFF2-40B4-BE49-F238E27FC236}">
                <a16:creationId xmlns:a16="http://schemas.microsoft.com/office/drawing/2014/main" id="{DEF3B4A8-91CE-6FCD-30A2-F94532B9D556}"/>
              </a:ext>
            </a:extLst>
          </p:cNvPr>
          <p:cNvSpPr>
            <a:spLocks noGrp="1"/>
          </p:cNvSpPr>
          <p:nvPr>
            <p:ph idx="1"/>
          </p:nvPr>
        </p:nvSpPr>
        <p:spPr>
          <a:xfrm>
            <a:off x="581192" y="1234440"/>
            <a:ext cx="11029615" cy="5440680"/>
          </a:xfrm>
        </p:spPr>
        <p:txBody>
          <a:bodyPr>
            <a:normAutofit fontScale="92500" lnSpcReduction="20000"/>
          </a:bodyPr>
          <a:lstStyle/>
          <a:p>
            <a:pPr marL="0" indent="0">
              <a:buNone/>
            </a:pPr>
            <a:r>
              <a:rPr lang="en-US" sz="2400" b="1" dirty="0"/>
              <a:t>Built-in Subroutines and Functions</a:t>
            </a:r>
          </a:p>
          <a:p>
            <a:r>
              <a:rPr lang="en-US" sz="2400" dirty="0"/>
              <a:t>Recall that a </a:t>
            </a:r>
            <a:r>
              <a:rPr lang="en-US" sz="2400" b="1" i="1" dirty="0"/>
              <a:t>subroutine is a set of program instructions that have been chunked together and given a name</a:t>
            </a:r>
            <a:r>
              <a:rPr lang="en-US" sz="2400" dirty="0"/>
              <a:t>. A subroutine is designed to perform some task. To get that task performed in a program, you can "call" the subroutine using a subroutine call statement.</a:t>
            </a:r>
          </a:p>
          <a:p>
            <a:r>
              <a:rPr lang="en-US" sz="2400" dirty="0"/>
              <a:t>In Java, every subroutine is contained either in a class or in an object. Some classes that are standard parts of the Java language contain predefined subroutines that you can use. A value of type String, which is an object, contains subroutines that you can use to manipulate that string. These subroutines are "built into" the Java language. You can call all these subroutines without understanding how they were written or how they work. Indeed, that's the whole point of subroutines: A </a:t>
            </a:r>
            <a:r>
              <a:rPr lang="en-US" sz="2400" b="1" i="1" dirty="0"/>
              <a:t>subroutine is a "black box" which can be used without knowing what goes on inside</a:t>
            </a:r>
            <a:r>
              <a:rPr lang="en-US" sz="2400" dirty="0"/>
              <a:t>.</a:t>
            </a:r>
          </a:p>
          <a:p>
            <a:r>
              <a:rPr lang="en-US" sz="2400" dirty="0"/>
              <a:t>Let's first consider subroutines that are part of a class. One of the purposes of a class is to group together some variables and subroutines, which are contained in that class. These variables and subroutines are called </a:t>
            </a:r>
            <a:r>
              <a:rPr lang="en-US" sz="2400" b="1" i="1" dirty="0"/>
              <a:t>static members </a:t>
            </a:r>
            <a:r>
              <a:rPr lang="en-US" sz="2400" dirty="0"/>
              <a:t>of the class. </a:t>
            </a:r>
          </a:p>
          <a:p>
            <a:endParaRPr lang="en-US" dirty="0"/>
          </a:p>
        </p:txBody>
      </p:sp>
    </p:spTree>
    <p:extLst>
      <p:ext uri="{BB962C8B-B14F-4D97-AF65-F5344CB8AC3E}">
        <p14:creationId xmlns:p14="http://schemas.microsoft.com/office/powerpoint/2010/main" val="2153216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AE2A99-4D32-F435-F8A9-A07F5DD23FEE}"/>
              </a:ext>
            </a:extLst>
          </p:cNvPr>
          <p:cNvSpPr>
            <a:spLocks noGrp="1"/>
          </p:cNvSpPr>
          <p:nvPr>
            <p:ph idx="1"/>
          </p:nvPr>
        </p:nvSpPr>
        <p:spPr>
          <a:xfrm>
            <a:off x="581192" y="807720"/>
            <a:ext cx="11029615" cy="5715000"/>
          </a:xfrm>
        </p:spPr>
        <p:txBody>
          <a:bodyPr>
            <a:normAutofit/>
          </a:bodyPr>
          <a:lstStyle/>
          <a:p>
            <a:r>
              <a:rPr lang="en-US" sz="2400" b="1" i="1" dirty="0"/>
              <a:t>System</a:t>
            </a:r>
            <a:r>
              <a:rPr lang="en-US" sz="2400" dirty="0"/>
              <a:t> is just one of many standard classes that come with Java. Another useful class is called </a:t>
            </a:r>
            <a:r>
              <a:rPr lang="en-US" sz="2400" b="1" i="1" dirty="0"/>
              <a:t>Math</a:t>
            </a:r>
            <a:r>
              <a:rPr lang="en-US" sz="2400" dirty="0"/>
              <a:t>. This class gives us an example of a class that contains static variables: It includes the variables </a:t>
            </a:r>
            <a:r>
              <a:rPr lang="en-US" sz="2400" b="1" i="1" dirty="0" err="1"/>
              <a:t>Math.PI</a:t>
            </a:r>
            <a:r>
              <a:rPr lang="en-US" sz="2400" dirty="0"/>
              <a:t> and</a:t>
            </a:r>
            <a:r>
              <a:rPr lang="en-US" sz="2400" b="1" i="1" dirty="0"/>
              <a:t> </a:t>
            </a:r>
            <a:r>
              <a:rPr lang="en-US" sz="2400" b="1" i="1" dirty="0" err="1"/>
              <a:t>Math.E</a:t>
            </a:r>
            <a:r>
              <a:rPr lang="en-US" sz="2400" b="1" i="1" dirty="0"/>
              <a:t> </a:t>
            </a:r>
            <a:r>
              <a:rPr lang="en-US" sz="2400" dirty="0"/>
              <a:t>whose values are the mathematical constants </a:t>
            </a:r>
            <a:r>
              <a:rPr lang="en-US" sz="2400" b="1" i="1" dirty="0"/>
              <a:t>π </a:t>
            </a:r>
            <a:r>
              <a:rPr lang="en-US" sz="2400" dirty="0"/>
              <a:t>and </a:t>
            </a:r>
            <a:r>
              <a:rPr lang="en-US" sz="2400" b="1" i="1" dirty="0"/>
              <a:t>e. </a:t>
            </a:r>
            <a:r>
              <a:rPr lang="en-US" sz="2400" dirty="0"/>
              <a:t>Math also contains a large number of mathematical "functions." </a:t>
            </a:r>
          </a:p>
          <a:p>
            <a:r>
              <a:rPr lang="en-US" sz="2400" dirty="0"/>
              <a:t>Now, any subroutine performs some specific task, but for some subroutines, the task is to compute or retrieve some data value. Subroutines of this type are called functions. We say that a function </a:t>
            </a:r>
            <a:r>
              <a:rPr lang="en-US" sz="2400" b="1" i="1" dirty="0"/>
              <a:t>returns</a:t>
            </a:r>
            <a:r>
              <a:rPr lang="en-US" sz="2400" dirty="0"/>
              <a:t> a value. Generally, the returned value is meant to be used somehow in the program that calls the function.</a:t>
            </a:r>
          </a:p>
          <a:p>
            <a:r>
              <a:rPr lang="en-US" sz="2400" dirty="0"/>
              <a:t>You are familiar with the mathematical function that computes the square root of a number. The corresponding function in Java is called </a:t>
            </a:r>
            <a:r>
              <a:rPr lang="en-US" sz="2400" b="1" i="1" dirty="0"/>
              <a:t>Math.sqrt</a:t>
            </a:r>
            <a:r>
              <a:rPr lang="en-US" sz="2400" dirty="0"/>
              <a:t>. This function is a static member subroutine in the class named Math. If x is any numerical value, then Math.sqrt(x) computes and returns the square root of that value. </a:t>
            </a:r>
          </a:p>
        </p:txBody>
      </p:sp>
    </p:spTree>
    <p:extLst>
      <p:ext uri="{BB962C8B-B14F-4D97-AF65-F5344CB8AC3E}">
        <p14:creationId xmlns:p14="http://schemas.microsoft.com/office/powerpoint/2010/main" val="190143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C257AA-46D4-F2FB-3FAB-871D77DFD84B}"/>
              </a:ext>
            </a:extLst>
          </p:cNvPr>
          <p:cNvSpPr>
            <a:spLocks noGrp="1"/>
          </p:cNvSpPr>
          <p:nvPr>
            <p:ph idx="1"/>
          </p:nvPr>
        </p:nvSpPr>
        <p:spPr>
          <a:xfrm>
            <a:off x="581192" y="807720"/>
            <a:ext cx="11029615" cy="5654040"/>
          </a:xfrm>
        </p:spPr>
        <p:txBody>
          <a:bodyPr>
            <a:normAutofit fontScale="92500" lnSpcReduction="20000"/>
          </a:bodyPr>
          <a:lstStyle/>
          <a:p>
            <a:r>
              <a:rPr lang="en-US" sz="2400" dirty="0"/>
              <a:t>Since Math.sqrt(x) represents a value, it doesn't make sense to put it on a line by itself in a subroutine call statement such as</a:t>
            </a:r>
          </a:p>
          <a:p>
            <a:pPr lvl="1"/>
            <a:r>
              <a:rPr lang="en-US" sz="2000" dirty="0"/>
              <a:t>Math.sqrt(x);   // This doesn't make sense!</a:t>
            </a:r>
          </a:p>
          <a:p>
            <a:r>
              <a:rPr lang="en-US" sz="2400" dirty="0"/>
              <a:t>What, after all, would the computer do with the value computed by the function in this case? You have to tell the computer to do something with the value. You might tell the computer to display it:</a:t>
            </a:r>
          </a:p>
          <a:p>
            <a:pPr lvl="1"/>
            <a:r>
              <a:rPr lang="en-US" sz="2000" dirty="0"/>
              <a:t>System.out.print( Math.sqrt(x) );  // Display the square root of x.</a:t>
            </a:r>
          </a:p>
          <a:p>
            <a:r>
              <a:rPr lang="en-US" sz="2400" dirty="0"/>
              <a:t>or you might use an assignment statement to tell the computer to store that value in a variable:</a:t>
            </a:r>
          </a:p>
          <a:p>
            <a:pPr lvl="1"/>
            <a:r>
              <a:rPr lang="en-US" sz="2000" dirty="0"/>
              <a:t>lengthOfSide = Math.sqrt(x);</a:t>
            </a:r>
          </a:p>
          <a:p>
            <a:r>
              <a:rPr lang="en-US" sz="2400" dirty="0"/>
              <a:t>The function call Math.sqrt(x) represents a value of type double, and it can be used anyplace where a numeric literal of type double could be used. The x in this formula represents the parameter to the subroutine; it could be a variable named "x", or it could be replaced by any expression that represents a numerical value. For example, Math.sqrt(2) computes the square root of 2, and Math.sqrt(a*a+b*b) would be legal as long as a and b are numeric variables.</a:t>
            </a:r>
          </a:p>
        </p:txBody>
      </p:sp>
    </p:spTree>
    <p:extLst>
      <p:ext uri="{BB962C8B-B14F-4D97-AF65-F5344CB8AC3E}">
        <p14:creationId xmlns:p14="http://schemas.microsoft.com/office/powerpoint/2010/main" val="4148134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B4DEDE-11C5-69CC-2780-9712A01B5E76}"/>
              </a:ext>
            </a:extLst>
          </p:cNvPr>
          <p:cNvSpPr>
            <a:spLocks noGrp="1"/>
          </p:cNvSpPr>
          <p:nvPr>
            <p:ph idx="1"/>
          </p:nvPr>
        </p:nvSpPr>
        <p:spPr>
          <a:xfrm>
            <a:off x="581192" y="670560"/>
            <a:ext cx="11029615" cy="6035040"/>
          </a:xfrm>
        </p:spPr>
        <p:txBody>
          <a:bodyPr>
            <a:normAutofit fontScale="92500" lnSpcReduction="10000"/>
          </a:bodyPr>
          <a:lstStyle/>
          <a:p>
            <a:r>
              <a:rPr lang="en-US" sz="2400" dirty="0"/>
              <a:t>The Math class contains many static member functions. Here is a list of some of the more important of them:</a:t>
            </a:r>
          </a:p>
          <a:p>
            <a:pPr lvl="1">
              <a:buFont typeface="Wingdings" panose="05000000000000000000" pitchFamily="2" charset="2"/>
              <a:buChar char="Ø"/>
            </a:pPr>
            <a:r>
              <a:rPr lang="en-US" sz="2000" b="1" i="1" dirty="0" err="1"/>
              <a:t>Math.abs</a:t>
            </a:r>
            <a:r>
              <a:rPr lang="en-US" sz="2000" b="1" i="1" dirty="0"/>
              <a:t>(x)</a:t>
            </a:r>
            <a:r>
              <a:rPr lang="en-US" sz="2000" dirty="0"/>
              <a:t>, which computes the absolute value of x.</a:t>
            </a:r>
          </a:p>
          <a:p>
            <a:pPr lvl="1">
              <a:buFont typeface="Wingdings" panose="05000000000000000000" pitchFamily="2" charset="2"/>
              <a:buChar char="Ø"/>
            </a:pPr>
            <a:r>
              <a:rPr lang="en-US" sz="2000" dirty="0"/>
              <a:t>The usual trigonometric functions</a:t>
            </a:r>
            <a:r>
              <a:rPr lang="en-US" sz="2000" b="1" i="1" dirty="0"/>
              <a:t>, </a:t>
            </a:r>
            <a:r>
              <a:rPr lang="en-US" sz="2000" b="1" i="1" dirty="0" err="1"/>
              <a:t>Math.sin</a:t>
            </a:r>
            <a:r>
              <a:rPr lang="en-US" sz="2000" b="1" i="1" dirty="0"/>
              <a:t>(x), </a:t>
            </a:r>
            <a:r>
              <a:rPr lang="en-US" sz="2000" b="1" i="1" dirty="0" err="1"/>
              <a:t>Math.cos</a:t>
            </a:r>
            <a:r>
              <a:rPr lang="en-US" sz="2000" b="1" i="1" dirty="0"/>
              <a:t>(x), </a:t>
            </a:r>
            <a:r>
              <a:rPr lang="en-US" sz="2000" dirty="0"/>
              <a:t>and </a:t>
            </a:r>
            <a:r>
              <a:rPr lang="en-US" sz="2000" b="1" i="1" dirty="0" err="1"/>
              <a:t>Math.tan</a:t>
            </a:r>
            <a:r>
              <a:rPr lang="en-US" sz="2000" b="1" i="1" dirty="0"/>
              <a:t>(x). </a:t>
            </a:r>
            <a:r>
              <a:rPr lang="en-US" sz="2000" dirty="0"/>
              <a:t>(For all the trigonometric functions, angles are measured in radians, not degrees.)</a:t>
            </a:r>
          </a:p>
          <a:p>
            <a:pPr lvl="1">
              <a:buFont typeface="Wingdings" panose="05000000000000000000" pitchFamily="2" charset="2"/>
              <a:buChar char="Ø"/>
            </a:pPr>
            <a:r>
              <a:rPr lang="en-US" sz="2000" dirty="0"/>
              <a:t>The inverse trigonometric functions </a:t>
            </a:r>
            <a:r>
              <a:rPr lang="en-US" sz="2000" b="1" i="1" dirty="0" err="1"/>
              <a:t>arcsin</a:t>
            </a:r>
            <a:r>
              <a:rPr lang="en-US" sz="2000" b="1" i="1" dirty="0"/>
              <a:t>, </a:t>
            </a:r>
            <a:r>
              <a:rPr lang="en-US" sz="2000" b="1" i="1" dirty="0" err="1"/>
              <a:t>arccos</a:t>
            </a:r>
            <a:r>
              <a:rPr lang="en-US" sz="2000" dirty="0"/>
              <a:t>, and </a:t>
            </a:r>
            <a:r>
              <a:rPr lang="en-US" sz="2000" b="1" i="1" dirty="0"/>
              <a:t>arctan</a:t>
            </a:r>
            <a:r>
              <a:rPr lang="en-US" sz="2000" dirty="0"/>
              <a:t>, which are written as: </a:t>
            </a:r>
            <a:r>
              <a:rPr lang="en-US" sz="2000" b="1" i="1" dirty="0" err="1"/>
              <a:t>Math.asin</a:t>
            </a:r>
            <a:r>
              <a:rPr lang="en-US" sz="2000" b="1" i="1" dirty="0"/>
              <a:t>(x), </a:t>
            </a:r>
            <a:r>
              <a:rPr lang="en-US" sz="2000" b="1" i="1" dirty="0" err="1"/>
              <a:t>Math.acos</a:t>
            </a:r>
            <a:r>
              <a:rPr lang="en-US" sz="2000" b="1" i="1" dirty="0"/>
              <a:t>(x), </a:t>
            </a:r>
            <a:r>
              <a:rPr lang="en-US" sz="2000" dirty="0"/>
              <a:t>and </a:t>
            </a:r>
            <a:r>
              <a:rPr lang="en-US" sz="2000" b="1" i="1" dirty="0" err="1"/>
              <a:t>Math.atan</a:t>
            </a:r>
            <a:r>
              <a:rPr lang="en-US" sz="2000" b="1" i="1" dirty="0"/>
              <a:t>(x). </a:t>
            </a:r>
            <a:r>
              <a:rPr lang="en-US" sz="2000" dirty="0"/>
              <a:t>The return value is expressed in radians, not degrees.</a:t>
            </a:r>
          </a:p>
          <a:p>
            <a:pPr lvl="1">
              <a:buFont typeface="Wingdings" panose="05000000000000000000" pitchFamily="2" charset="2"/>
              <a:buChar char="Ø"/>
            </a:pPr>
            <a:r>
              <a:rPr lang="en-US" sz="2000" dirty="0"/>
              <a:t>The exponential function </a:t>
            </a:r>
            <a:r>
              <a:rPr lang="en-US" sz="2000" b="1" i="1" dirty="0" err="1"/>
              <a:t>Math.exp</a:t>
            </a:r>
            <a:r>
              <a:rPr lang="en-US" sz="2000" b="1" i="1" dirty="0"/>
              <a:t>(x) </a:t>
            </a:r>
            <a:r>
              <a:rPr lang="en-US" sz="2000" dirty="0"/>
              <a:t>for computing the number e raised to the power x, and the natural logarithm function </a:t>
            </a:r>
            <a:r>
              <a:rPr lang="en-US" sz="2000" b="1" i="1" dirty="0"/>
              <a:t>Math.log(x) </a:t>
            </a:r>
            <a:r>
              <a:rPr lang="en-US" sz="2000" dirty="0"/>
              <a:t>for computing the </a:t>
            </a:r>
            <a:r>
              <a:rPr lang="en-US" sz="2000" b="1" i="1" dirty="0"/>
              <a:t>logarithm of x in the base e</a:t>
            </a:r>
            <a:r>
              <a:rPr lang="en-US" sz="2000" dirty="0"/>
              <a:t>.</a:t>
            </a:r>
          </a:p>
          <a:p>
            <a:pPr lvl="1">
              <a:buFont typeface="Wingdings" panose="05000000000000000000" pitchFamily="2" charset="2"/>
              <a:buChar char="Ø"/>
            </a:pPr>
            <a:r>
              <a:rPr lang="en-US" sz="2000" b="1" i="1" dirty="0" err="1"/>
              <a:t>Math.pow</a:t>
            </a:r>
            <a:r>
              <a:rPr lang="en-US" sz="2000" b="1" i="1" dirty="0"/>
              <a:t>(x,y) </a:t>
            </a:r>
            <a:r>
              <a:rPr lang="en-US" sz="2000" dirty="0"/>
              <a:t>for computing x raised to the power y.</a:t>
            </a:r>
          </a:p>
          <a:p>
            <a:pPr lvl="1">
              <a:buFont typeface="Wingdings" panose="05000000000000000000" pitchFamily="2" charset="2"/>
              <a:buChar char="Ø"/>
            </a:pPr>
            <a:r>
              <a:rPr lang="en-US" sz="2000" b="1" i="1" dirty="0" err="1"/>
              <a:t>Math.floor</a:t>
            </a:r>
            <a:r>
              <a:rPr lang="en-US" sz="2000" b="1" i="1" dirty="0"/>
              <a:t>(x), </a:t>
            </a:r>
            <a:r>
              <a:rPr lang="en-US" sz="2000" dirty="0"/>
              <a:t>which </a:t>
            </a:r>
            <a:r>
              <a:rPr lang="en-US" sz="2000" b="1" i="1" dirty="0"/>
              <a:t>rounds x down to the nearest integer value that is less than or equal to x</a:t>
            </a:r>
            <a:r>
              <a:rPr lang="en-US" sz="2000" dirty="0"/>
              <a:t>. Even though the return value is mathematically an integer, it is returned as a value of type double, rather than of type int as you might expect. For example, Math.floor(3.76) is 3.0, and Math.floor(-4.2) is -5.0. </a:t>
            </a:r>
            <a:r>
              <a:rPr lang="en-US" sz="2000" b="1" i="1" dirty="0"/>
              <a:t>The function </a:t>
            </a:r>
            <a:r>
              <a:rPr lang="en-US" sz="2000" b="1" i="1" dirty="0" err="1"/>
              <a:t>Math.round</a:t>
            </a:r>
            <a:r>
              <a:rPr lang="en-US" sz="2000" b="1" i="1" dirty="0"/>
              <a:t>(x) returns the integer that is closest to x</a:t>
            </a:r>
            <a:r>
              <a:rPr lang="en-US" sz="2000" dirty="0"/>
              <a:t>, and </a:t>
            </a:r>
            <a:r>
              <a:rPr lang="en-US" sz="2000" b="1" i="1" dirty="0" err="1"/>
              <a:t>Math.ceil</a:t>
            </a:r>
            <a:r>
              <a:rPr lang="en-US" sz="2000" b="1" i="1" dirty="0"/>
              <a:t>(x) rounds x up to an integer</a:t>
            </a:r>
            <a:r>
              <a:rPr lang="en-US" sz="2000" dirty="0"/>
              <a:t>. ("Ceil" is short for "ceiling", the opposite of "floor.")</a:t>
            </a:r>
          </a:p>
          <a:p>
            <a:pPr lvl="1">
              <a:buFont typeface="Wingdings" panose="05000000000000000000" pitchFamily="2" charset="2"/>
              <a:buChar char="Ø"/>
            </a:pPr>
            <a:r>
              <a:rPr lang="en-US" sz="2000" b="1" i="1" dirty="0" err="1"/>
              <a:t>Math.random</a:t>
            </a:r>
            <a:r>
              <a:rPr lang="en-US" sz="2000" b="1" i="1" dirty="0"/>
              <a:t>(), </a:t>
            </a:r>
            <a:r>
              <a:rPr lang="en-US" sz="2000" dirty="0"/>
              <a:t>which returns a randomly chosen double in the range 0.0 &lt;= </a:t>
            </a:r>
            <a:r>
              <a:rPr lang="en-US" sz="2000" dirty="0" err="1"/>
              <a:t>Math.random</a:t>
            </a:r>
            <a:r>
              <a:rPr lang="en-US" sz="2000" dirty="0"/>
              <a:t>() &lt; 1.0. (The computer actually calculates so-called "pseudorandom" numbers, which are not truly random but are effectively random enough for most purposes.)</a:t>
            </a:r>
          </a:p>
        </p:txBody>
      </p:sp>
    </p:spTree>
    <p:extLst>
      <p:ext uri="{BB962C8B-B14F-4D97-AF65-F5344CB8AC3E}">
        <p14:creationId xmlns:p14="http://schemas.microsoft.com/office/powerpoint/2010/main" val="1753470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48DDAB-47FC-DE7B-5321-C203C905BAEC}"/>
              </a:ext>
            </a:extLst>
          </p:cNvPr>
          <p:cNvSpPr>
            <a:spLocks noGrp="1"/>
          </p:cNvSpPr>
          <p:nvPr>
            <p:ph idx="1"/>
          </p:nvPr>
        </p:nvSpPr>
        <p:spPr>
          <a:xfrm>
            <a:off x="581192" y="1036320"/>
            <a:ext cx="11029615" cy="5410200"/>
          </a:xfrm>
        </p:spPr>
        <p:txBody>
          <a:bodyPr>
            <a:normAutofit fontScale="92500" lnSpcReduction="20000"/>
          </a:bodyPr>
          <a:lstStyle/>
          <a:p>
            <a:r>
              <a:rPr lang="en-US" sz="2400" dirty="0"/>
              <a:t>Note that </a:t>
            </a:r>
            <a:r>
              <a:rPr lang="en-US" sz="2400" dirty="0" err="1"/>
              <a:t>Math.random</a:t>
            </a:r>
            <a:r>
              <a:rPr lang="en-US" sz="2400" dirty="0"/>
              <a:t>() does not have any parameter. You still need the parentheses, even though there's nothing between them. The parentheses let the computer know that this is a subroutine rather than a variable.</a:t>
            </a:r>
          </a:p>
          <a:p>
            <a:r>
              <a:rPr lang="en-US" sz="2400" dirty="0"/>
              <a:t>Another example of a subroutine that has no parameters is the function System.currentTimeMillis(), from the System class. When this function is executed, </a:t>
            </a:r>
            <a:r>
              <a:rPr lang="en-US" sz="2400" b="1" i="1" dirty="0"/>
              <a:t>it retrieves the current time, expressed as the number of milliseconds that have passed since a standardized base time </a:t>
            </a:r>
            <a:r>
              <a:rPr lang="en-US" sz="2400" dirty="0"/>
              <a:t>(the start of the year 1970, if you care). One millisecond is one-thousandth of a second. </a:t>
            </a:r>
          </a:p>
          <a:p>
            <a:r>
              <a:rPr lang="en-US" sz="2400" dirty="0"/>
              <a:t>The return value of System.currentTimeMillis() is of type long (a 64-bit integer). This function can be used to measure the time that it takes the computer to perform a task. Just record the time at which the task is begun and the time at which it is finished and take the difference. </a:t>
            </a:r>
          </a:p>
          <a:p>
            <a:r>
              <a:rPr lang="en-US" sz="2400" dirty="0"/>
              <a:t>For more accurate timing, you can use System.nanoTime() instead. </a:t>
            </a:r>
            <a:r>
              <a:rPr lang="en-US" sz="2400" b="1" i="1" dirty="0"/>
              <a:t>System.nanoTime() returns the number of nanoseconds since some arbitrary starting time</a:t>
            </a:r>
            <a:r>
              <a:rPr lang="en-US" sz="2400" dirty="0"/>
              <a:t>, where one nanosecond is one-billionth of a second. However, you should not expect the time to be truly accurate to the nanosecond.</a:t>
            </a:r>
          </a:p>
        </p:txBody>
      </p:sp>
    </p:spTree>
    <p:extLst>
      <p:ext uri="{BB962C8B-B14F-4D97-AF65-F5344CB8AC3E}">
        <p14:creationId xmlns:p14="http://schemas.microsoft.com/office/powerpoint/2010/main" val="3799386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CB90B-435C-D204-BD1C-1C5198F8D24F}"/>
              </a:ext>
            </a:extLst>
          </p:cNvPr>
          <p:cNvSpPr>
            <a:spLocks noGrp="1"/>
          </p:cNvSpPr>
          <p:nvPr>
            <p:ph type="title"/>
          </p:nvPr>
        </p:nvSpPr>
        <p:spPr>
          <a:xfrm>
            <a:off x="581192" y="702156"/>
            <a:ext cx="11029616" cy="593244"/>
          </a:xfrm>
        </p:spPr>
        <p:txBody>
          <a:bodyPr/>
          <a:lstStyle/>
          <a:p>
            <a:r>
              <a:rPr lang="en-US" dirty="0"/>
              <a:t>Classes and Objects</a:t>
            </a:r>
          </a:p>
        </p:txBody>
      </p:sp>
      <p:sp>
        <p:nvSpPr>
          <p:cNvPr id="3" name="Content Placeholder 2">
            <a:extLst>
              <a:ext uri="{FF2B5EF4-FFF2-40B4-BE49-F238E27FC236}">
                <a16:creationId xmlns:a16="http://schemas.microsoft.com/office/drawing/2014/main" id="{AD651DFA-2A04-28A6-8DFA-E3D1DB2E947F}"/>
              </a:ext>
            </a:extLst>
          </p:cNvPr>
          <p:cNvSpPr>
            <a:spLocks noGrp="1"/>
          </p:cNvSpPr>
          <p:nvPr>
            <p:ph idx="1"/>
          </p:nvPr>
        </p:nvSpPr>
        <p:spPr>
          <a:xfrm>
            <a:off x="581192" y="1295400"/>
            <a:ext cx="11029615" cy="5120640"/>
          </a:xfrm>
        </p:spPr>
        <p:txBody>
          <a:bodyPr>
            <a:normAutofit fontScale="92500" lnSpcReduction="10000"/>
          </a:bodyPr>
          <a:lstStyle/>
          <a:p>
            <a:r>
              <a:rPr lang="en-US" sz="2400" b="1" i="1" dirty="0"/>
              <a:t>Classes can be containers for static variables and subroutines</a:t>
            </a:r>
            <a:r>
              <a:rPr lang="en-US" sz="2400" dirty="0"/>
              <a:t>. However classes also have another purpose. </a:t>
            </a:r>
            <a:r>
              <a:rPr lang="en-US" sz="2400" b="1" i="1" dirty="0"/>
              <a:t>They are used to describe objects. </a:t>
            </a:r>
            <a:r>
              <a:rPr lang="en-US" sz="2400" dirty="0"/>
              <a:t>In this role, the class is a type, in the same way that int and double are types. That is, </a:t>
            </a:r>
            <a:r>
              <a:rPr lang="en-US" sz="2400" b="1" i="1" dirty="0"/>
              <a:t>the class name can be used to declare variables</a:t>
            </a:r>
            <a:r>
              <a:rPr lang="en-US" sz="2400" dirty="0"/>
              <a:t>. Such variables can only hold one type of value. The values in this case are objects. An </a:t>
            </a:r>
            <a:r>
              <a:rPr lang="en-US" sz="2400" b="1" i="1" dirty="0"/>
              <a:t>object is a collection of variables and subroutines</a:t>
            </a:r>
            <a:r>
              <a:rPr lang="en-US" sz="2400" dirty="0"/>
              <a:t>. </a:t>
            </a:r>
          </a:p>
          <a:p>
            <a:r>
              <a:rPr lang="en-US" sz="2400" b="1" i="1" dirty="0"/>
              <a:t>Every object has an associated class that tells what "type" of object it is. </a:t>
            </a:r>
            <a:r>
              <a:rPr lang="en-US" sz="2400" dirty="0"/>
              <a:t>The class of an object specifies what subroutines and variables that object contains. All objects defined by the same class are similar in that they contain similar collections of variables and subroutines. For example, an object might represent a point in the plane, and it might contain variables named x and y to represent the coordinates of that point. </a:t>
            </a:r>
          </a:p>
          <a:p>
            <a:r>
              <a:rPr lang="en-US" sz="2400" dirty="0"/>
              <a:t>Every point object would have an x and a y, but different points would have different values for these variables. A class, named Point for example, could exist to define the common structure of all point objects, and all such objects would then be values of type Point.</a:t>
            </a:r>
          </a:p>
        </p:txBody>
      </p:sp>
    </p:spTree>
    <p:extLst>
      <p:ext uri="{BB962C8B-B14F-4D97-AF65-F5344CB8AC3E}">
        <p14:creationId xmlns:p14="http://schemas.microsoft.com/office/powerpoint/2010/main" val="2906873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EB90C8-2292-065B-B1B6-797661C9282D}"/>
              </a:ext>
            </a:extLst>
          </p:cNvPr>
          <p:cNvSpPr>
            <a:spLocks noGrp="1"/>
          </p:cNvSpPr>
          <p:nvPr>
            <p:ph idx="1"/>
          </p:nvPr>
        </p:nvSpPr>
        <p:spPr>
          <a:xfrm>
            <a:off x="581192" y="960120"/>
            <a:ext cx="11029615" cy="5318760"/>
          </a:xfrm>
        </p:spPr>
        <p:txBody>
          <a:bodyPr>
            <a:normAutofit fontScale="92500" lnSpcReduction="20000"/>
          </a:bodyPr>
          <a:lstStyle/>
          <a:p>
            <a:r>
              <a:rPr lang="en-US" sz="2400" dirty="0"/>
              <a:t>As another example, let's look again at System.out.println. </a:t>
            </a:r>
            <a:r>
              <a:rPr lang="en-US" sz="2400" b="1" i="1" dirty="0"/>
              <a:t>System is a class</a:t>
            </a:r>
            <a:r>
              <a:rPr lang="en-US" sz="2400" dirty="0"/>
              <a:t>, </a:t>
            </a:r>
            <a:r>
              <a:rPr lang="en-US" sz="2400" b="1" i="1" dirty="0"/>
              <a:t>and out is a static variable within that class</a:t>
            </a:r>
            <a:r>
              <a:rPr lang="en-US" sz="2400" dirty="0"/>
              <a:t>. However, the </a:t>
            </a:r>
            <a:r>
              <a:rPr lang="en-US" sz="2400" b="1" i="1" dirty="0"/>
              <a:t>value of System.out is an object</a:t>
            </a:r>
            <a:r>
              <a:rPr lang="en-US" sz="2400" dirty="0"/>
              <a:t>, and </a:t>
            </a:r>
            <a:r>
              <a:rPr lang="en-US" sz="2400" b="1" i="1" dirty="0"/>
              <a:t>System.out.println is actually the full name of a subroutine </a:t>
            </a:r>
            <a:r>
              <a:rPr lang="en-US" sz="2400" dirty="0"/>
              <a:t>that is contained in the object System.out. </a:t>
            </a:r>
          </a:p>
          <a:p>
            <a:r>
              <a:rPr lang="en-US" sz="2400" dirty="0"/>
              <a:t>You don't need to understand it at this point, but the object referred to by System.out is an object of the class </a:t>
            </a:r>
            <a:r>
              <a:rPr lang="en-US" sz="2400" b="1" i="1" dirty="0"/>
              <a:t>PrintStream.</a:t>
            </a:r>
            <a:r>
              <a:rPr lang="en-US" sz="2400" dirty="0"/>
              <a:t> PrintStream is another class that is a standard part of Java. Any object of type PrintStream is a destination to which information can be printed; any object of type PrintStream has a println subroutine that can be used to send information to that destination.</a:t>
            </a:r>
          </a:p>
          <a:p>
            <a:r>
              <a:rPr lang="en-US" sz="2400" dirty="0"/>
              <a:t>The </a:t>
            </a:r>
            <a:r>
              <a:rPr lang="en-US" sz="2400" b="1" i="1" dirty="0"/>
              <a:t>object System.out is just one possible destination, and System.out.println is a subroutine that sends information to that particular destination</a:t>
            </a:r>
            <a:r>
              <a:rPr lang="en-US" sz="2400" dirty="0"/>
              <a:t>. Other objects of type PrintStream might send information to other destinations such as files or across a network to other computers. This is object-oriented programming: Many different things which have something in common—they can all be used as destinations for output—can all be used in the same way—through a println subroutine. The PrintStream class expresses the commonalities among all these objects.</a:t>
            </a:r>
          </a:p>
        </p:txBody>
      </p:sp>
    </p:spTree>
    <p:extLst>
      <p:ext uri="{BB962C8B-B14F-4D97-AF65-F5344CB8AC3E}">
        <p14:creationId xmlns:p14="http://schemas.microsoft.com/office/powerpoint/2010/main" val="497623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C22731-F801-011D-1275-A8802D1ECC99}"/>
              </a:ext>
            </a:extLst>
          </p:cNvPr>
          <p:cNvSpPr>
            <a:spLocks noGrp="1"/>
          </p:cNvSpPr>
          <p:nvPr>
            <p:ph idx="1"/>
          </p:nvPr>
        </p:nvSpPr>
        <p:spPr>
          <a:xfrm>
            <a:off x="581192" y="777240"/>
            <a:ext cx="11029615" cy="5806440"/>
          </a:xfrm>
        </p:spPr>
        <p:txBody>
          <a:bodyPr>
            <a:normAutofit fontScale="92500" lnSpcReduction="20000"/>
          </a:bodyPr>
          <a:lstStyle/>
          <a:p>
            <a:r>
              <a:rPr lang="en-US" sz="2600" dirty="0"/>
              <a:t>By the way, </a:t>
            </a:r>
            <a:r>
              <a:rPr lang="en-US" sz="2600" b="1" i="1" dirty="0"/>
              <a:t>since class names and variable names are used in similar ways, it might be hard to tell which is which</a:t>
            </a:r>
            <a:r>
              <a:rPr lang="en-US" sz="2600" dirty="0"/>
              <a:t>. Remember that </a:t>
            </a:r>
            <a:r>
              <a:rPr lang="en-US" sz="2600" b="1" i="1" dirty="0"/>
              <a:t>all the built-in, predefined names in Java follow the rule that class names begin with an upper case letter while variable names begin with a lower case letter</a:t>
            </a:r>
            <a:r>
              <a:rPr lang="en-US" sz="2600" dirty="0"/>
              <a:t>. While this is not a formal syntax rule, I strongly recommend that you follow it in your own programming. </a:t>
            </a:r>
          </a:p>
          <a:p>
            <a:r>
              <a:rPr lang="en-US" sz="2600" b="1" i="1" dirty="0"/>
              <a:t>Subroutine names should also begin with lower case letters</a:t>
            </a:r>
            <a:r>
              <a:rPr lang="en-US" sz="2600" dirty="0"/>
              <a:t>. There is no possibility of confusing a variable with a subroutine, since a subroutine name in a program is always followed by a left parenthesis.</a:t>
            </a:r>
          </a:p>
          <a:p>
            <a:r>
              <a:rPr lang="en-US" sz="2600" dirty="0"/>
              <a:t>As one final general note, you should be aware that </a:t>
            </a:r>
            <a:r>
              <a:rPr lang="en-US" sz="2600" b="1" i="1" dirty="0"/>
              <a:t>subroutines in Java are often referred to as methods</a:t>
            </a:r>
            <a:r>
              <a:rPr lang="en-US" sz="2600" dirty="0"/>
              <a:t>. Generally, </a:t>
            </a:r>
            <a:r>
              <a:rPr lang="en-US" sz="2600" b="1" i="1" dirty="0"/>
              <a:t>the term "method" means a subroutine that is contained in a class or in an object</a:t>
            </a:r>
            <a:r>
              <a:rPr lang="en-US" sz="2600" dirty="0"/>
              <a:t>. Since this is true of every subroutine in Java, every subroutine in Java is a method. </a:t>
            </a:r>
          </a:p>
          <a:p>
            <a:r>
              <a:rPr lang="en-US" sz="2600" dirty="0"/>
              <a:t>The same is not true for other programming languages, and for the time being, I will prefer to use the more general term, "subroutine." However, I should note that some people prefer to use the term "method" from the beginning.</a:t>
            </a:r>
            <a:endParaRPr lang="en-US" dirty="0"/>
          </a:p>
          <a:p>
            <a:endParaRPr lang="en-US" dirty="0"/>
          </a:p>
        </p:txBody>
      </p:sp>
    </p:spTree>
    <p:extLst>
      <p:ext uri="{BB962C8B-B14F-4D97-AF65-F5344CB8AC3E}">
        <p14:creationId xmlns:p14="http://schemas.microsoft.com/office/powerpoint/2010/main" val="3243437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381B-570A-CDDF-A1B7-7C6CA69D7D23}"/>
              </a:ext>
            </a:extLst>
          </p:cNvPr>
          <p:cNvSpPr>
            <a:spLocks noGrp="1"/>
          </p:cNvSpPr>
          <p:nvPr>
            <p:ph type="title"/>
          </p:nvPr>
        </p:nvSpPr>
        <p:spPr>
          <a:xfrm>
            <a:off x="581192" y="702156"/>
            <a:ext cx="11029616" cy="623724"/>
          </a:xfrm>
        </p:spPr>
        <p:txBody>
          <a:bodyPr/>
          <a:lstStyle/>
          <a:p>
            <a:r>
              <a:rPr lang="en-US" dirty="0"/>
              <a:t>Operations on Strings</a:t>
            </a:r>
          </a:p>
        </p:txBody>
      </p:sp>
      <p:sp>
        <p:nvSpPr>
          <p:cNvPr id="3" name="Content Placeholder 2">
            <a:extLst>
              <a:ext uri="{FF2B5EF4-FFF2-40B4-BE49-F238E27FC236}">
                <a16:creationId xmlns:a16="http://schemas.microsoft.com/office/drawing/2014/main" id="{80BF7BE9-2B03-0C71-7EA8-B5258AB146B8}"/>
              </a:ext>
            </a:extLst>
          </p:cNvPr>
          <p:cNvSpPr>
            <a:spLocks noGrp="1"/>
          </p:cNvSpPr>
          <p:nvPr>
            <p:ph idx="1"/>
          </p:nvPr>
        </p:nvSpPr>
        <p:spPr>
          <a:xfrm>
            <a:off x="581192" y="1325880"/>
            <a:ext cx="11029615" cy="5227320"/>
          </a:xfrm>
        </p:spPr>
        <p:txBody>
          <a:bodyPr>
            <a:normAutofit/>
          </a:bodyPr>
          <a:lstStyle/>
          <a:p>
            <a:r>
              <a:rPr lang="en-US" dirty="0"/>
              <a:t>String is a class, and a value of type String is an object. That object contains data, namely the sequence of characters that make up the string. It also contains subroutines. All of these subroutines are in fact functions. For example, every string object contains a function named length that computes the number of characters in that string. Suppose that advice is a variable that refers to a String. For example, advice might have been declared and assigned a value as follows:</a:t>
            </a:r>
          </a:p>
          <a:p>
            <a:pPr lvl="1"/>
            <a:r>
              <a:rPr lang="en-US" dirty="0"/>
              <a:t>String advice;</a:t>
            </a:r>
          </a:p>
          <a:p>
            <a:pPr lvl="1"/>
            <a:r>
              <a:rPr lang="en-US" dirty="0"/>
              <a:t>advice = "Seize the day!";</a:t>
            </a:r>
          </a:p>
          <a:p>
            <a:r>
              <a:rPr lang="en-US" dirty="0"/>
              <a:t>Then advice.length() is a function call that returns the number of characters in the string "Seize the day!". In this case, the return value would be 14. In general, for any variable str of type String, the value of str.length() is an int equal to the number of characters in the string. Note that this function has no parameter; the particular string whose length is being computed is the value of str. The length subroutine is defined by the class String, and it can be used with any value of type String. It can even be used with String literals, which are, after all, just constant values of type String. For example, you could have a program count the characters in "Hello World" for you by saying</a:t>
            </a:r>
          </a:p>
          <a:p>
            <a:pPr lvl="1"/>
            <a:r>
              <a:rPr lang="en-US" dirty="0"/>
              <a:t>System.out.print("The number of characters in ");</a:t>
            </a:r>
          </a:p>
          <a:p>
            <a:pPr lvl="1"/>
            <a:r>
              <a:rPr lang="en-US" dirty="0"/>
              <a:t>System.out.print("the string \"Hello World\" is ");</a:t>
            </a:r>
          </a:p>
          <a:p>
            <a:pPr lvl="1"/>
            <a:r>
              <a:rPr lang="en-US" dirty="0"/>
              <a:t>System.out.println( "Hello World".length() );</a:t>
            </a:r>
          </a:p>
        </p:txBody>
      </p:sp>
    </p:spTree>
    <p:extLst>
      <p:ext uri="{BB962C8B-B14F-4D97-AF65-F5344CB8AC3E}">
        <p14:creationId xmlns:p14="http://schemas.microsoft.com/office/powerpoint/2010/main" val="3372685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18789F-C927-7E1E-BA77-D30F15B6590A}"/>
              </a:ext>
            </a:extLst>
          </p:cNvPr>
          <p:cNvSpPr>
            <a:spLocks noGrp="1"/>
          </p:cNvSpPr>
          <p:nvPr>
            <p:ph idx="1"/>
          </p:nvPr>
        </p:nvSpPr>
        <p:spPr>
          <a:xfrm>
            <a:off x="581192" y="762000"/>
            <a:ext cx="11029615" cy="5730240"/>
          </a:xfrm>
        </p:spPr>
        <p:txBody>
          <a:bodyPr>
            <a:normAutofit/>
          </a:bodyPr>
          <a:lstStyle/>
          <a:p>
            <a:r>
              <a:rPr lang="en-US" sz="2000" dirty="0"/>
              <a:t>The String class defines a lot of functions. Here are some that you might find useful. Assume that s1 and s2 are variables of type String:</a:t>
            </a:r>
          </a:p>
          <a:p>
            <a:pPr lvl="1">
              <a:buFont typeface="Wingdings" panose="05000000000000000000" pitchFamily="2" charset="2"/>
              <a:buChar char="Ø"/>
            </a:pPr>
            <a:r>
              <a:rPr lang="en-US" sz="1800" i="1" dirty="0"/>
              <a:t>s1.equals(s2) </a:t>
            </a:r>
            <a:r>
              <a:rPr lang="en-US" sz="1800" dirty="0"/>
              <a:t>is a function that returns a </a:t>
            </a:r>
            <a:r>
              <a:rPr lang="en-US" sz="1800" b="1" i="1" dirty="0"/>
              <a:t>boolean </a:t>
            </a:r>
            <a:r>
              <a:rPr lang="en-US" sz="1800" dirty="0"/>
              <a:t>value. It returns true if s1 consists of exactly the same sequence of characters as s2, and returns false otherwise.</a:t>
            </a:r>
          </a:p>
          <a:p>
            <a:pPr lvl="1">
              <a:buFont typeface="Wingdings" panose="05000000000000000000" pitchFamily="2" charset="2"/>
              <a:buChar char="Ø"/>
            </a:pPr>
            <a:r>
              <a:rPr lang="en-US" sz="1800" b="1" i="1" dirty="0"/>
              <a:t>s1.equalsIgnoreCase(s2) </a:t>
            </a:r>
            <a:r>
              <a:rPr lang="en-US" sz="1800" dirty="0"/>
              <a:t>is another boolean-valued function that checks whether s1 is the same string as s2, but this function considers upper and lower case letters to be equivalent. Thus, if s1 is "cat", then s1.equals("Cat") is false, while s1.equalsIgnoreCase("Cat") is true.</a:t>
            </a:r>
          </a:p>
          <a:p>
            <a:pPr lvl="1">
              <a:buFont typeface="Wingdings" panose="05000000000000000000" pitchFamily="2" charset="2"/>
              <a:buChar char="Ø"/>
            </a:pPr>
            <a:r>
              <a:rPr lang="en-US" sz="1800" b="1" i="1" dirty="0"/>
              <a:t>s1.length(), </a:t>
            </a:r>
            <a:r>
              <a:rPr lang="en-US" sz="1800" dirty="0"/>
              <a:t>as mentioned above, is an integer-valued function that gives the number of characters in s1.</a:t>
            </a:r>
          </a:p>
          <a:p>
            <a:pPr lvl="1">
              <a:buFont typeface="Wingdings" panose="05000000000000000000" pitchFamily="2" charset="2"/>
              <a:buChar char="Ø"/>
            </a:pPr>
            <a:r>
              <a:rPr lang="en-US" sz="1800" b="1" i="1" dirty="0"/>
              <a:t>s1.charAt(N), </a:t>
            </a:r>
            <a:r>
              <a:rPr lang="en-US" sz="1800" dirty="0"/>
              <a:t>where N is an integer, returns a value of type </a:t>
            </a:r>
            <a:r>
              <a:rPr lang="en-US" sz="1800" b="1" i="1" dirty="0"/>
              <a:t>char</a:t>
            </a:r>
            <a:r>
              <a:rPr lang="en-US" sz="1800" dirty="0"/>
              <a:t>. It returns the Nth character in the string. Positions are numbered starting with 0, so s1.charAt(0) is actually the first character, s1.charAt(1) is the second, and so on. The final position is s1.length() - 1. For example, the value of "cat".</a:t>
            </a:r>
            <a:r>
              <a:rPr lang="en-US" sz="1800" dirty="0" err="1"/>
              <a:t>charAt</a:t>
            </a:r>
            <a:r>
              <a:rPr lang="en-US" sz="1800" dirty="0"/>
              <a:t>(1) is 'a'. An error occurs if the value of the parameter is less than zero or is greater than or equal to s1.length().</a:t>
            </a:r>
          </a:p>
          <a:p>
            <a:pPr lvl="1">
              <a:buFont typeface="Wingdings" panose="05000000000000000000" pitchFamily="2" charset="2"/>
              <a:buChar char="Ø"/>
            </a:pPr>
            <a:r>
              <a:rPr lang="en-US" sz="1800" b="1" i="1" dirty="0"/>
              <a:t>s1.substring(N,M), </a:t>
            </a:r>
            <a:r>
              <a:rPr lang="en-US" sz="1800" dirty="0"/>
              <a:t>where N and M are integers, returns a value of type </a:t>
            </a:r>
            <a:r>
              <a:rPr lang="en-US" sz="1800" b="1" i="1" dirty="0"/>
              <a:t>String. </a:t>
            </a:r>
            <a:r>
              <a:rPr lang="en-US" sz="1800" dirty="0"/>
              <a:t>The returned value consists of the characters of s1 in positions N, N+1,..., M-1. Remember that character positions are numbered starting from zero. Note that the character in position M is not included. The returned value is called a substring of s1. The subroutine s1.substring(N), with just one parameter, returns the substring of s1 consisting of characters starting at position N up until the end of the string.</a:t>
            </a:r>
          </a:p>
        </p:txBody>
      </p:sp>
    </p:spTree>
    <p:extLst>
      <p:ext uri="{BB962C8B-B14F-4D97-AF65-F5344CB8AC3E}">
        <p14:creationId xmlns:p14="http://schemas.microsoft.com/office/powerpoint/2010/main" val="396964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FDB46B-17DF-3F62-0847-ADAF6E644355}"/>
              </a:ext>
            </a:extLst>
          </p:cNvPr>
          <p:cNvSpPr>
            <a:spLocks noGrp="1"/>
          </p:cNvSpPr>
          <p:nvPr>
            <p:ph idx="1"/>
          </p:nvPr>
        </p:nvSpPr>
        <p:spPr>
          <a:xfrm>
            <a:off x="581192" y="929640"/>
            <a:ext cx="11029615" cy="5501640"/>
          </a:xfrm>
        </p:spPr>
        <p:txBody>
          <a:bodyPr>
            <a:normAutofit lnSpcReduction="10000"/>
          </a:bodyPr>
          <a:lstStyle/>
          <a:p>
            <a:pPr lvl="1">
              <a:buFont typeface="Wingdings" panose="05000000000000000000" pitchFamily="2" charset="2"/>
              <a:buChar char="Ø"/>
            </a:pPr>
            <a:r>
              <a:rPr lang="en-US" sz="2000" b="1" dirty="0"/>
              <a:t>s1.indexOf(s2) </a:t>
            </a:r>
            <a:r>
              <a:rPr lang="en-US" sz="2000" dirty="0"/>
              <a:t>returns an integer. If s2 occurs as a substring of s1, then the returned value is the starting position of that substring. Otherwise, the returned value is -1. You can also use s1.indexOf(ch) to search for a </a:t>
            </a:r>
            <a:r>
              <a:rPr lang="en-US" sz="2000" b="1" i="1" dirty="0"/>
              <a:t>char,</a:t>
            </a:r>
            <a:r>
              <a:rPr lang="en-US" sz="2000" dirty="0"/>
              <a:t> ch, in s1. To find the first occurrence of x at or after position N, you can use s1.indexOf(</a:t>
            </a:r>
            <a:r>
              <a:rPr lang="en-US" sz="2000" dirty="0" err="1"/>
              <a:t>x,N</a:t>
            </a:r>
            <a:r>
              <a:rPr lang="en-US" sz="2000" dirty="0"/>
              <a:t>). To find the last occurrence of x in s1, use s1.lastIndexOf(x).</a:t>
            </a:r>
          </a:p>
          <a:p>
            <a:pPr lvl="1">
              <a:buFont typeface="Wingdings" panose="05000000000000000000" pitchFamily="2" charset="2"/>
              <a:buChar char="Ø"/>
            </a:pPr>
            <a:r>
              <a:rPr lang="en-US" sz="2000" b="1" dirty="0"/>
              <a:t>s1.compareTo(s2) </a:t>
            </a:r>
            <a:r>
              <a:rPr lang="en-US" sz="2000" dirty="0"/>
              <a:t>is an integer-valued function that compares the two strings. If the strings are equal, the value returned is zero. If s1 is less than s2, the value returned is a number less than zero, and if s1 is greater than s2, the value returned is some number greater than zero. There is also a function s1.compareToIgnoreCase(s2). (If both of the strings consist entirely of lower case letters, or if they consist entirely of upper case letters, then "less than" and "greater than" refer to alphabetical order. Otherwise, the ordering is more complicated; it compares individual characters using their Unicode code numbers.)</a:t>
            </a:r>
          </a:p>
          <a:p>
            <a:pPr lvl="1">
              <a:buFont typeface="Wingdings" panose="05000000000000000000" pitchFamily="2" charset="2"/>
              <a:buChar char="Ø"/>
            </a:pPr>
            <a:r>
              <a:rPr lang="en-US" sz="2000" b="1" dirty="0"/>
              <a:t>s1.toUpperCase() </a:t>
            </a:r>
            <a:r>
              <a:rPr lang="en-US" sz="2000" dirty="0"/>
              <a:t>is a String-valued function that returns a new </a:t>
            </a:r>
            <a:r>
              <a:rPr lang="en-US" sz="2000" b="1" i="1" dirty="0"/>
              <a:t>string</a:t>
            </a:r>
            <a:r>
              <a:rPr lang="en-US" sz="2000" dirty="0"/>
              <a:t> that is equal to s1, except that any lower case letters in s1 have been converted to upper case. For example, "Cat".</a:t>
            </a:r>
            <a:r>
              <a:rPr lang="en-US" sz="2000" dirty="0" err="1"/>
              <a:t>toUpperCase</a:t>
            </a:r>
            <a:r>
              <a:rPr lang="en-US" sz="2000" dirty="0"/>
              <a:t>() is the string "CAT". There is also a function s1.toLowerCase().</a:t>
            </a:r>
          </a:p>
          <a:p>
            <a:pPr lvl="1">
              <a:buFont typeface="Wingdings" panose="05000000000000000000" pitchFamily="2" charset="2"/>
              <a:buChar char="Ø"/>
            </a:pPr>
            <a:r>
              <a:rPr lang="en-US" sz="2000" b="1" dirty="0"/>
              <a:t>s1.trim() </a:t>
            </a:r>
            <a:r>
              <a:rPr lang="en-US" sz="2000" dirty="0"/>
              <a:t>is a String-valued function that returns a new </a:t>
            </a:r>
            <a:r>
              <a:rPr lang="en-US" sz="2000" b="1" i="1" dirty="0"/>
              <a:t>string</a:t>
            </a:r>
            <a:r>
              <a:rPr lang="en-US" sz="2000" dirty="0"/>
              <a:t> that is equal to s1 except that any non-printing characters such as spaces and tabs have been trimmed from the beginning and from the end of the string. Thus, if s1 has the value "</a:t>
            </a:r>
            <a:r>
              <a:rPr lang="en-US" sz="2000" dirty="0" err="1"/>
              <a:t>fred</a:t>
            </a:r>
            <a:r>
              <a:rPr lang="en-US" sz="2000" dirty="0"/>
              <a:t>  ", then s1.trim() is the string "</a:t>
            </a:r>
            <a:r>
              <a:rPr lang="en-US" sz="2000" dirty="0" err="1"/>
              <a:t>fred</a:t>
            </a:r>
            <a:r>
              <a:rPr lang="en-US" sz="2000" dirty="0"/>
              <a:t>", with the spaces at the end removed.</a:t>
            </a:r>
          </a:p>
        </p:txBody>
      </p:sp>
    </p:spTree>
    <p:extLst>
      <p:ext uri="{BB962C8B-B14F-4D97-AF65-F5344CB8AC3E}">
        <p14:creationId xmlns:p14="http://schemas.microsoft.com/office/powerpoint/2010/main" val="8949720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E565A-A112-AD9C-36CA-0500CA6BE654}"/>
              </a:ext>
            </a:extLst>
          </p:cNvPr>
          <p:cNvSpPr>
            <a:spLocks noGrp="1"/>
          </p:cNvSpPr>
          <p:nvPr>
            <p:ph idx="1"/>
          </p:nvPr>
        </p:nvSpPr>
        <p:spPr>
          <a:xfrm>
            <a:off x="581192" y="899160"/>
            <a:ext cx="11029615" cy="5532120"/>
          </a:xfrm>
        </p:spPr>
        <p:txBody>
          <a:bodyPr>
            <a:normAutofit/>
          </a:bodyPr>
          <a:lstStyle/>
          <a:p>
            <a:r>
              <a:rPr lang="en-US" sz="2400" dirty="0"/>
              <a:t>For the functions s1.toUpperCase(), s1.toLowerCase(), and s1.trim(), note that the value of s1 is not changed. Instead a new string is created and returned as the value of the function. The returned value could be used, for example, in an assignment statement such as "</a:t>
            </a:r>
            <a:r>
              <a:rPr lang="en-US" sz="2400" dirty="0" err="1"/>
              <a:t>smallLetters</a:t>
            </a:r>
            <a:r>
              <a:rPr lang="en-US" sz="2400" dirty="0"/>
              <a:t> = s1.toLowerCase();". To change the value of s1, you could use an assignment "s1 = s1.toLowerCase();".</a:t>
            </a:r>
          </a:p>
          <a:p>
            <a:r>
              <a:rPr lang="en-US" sz="2400" dirty="0"/>
              <a:t>Here is another extremely useful fact about strings: You can </a:t>
            </a:r>
            <a:r>
              <a:rPr lang="en-US" sz="2400" b="1" i="1" dirty="0"/>
              <a:t>use the plus operator, +, to concatenate two strings</a:t>
            </a:r>
            <a:r>
              <a:rPr lang="en-US" sz="2400" dirty="0"/>
              <a:t>. The concatenation of two strings is a new string consisting of all the characters of the first string followed by all the characters of the second string. For example, "Hello" + "World" evaluates to "HelloWorld". (Gotta watch those spaces, of course—if you want a space in the concatenated string, it has to be somewhere in the input data, as in "Hello " + "World".)</a:t>
            </a:r>
          </a:p>
        </p:txBody>
      </p:sp>
    </p:spTree>
    <p:extLst>
      <p:ext uri="{BB962C8B-B14F-4D97-AF65-F5344CB8AC3E}">
        <p14:creationId xmlns:p14="http://schemas.microsoft.com/office/powerpoint/2010/main" val="1024456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718EF2-5D3A-4EC0-9530-A8A3E7176461}"/>
              </a:ext>
            </a:extLst>
          </p:cNvPr>
          <p:cNvSpPr>
            <a:spLocks noGrp="1"/>
          </p:cNvSpPr>
          <p:nvPr>
            <p:ph idx="1"/>
          </p:nvPr>
        </p:nvSpPr>
        <p:spPr>
          <a:xfrm>
            <a:off x="581192" y="670560"/>
            <a:ext cx="11029615" cy="5989320"/>
          </a:xfrm>
        </p:spPr>
        <p:txBody>
          <a:bodyPr>
            <a:noAutofit/>
          </a:bodyPr>
          <a:lstStyle/>
          <a:p>
            <a:r>
              <a:rPr lang="en-US" sz="2000" dirty="0"/>
              <a:t>Let's suppose that name is a variable of type String and that it already refers to the name of the person using the program. Then, the program could greet the user by executing the statement:</a:t>
            </a:r>
          </a:p>
          <a:p>
            <a:pPr lvl="1">
              <a:buFont typeface="Wingdings" panose="05000000000000000000" pitchFamily="2" charset="2"/>
              <a:buChar char="Ø"/>
            </a:pPr>
            <a:r>
              <a:rPr lang="en-US" sz="2000" dirty="0"/>
              <a:t>System.out.println("Hello, "  +  name  +  ".  Pleased to meet you!");</a:t>
            </a:r>
          </a:p>
          <a:p>
            <a:r>
              <a:rPr lang="en-US" sz="2000" dirty="0"/>
              <a:t>Even more surprising is that you can actually concatenate values of any type onto a String using the + operator. The value is converted to a string, just as it would be if you printed it to the standard output, and then that string is concatenated with the other string. For example, the expression "Number" + 42 evaluates to the string "Number42". And the statements</a:t>
            </a:r>
          </a:p>
          <a:p>
            <a:pPr lvl="1">
              <a:buFont typeface="Wingdings" panose="05000000000000000000" pitchFamily="2" charset="2"/>
              <a:buChar char="Ø"/>
            </a:pPr>
            <a:r>
              <a:rPr lang="en-US" sz="2000" dirty="0"/>
              <a:t>System.out.print("After ");</a:t>
            </a:r>
          </a:p>
          <a:p>
            <a:pPr lvl="1">
              <a:buFont typeface="Wingdings" panose="05000000000000000000" pitchFamily="2" charset="2"/>
              <a:buChar char="Ø"/>
            </a:pPr>
            <a:r>
              <a:rPr lang="en-US" sz="2000" dirty="0"/>
              <a:t>System.out.print(years);</a:t>
            </a:r>
          </a:p>
          <a:p>
            <a:pPr lvl="1">
              <a:buFont typeface="Wingdings" panose="05000000000000000000" pitchFamily="2" charset="2"/>
              <a:buChar char="Ø"/>
            </a:pPr>
            <a:r>
              <a:rPr lang="en-US" sz="2000" dirty="0"/>
              <a:t>System.out.print(" years, the value is ");</a:t>
            </a:r>
          </a:p>
          <a:p>
            <a:pPr lvl="1">
              <a:buFont typeface="Wingdings" panose="05000000000000000000" pitchFamily="2" charset="2"/>
              <a:buChar char="Ø"/>
            </a:pPr>
            <a:r>
              <a:rPr lang="en-US" sz="2000" dirty="0"/>
              <a:t>System.out.print(principal);</a:t>
            </a:r>
          </a:p>
          <a:p>
            <a:pPr lvl="1">
              <a:buFont typeface="Wingdings" panose="05000000000000000000" pitchFamily="2" charset="2"/>
              <a:buChar char="Ø"/>
            </a:pPr>
            <a:r>
              <a:rPr lang="en-US" sz="2000" dirty="0"/>
              <a:t>can be replaced by the single statement:</a:t>
            </a:r>
          </a:p>
          <a:p>
            <a:pPr lvl="1">
              <a:buFont typeface="Wingdings" panose="05000000000000000000" pitchFamily="2" charset="2"/>
              <a:buChar char="Ø"/>
            </a:pPr>
            <a:r>
              <a:rPr lang="en-US" sz="2000" dirty="0"/>
              <a:t>System.out.print("After " + years + </a:t>
            </a:r>
          </a:p>
          <a:p>
            <a:pPr lvl="1">
              <a:buFont typeface="Wingdings" panose="05000000000000000000" pitchFamily="2" charset="2"/>
              <a:buChar char="Ø"/>
            </a:pPr>
            <a:r>
              <a:rPr lang="en-US" sz="2000" dirty="0"/>
              <a:t>                    " years, the value is " + principal);</a:t>
            </a:r>
          </a:p>
        </p:txBody>
      </p:sp>
    </p:spTree>
    <p:extLst>
      <p:ext uri="{BB962C8B-B14F-4D97-AF65-F5344CB8AC3E}">
        <p14:creationId xmlns:p14="http://schemas.microsoft.com/office/powerpoint/2010/main" val="1353782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0EFC-79CE-80C3-5A39-1B9151658A7C}"/>
              </a:ext>
            </a:extLst>
          </p:cNvPr>
          <p:cNvSpPr>
            <a:spLocks noGrp="1"/>
          </p:cNvSpPr>
          <p:nvPr>
            <p:ph type="title"/>
          </p:nvPr>
        </p:nvSpPr>
        <p:spPr>
          <a:xfrm>
            <a:off x="581192" y="702156"/>
            <a:ext cx="11029616" cy="669444"/>
          </a:xfrm>
        </p:spPr>
        <p:txBody>
          <a:bodyPr/>
          <a:lstStyle/>
          <a:p>
            <a:r>
              <a:rPr lang="en-US" dirty="0"/>
              <a:t>Text Blocks: Multiline Strings</a:t>
            </a:r>
          </a:p>
        </p:txBody>
      </p:sp>
      <p:sp>
        <p:nvSpPr>
          <p:cNvPr id="3" name="Content Placeholder 2">
            <a:extLst>
              <a:ext uri="{FF2B5EF4-FFF2-40B4-BE49-F238E27FC236}">
                <a16:creationId xmlns:a16="http://schemas.microsoft.com/office/drawing/2014/main" id="{A933ADD5-EF73-010E-A900-3C605C59A6B5}"/>
              </a:ext>
            </a:extLst>
          </p:cNvPr>
          <p:cNvSpPr>
            <a:spLocks noGrp="1"/>
          </p:cNvSpPr>
          <p:nvPr>
            <p:ph idx="1"/>
          </p:nvPr>
        </p:nvSpPr>
        <p:spPr>
          <a:xfrm>
            <a:off x="581192" y="1554480"/>
            <a:ext cx="11029615" cy="5044440"/>
          </a:xfrm>
        </p:spPr>
        <p:txBody>
          <a:bodyPr>
            <a:normAutofit fontScale="92500" lnSpcReduction="20000"/>
          </a:bodyPr>
          <a:lstStyle/>
          <a:p>
            <a:r>
              <a:rPr lang="en-US" sz="2400" dirty="0"/>
              <a:t>Representing long strings that extend over several lines can be tedious. The end-of-line characters in the string can be represented by an escaped "n" (that is, by \n), and the full string could be broken into several parts that are concatenated together using + operators. For example,</a:t>
            </a:r>
          </a:p>
          <a:p>
            <a:pPr lvl="1">
              <a:buFont typeface="Wingdings" panose="05000000000000000000" pitchFamily="2" charset="2"/>
              <a:buChar char="Ø"/>
            </a:pPr>
            <a:r>
              <a:rPr lang="en-US" sz="2000" dirty="0"/>
              <a:t>String poem = "As I was walking down the stair,\n"</a:t>
            </a:r>
          </a:p>
          <a:p>
            <a:pPr lvl="1">
              <a:buFont typeface="Wingdings" panose="05000000000000000000" pitchFamily="2" charset="2"/>
              <a:buChar char="Ø"/>
            </a:pPr>
            <a:r>
              <a:rPr lang="en-US" sz="2000" dirty="0"/>
              <a:t>    + "   I met a man who wasn't there.\n"</a:t>
            </a:r>
          </a:p>
          <a:p>
            <a:pPr lvl="1">
              <a:buFont typeface="Wingdings" panose="05000000000000000000" pitchFamily="2" charset="2"/>
              <a:buChar char="Ø"/>
            </a:pPr>
            <a:r>
              <a:rPr lang="en-US" sz="2000" dirty="0"/>
              <a:t>    + "He wasn't there again today.\n"</a:t>
            </a:r>
          </a:p>
          <a:p>
            <a:pPr lvl="1">
              <a:buFont typeface="Wingdings" panose="05000000000000000000" pitchFamily="2" charset="2"/>
              <a:buChar char="Ø"/>
            </a:pPr>
            <a:r>
              <a:rPr lang="en-US" sz="2000" dirty="0"/>
              <a:t>    + "   I wish, I wish he'd go away!";</a:t>
            </a:r>
          </a:p>
          <a:p>
            <a:r>
              <a:rPr lang="en-US" sz="2400" dirty="0"/>
              <a:t>However, Java 17 defines a new kind of string literal that makes it easier to represent multiline strings. (Recall that a "literal" is something you type in program to represent a constant value.) </a:t>
            </a:r>
          </a:p>
          <a:p>
            <a:r>
              <a:rPr lang="en-US" sz="2400" dirty="0"/>
              <a:t>The new literals are called text blocks. A text block starts with a string of three double-quote characters, followed by optional white space and then a new line. The white space and newline are not part of the string constant that is represented by the text block.</a:t>
            </a:r>
          </a:p>
        </p:txBody>
      </p:sp>
    </p:spTree>
    <p:extLst>
      <p:ext uri="{BB962C8B-B14F-4D97-AF65-F5344CB8AC3E}">
        <p14:creationId xmlns:p14="http://schemas.microsoft.com/office/powerpoint/2010/main" val="3886475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61C1C0-F94D-2706-F3D2-BDD16F10B583}"/>
              </a:ext>
            </a:extLst>
          </p:cNvPr>
          <p:cNvSpPr>
            <a:spLocks noGrp="1"/>
          </p:cNvSpPr>
          <p:nvPr>
            <p:ph idx="1"/>
          </p:nvPr>
        </p:nvSpPr>
        <p:spPr>
          <a:xfrm>
            <a:off x="581192" y="899160"/>
            <a:ext cx="11029615" cy="5638800"/>
          </a:xfrm>
        </p:spPr>
        <p:txBody>
          <a:bodyPr>
            <a:normAutofit/>
          </a:bodyPr>
          <a:lstStyle/>
          <a:p>
            <a:r>
              <a:rPr lang="en-US" dirty="0"/>
              <a:t> The text block is terminated by another string of three double-quote characters. A text block can be used anywhere an ordinary string literal could be used. For example,</a:t>
            </a:r>
          </a:p>
          <a:p>
            <a:pPr lvl="1">
              <a:buFont typeface="Wingdings" panose="05000000000000000000" pitchFamily="2" charset="2"/>
              <a:buChar char="Ø"/>
            </a:pPr>
            <a:r>
              <a:rPr lang="en-US" dirty="0"/>
              <a:t>String poem = """ </a:t>
            </a:r>
          </a:p>
          <a:p>
            <a:pPr lvl="1">
              <a:buFont typeface="Wingdings" panose="05000000000000000000" pitchFamily="2" charset="2"/>
              <a:buChar char="Ø"/>
            </a:pPr>
            <a:r>
              <a:rPr lang="en-US" dirty="0"/>
              <a:t>    As I was walking down the stair,</a:t>
            </a:r>
          </a:p>
          <a:p>
            <a:pPr lvl="1">
              <a:buFont typeface="Wingdings" panose="05000000000000000000" pitchFamily="2" charset="2"/>
              <a:buChar char="Ø"/>
            </a:pPr>
            <a:r>
              <a:rPr lang="en-US" dirty="0"/>
              <a:t>       I met a man who wasn't there.</a:t>
            </a:r>
          </a:p>
          <a:p>
            <a:pPr lvl="1">
              <a:buFont typeface="Wingdings" panose="05000000000000000000" pitchFamily="2" charset="2"/>
              <a:buChar char="Ø"/>
            </a:pPr>
            <a:r>
              <a:rPr lang="en-US" dirty="0"/>
              <a:t>    He wasn't there again today.</a:t>
            </a:r>
          </a:p>
          <a:p>
            <a:pPr lvl="1">
              <a:buFont typeface="Wingdings" panose="05000000000000000000" pitchFamily="2" charset="2"/>
              <a:buChar char="Ø"/>
            </a:pPr>
            <a:r>
              <a:rPr lang="en-US" dirty="0"/>
              <a:t>       I wish, I wish he'd go away!""";</a:t>
            </a:r>
          </a:p>
          <a:p>
            <a:r>
              <a:rPr lang="en-US" dirty="0"/>
              <a:t>This is easier to write and to read than the previous way of writing the value of poem.</a:t>
            </a:r>
          </a:p>
          <a:p>
            <a:r>
              <a:rPr lang="en-US" dirty="0"/>
              <a:t>Remember that you can't have anything except white space (that is, spaces and tabs) on the same line after the three double-quotes that start the text block. Also, note that any extra white space that occurs at the beginning of every line of the text block is removed from the string that is represented by the literal. In the example, the first four spaces are removed from each line of the text block, but the three extra spaces at the beginning of the second and fourth lines are not removed. This means that you can indent the lines of the text block to match the indentation of your program, without including that indentation in the string represented by the text block.</a:t>
            </a:r>
          </a:p>
          <a:p>
            <a:r>
              <a:rPr lang="en-US" dirty="0"/>
              <a:t>A text block can include escaped characters such as \t or \\, but aside from the backslash character, '\', nothing in the text block has special meaning. For example, something in the text block that looks like a Java comment is not actually a comment; it is just ordinary characters that are part of the string.</a:t>
            </a:r>
          </a:p>
        </p:txBody>
      </p:sp>
    </p:spTree>
    <p:extLst>
      <p:ext uri="{BB962C8B-B14F-4D97-AF65-F5344CB8AC3E}">
        <p14:creationId xmlns:p14="http://schemas.microsoft.com/office/powerpoint/2010/main" val="3449290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74905-9028-8446-FAE5-827E70925983}"/>
              </a:ext>
            </a:extLst>
          </p:cNvPr>
          <p:cNvSpPr>
            <a:spLocks noGrp="1"/>
          </p:cNvSpPr>
          <p:nvPr>
            <p:ph type="title"/>
          </p:nvPr>
        </p:nvSpPr>
        <p:spPr>
          <a:xfrm>
            <a:off x="581192" y="702156"/>
            <a:ext cx="11029616" cy="547524"/>
          </a:xfrm>
        </p:spPr>
        <p:txBody>
          <a:bodyPr/>
          <a:lstStyle/>
          <a:p>
            <a:r>
              <a:rPr lang="en-US" dirty="0"/>
              <a:t>Introduction to Enums</a:t>
            </a:r>
          </a:p>
        </p:txBody>
      </p:sp>
      <p:sp>
        <p:nvSpPr>
          <p:cNvPr id="3" name="Content Placeholder 2">
            <a:extLst>
              <a:ext uri="{FF2B5EF4-FFF2-40B4-BE49-F238E27FC236}">
                <a16:creationId xmlns:a16="http://schemas.microsoft.com/office/drawing/2014/main" id="{85C69679-06BD-F6F5-8916-E3FDE09EA713}"/>
              </a:ext>
            </a:extLst>
          </p:cNvPr>
          <p:cNvSpPr>
            <a:spLocks noGrp="1"/>
          </p:cNvSpPr>
          <p:nvPr>
            <p:ph idx="1"/>
          </p:nvPr>
        </p:nvSpPr>
        <p:spPr>
          <a:xfrm>
            <a:off x="581192" y="1386840"/>
            <a:ext cx="11029615" cy="5227320"/>
          </a:xfrm>
        </p:spPr>
        <p:txBody>
          <a:bodyPr>
            <a:normAutofit fontScale="92500" lnSpcReduction="10000"/>
          </a:bodyPr>
          <a:lstStyle/>
          <a:p>
            <a:r>
              <a:rPr lang="en-US" sz="2400" b="1" i="1" dirty="0"/>
              <a:t>Java comes with eight built-in primitive types and a huge collection of types that are defined by classes, such as String</a:t>
            </a:r>
            <a:r>
              <a:rPr lang="en-US" sz="2400" dirty="0"/>
              <a:t>. But even this large collection of types is not sufficient to cover all the possible situations that a programmer might have to deal with. </a:t>
            </a:r>
          </a:p>
          <a:p>
            <a:r>
              <a:rPr lang="en-US" sz="2400" dirty="0"/>
              <a:t>So, an essential part of Java, just like almost any other programming language, is the ability to create new types. For the most part, this is done by defining new classes. But, to give an example of defining a new type, we will look here at one particular case: the ability to define </a:t>
            </a:r>
            <a:r>
              <a:rPr lang="en-US" sz="2400" b="1" i="1" dirty="0"/>
              <a:t>enums</a:t>
            </a:r>
            <a:r>
              <a:rPr lang="en-US" sz="2400" dirty="0"/>
              <a:t> (short for enumerated types).</a:t>
            </a:r>
          </a:p>
          <a:p>
            <a:r>
              <a:rPr lang="en-US" sz="2400" dirty="0"/>
              <a:t>Technically, an enum is considered to be a special kind of class, but that is not important for now. In this section, we will look at enums in a simplified form. In practice, most uses of enums will only need the simplified form that is presented here.</a:t>
            </a:r>
          </a:p>
          <a:p>
            <a:r>
              <a:rPr lang="en-US" sz="2400" b="1" i="1" dirty="0"/>
              <a:t>An enum is a type that has a fixed list of possible values, which is specified when the enum is created. </a:t>
            </a:r>
            <a:r>
              <a:rPr lang="en-US" sz="2400" dirty="0"/>
              <a:t>In some ways, an enum is similar to the </a:t>
            </a:r>
            <a:r>
              <a:rPr lang="en-US" sz="2400" b="1" i="1" dirty="0"/>
              <a:t>boolean</a:t>
            </a:r>
            <a:r>
              <a:rPr lang="en-US" sz="2400" dirty="0"/>
              <a:t> data type, which has true and false as its only possible values. However, boolean is a primitive type, while an enum is not.</a:t>
            </a:r>
          </a:p>
        </p:txBody>
      </p:sp>
    </p:spTree>
    <p:extLst>
      <p:ext uri="{BB962C8B-B14F-4D97-AF65-F5344CB8AC3E}">
        <p14:creationId xmlns:p14="http://schemas.microsoft.com/office/powerpoint/2010/main" val="2330486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65D71B-EE4C-B805-2655-664F9F9B75F3}"/>
              </a:ext>
            </a:extLst>
          </p:cNvPr>
          <p:cNvSpPr>
            <a:spLocks noGrp="1"/>
          </p:cNvSpPr>
          <p:nvPr>
            <p:ph idx="1"/>
          </p:nvPr>
        </p:nvSpPr>
        <p:spPr>
          <a:xfrm>
            <a:off x="581192" y="807720"/>
            <a:ext cx="11029615" cy="5623560"/>
          </a:xfrm>
        </p:spPr>
        <p:txBody>
          <a:bodyPr>
            <a:normAutofit fontScale="92500" lnSpcReduction="20000"/>
          </a:bodyPr>
          <a:lstStyle/>
          <a:p>
            <a:r>
              <a:rPr lang="en-US" sz="2400" dirty="0"/>
              <a:t>The definition of an enum type has the (simplified) form:</a:t>
            </a:r>
          </a:p>
          <a:p>
            <a:pPr lvl="1">
              <a:buFont typeface="Wingdings" panose="05000000000000000000" pitchFamily="2" charset="2"/>
              <a:buChar char="Ø"/>
            </a:pPr>
            <a:r>
              <a:rPr lang="en-US" sz="2000" dirty="0"/>
              <a:t>enum enum-type-name { list-of-enum-values }</a:t>
            </a:r>
          </a:p>
          <a:p>
            <a:r>
              <a:rPr lang="en-US" sz="2400" dirty="0"/>
              <a:t>The definition can be in the same class as the program that uses it, but outside the main() routine, or it can be in a separate .java file. (In Java 17, it is also possible to put the definition inside main().) </a:t>
            </a:r>
          </a:p>
          <a:p>
            <a:r>
              <a:rPr lang="en-US" sz="2400" dirty="0"/>
              <a:t>The </a:t>
            </a:r>
            <a:r>
              <a:rPr lang="en-US" sz="2400" b="1" i="1" dirty="0"/>
              <a:t>enum-type-name in the definition of an enum can be any simple identifier</a:t>
            </a:r>
            <a:r>
              <a:rPr lang="en-US" sz="2400" dirty="0"/>
              <a:t>. This identifier becomes the name of the enum type, in the same way that "boolean" is the name of the boolean type and "String" is the name of the String type. </a:t>
            </a:r>
          </a:p>
          <a:p>
            <a:r>
              <a:rPr lang="en-US" sz="2400" b="1" i="1" dirty="0"/>
              <a:t>Each value in the list-of-enum-values must be a simple identifier, and the identifiers in the list are separated by commas. </a:t>
            </a:r>
            <a:r>
              <a:rPr lang="en-US" sz="2400" dirty="0"/>
              <a:t>For example, here is the definition of an enum type named Season whose values are the names of the four seasons of the year:</a:t>
            </a:r>
          </a:p>
          <a:p>
            <a:pPr lvl="1">
              <a:buFont typeface="Wingdings" panose="05000000000000000000" pitchFamily="2" charset="2"/>
              <a:buChar char="Ø"/>
            </a:pPr>
            <a:r>
              <a:rPr lang="en-US" sz="2000" dirty="0"/>
              <a:t>enum Season { SPRING, SUMMER, FALL, WINTER }</a:t>
            </a:r>
          </a:p>
          <a:p>
            <a:r>
              <a:rPr lang="en-US" sz="2400" dirty="0"/>
              <a:t>By convention, </a:t>
            </a:r>
            <a:r>
              <a:rPr lang="en-US" sz="2400" b="1" i="1" dirty="0"/>
              <a:t>enum values are given names that are made up of upper case letters</a:t>
            </a:r>
            <a:r>
              <a:rPr lang="en-US" sz="2400" dirty="0"/>
              <a:t>, but that is a style guideline and not a syntax rule. An enum value is a </a:t>
            </a:r>
            <a:r>
              <a:rPr lang="en-US" sz="2400" b="1" i="1" dirty="0"/>
              <a:t>constant</a:t>
            </a:r>
            <a:r>
              <a:rPr lang="en-US" sz="2400" dirty="0"/>
              <a:t>; that is, it represents a fixed value that cannot be changed. The possible values of an enum type are usually referred to as </a:t>
            </a:r>
            <a:r>
              <a:rPr lang="en-US" sz="2400" b="1" i="1" dirty="0"/>
              <a:t>enum constants</a:t>
            </a:r>
            <a:r>
              <a:rPr lang="en-US" sz="2400" dirty="0"/>
              <a:t>.</a:t>
            </a:r>
          </a:p>
        </p:txBody>
      </p:sp>
    </p:spTree>
    <p:extLst>
      <p:ext uri="{BB962C8B-B14F-4D97-AF65-F5344CB8AC3E}">
        <p14:creationId xmlns:p14="http://schemas.microsoft.com/office/powerpoint/2010/main" val="2825683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26315D-24DC-B265-86AC-2AE6009CB6FA}"/>
              </a:ext>
            </a:extLst>
          </p:cNvPr>
          <p:cNvSpPr>
            <a:spLocks noGrp="1"/>
          </p:cNvSpPr>
          <p:nvPr>
            <p:ph idx="1"/>
          </p:nvPr>
        </p:nvSpPr>
        <p:spPr>
          <a:xfrm>
            <a:off x="581192" y="853440"/>
            <a:ext cx="11029615" cy="5760720"/>
          </a:xfrm>
        </p:spPr>
        <p:txBody>
          <a:bodyPr>
            <a:normAutofit/>
          </a:bodyPr>
          <a:lstStyle/>
          <a:p>
            <a:r>
              <a:rPr lang="en-US" sz="2000" dirty="0"/>
              <a:t>Note that the enum constants of type Season are considered to be "contained in" Season, which means—following the convention that compound identifiers are used for things that are contained in other things—the names that you actually use in your program to refer to them are </a:t>
            </a:r>
            <a:r>
              <a:rPr lang="en-US" sz="2000" dirty="0" err="1"/>
              <a:t>Season.SPRING</a:t>
            </a:r>
            <a:r>
              <a:rPr lang="en-US" sz="2000" dirty="0"/>
              <a:t>, Season.SUMMER, Season.FALL, and </a:t>
            </a:r>
            <a:r>
              <a:rPr lang="en-US" sz="2000" dirty="0" err="1"/>
              <a:t>Season.WINTER</a:t>
            </a:r>
            <a:r>
              <a:rPr lang="en-US" sz="2000" dirty="0"/>
              <a:t>.</a:t>
            </a:r>
          </a:p>
          <a:p>
            <a:r>
              <a:rPr lang="en-US" sz="2000" dirty="0"/>
              <a:t>Once an enum type such as Season has been created, it can be used to declare variables in exactly the same ways that other types are used. For example, you can declare a variable named vacation of type Season with the statement:</a:t>
            </a:r>
          </a:p>
          <a:p>
            <a:pPr lvl="1">
              <a:buFont typeface="Wingdings" panose="05000000000000000000" pitchFamily="2" charset="2"/>
              <a:buChar char="Ø"/>
            </a:pPr>
            <a:r>
              <a:rPr lang="en-US" sz="1800" dirty="0"/>
              <a:t>Season vacation;</a:t>
            </a:r>
          </a:p>
          <a:p>
            <a:r>
              <a:rPr lang="en-US" sz="2000" dirty="0"/>
              <a:t>After declaring the variable, you can assign a value to it using an assignment statement. The value on the right-hand side of the assignment can be one of the enum constants of type Season. Remember to use the full name of the constant, including "Season"! For example:</a:t>
            </a:r>
          </a:p>
          <a:p>
            <a:pPr lvl="1">
              <a:buFont typeface="Wingdings" panose="05000000000000000000" pitchFamily="2" charset="2"/>
              <a:buChar char="Ø"/>
            </a:pPr>
            <a:r>
              <a:rPr lang="en-US" sz="1800" dirty="0"/>
              <a:t>vacation = Season.SUMMER;</a:t>
            </a:r>
          </a:p>
          <a:p>
            <a:r>
              <a:rPr lang="en-US" sz="2000" dirty="0"/>
              <a:t>You can print out an enum value with an output statement such as System.out.print(vacation). The output value will be the name of the enum constant (without the "Season."). In this case, the output would be "SUMMER".</a:t>
            </a:r>
          </a:p>
        </p:txBody>
      </p:sp>
    </p:spTree>
    <p:extLst>
      <p:ext uri="{BB962C8B-B14F-4D97-AF65-F5344CB8AC3E}">
        <p14:creationId xmlns:p14="http://schemas.microsoft.com/office/powerpoint/2010/main" val="325460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53DAEB-7881-6F7C-A162-EE810926C6D6}"/>
              </a:ext>
            </a:extLst>
          </p:cNvPr>
          <p:cNvSpPr>
            <a:spLocks noGrp="1"/>
          </p:cNvSpPr>
          <p:nvPr>
            <p:ph idx="1"/>
          </p:nvPr>
        </p:nvSpPr>
        <p:spPr>
          <a:xfrm>
            <a:off x="581192" y="914400"/>
            <a:ext cx="11029615" cy="5638800"/>
          </a:xfrm>
        </p:spPr>
        <p:txBody>
          <a:bodyPr>
            <a:normAutofit fontScale="92500" lnSpcReduction="20000"/>
          </a:bodyPr>
          <a:lstStyle/>
          <a:p>
            <a:r>
              <a:rPr lang="en-US" sz="2400" dirty="0"/>
              <a:t>You can print out an enum value with an output statement such as System.out.print(vacation). The output value will be the name of the enum constant (without the "Season."). In this case, the output would be "SUMMER".</a:t>
            </a:r>
          </a:p>
          <a:p>
            <a:r>
              <a:rPr lang="en-US" sz="2400" dirty="0"/>
              <a:t>Because an enum is technically a class, the enum values are technically objects. As objects, they can contain subroutines. One of the subroutines in every enum value is named ordinal(). When used with an enum value, it returns the ordinal number of the value in the list of values of the enum. The ordinal number simply tells the position of the value in the list. That is, </a:t>
            </a:r>
            <a:r>
              <a:rPr lang="en-US" sz="2400" dirty="0" err="1"/>
              <a:t>Season.SPRING.ordinal</a:t>
            </a:r>
            <a:r>
              <a:rPr lang="en-US" sz="2400" dirty="0"/>
              <a:t>() is the int value 0, </a:t>
            </a:r>
            <a:r>
              <a:rPr lang="en-US" sz="2400" dirty="0" err="1"/>
              <a:t>Season.SUMMER.ordinal</a:t>
            </a:r>
            <a:r>
              <a:rPr lang="en-US" sz="2400" dirty="0"/>
              <a:t>() is 1, </a:t>
            </a:r>
            <a:r>
              <a:rPr lang="en-US" sz="2400" dirty="0" err="1"/>
              <a:t>Season.FALL.ordinal</a:t>
            </a:r>
            <a:r>
              <a:rPr lang="en-US" sz="2400" dirty="0"/>
              <a:t>() is 2, and </a:t>
            </a:r>
            <a:r>
              <a:rPr lang="en-US" sz="2400" dirty="0" err="1"/>
              <a:t>Season.WINTER.ordinal</a:t>
            </a:r>
            <a:r>
              <a:rPr lang="en-US" sz="2400" dirty="0"/>
              <a:t>() is 3. (You will see over and over again that computer scientists like to start counting at zero!) You can, of course, use the ordinal() method with a variable of type Season, such as </a:t>
            </a:r>
            <a:r>
              <a:rPr lang="en-US" sz="2400" dirty="0" err="1"/>
              <a:t>vacation.ordinal</a:t>
            </a:r>
            <a:r>
              <a:rPr lang="en-US" sz="2400" dirty="0"/>
              <a:t>().</a:t>
            </a:r>
          </a:p>
          <a:p>
            <a:r>
              <a:rPr lang="en-US" sz="2400" dirty="0"/>
              <a:t>Using enums can make a program more readable, since you can use meaningful names for the values. And it can prevent certain types of errors, since a compiler can check that the values assigned to an enum variable are in fact legal values for that variable. For now, you should just appreciate them as the first example of an important concept: creating new types. </a:t>
            </a:r>
          </a:p>
        </p:txBody>
      </p:sp>
    </p:spTree>
    <p:extLst>
      <p:ext uri="{BB962C8B-B14F-4D97-AF65-F5344CB8AC3E}">
        <p14:creationId xmlns:p14="http://schemas.microsoft.com/office/powerpoint/2010/main" val="2730012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E96E0-99FC-F991-C5FB-000CDBC7171F}"/>
              </a:ext>
            </a:extLst>
          </p:cNvPr>
          <p:cNvSpPr>
            <a:spLocks noGrp="1"/>
          </p:cNvSpPr>
          <p:nvPr>
            <p:ph type="title"/>
          </p:nvPr>
        </p:nvSpPr>
        <p:spPr>
          <a:xfrm>
            <a:off x="581193" y="729658"/>
            <a:ext cx="11029616" cy="596222"/>
          </a:xfrm>
        </p:spPr>
        <p:txBody>
          <a:bodyPr/>
          <a:lstStyle/>
          <a:p>
            <a:r>
              <a:rPr lang="en-US" dirty="0"/>
              <a:t>Text Input and Output</a:t>
            </a:r>
          </a:p>
        </p:txBody>
      </p:sp>
      <p:sp>
        <p:nvSpPr>
          <p:cNvPr id="3" name="Content Placeholder 2">
            <a:extLst>
              <a:ext uri="{FF2B5EF4-FFF2-40B4-BE49-F238E27FC236}">
                <a16:creationId xmlns:a16="http://schemas.microsoft.com/office/drawing/2014/main" id="{640C9E8B-5E22-3888-C54B-8838C5629DB5}"/>
              </a:ext>
            </a:extLst>
          </p:cNvPr>
          <p:cNvSpPr>
            <a:spLocks noGrp="1"/>
          </p:cNvSpPr>
          <p:nvPr>
            <p:ph sz="half" idx="1"/>
          </p:nvPr>
        </p:nvSpPr>
        <p:spPr>
          <a:xfrm>
            <a:off x="581193" y="1325881"/>
            <a:ext cx="5194767" cy="4535170"/>
          </a:xfrm>
        </p:spPr>
        <p:txBody>
          <a:bodyPr>
            <a:normAutofit fontScale="85000" lnSpcReduction="10000"/>
          </a:bodyPr>
          <a:lstStyle/>
          <a:p>
            <a:r>
              <a:rPr lang="en-US" sz="2400" dirty="0"/>
              <a:t>We have seen that it is very easy to display text to the user with the functions </a:t>
            </a:r>
            <a:r>
              <a:rPr lang="en-US" sz="2400" b="1" i="1" dirty="0"/>
              <a:t>System.out.print </a:t>
            </a:r>
            <a:r>
              <a:rPr lang="en-US" sz="2400" dirty="0"/>
              <a:t>and </a:t>
            </a:r>
            <a:r>
              <a:rPr lang="en-US" sz="2400" b="1" i="1" dirty="0"/>
              <a:t>System.out.println</a:t>
            </a:r>
            <a:r>
              <a:rPr lang="en-US" sz="2400" dirty="0"/>
              <a:t>. But there is more to say on the topic of outputting text. </a:t>
            </a:r>
          </a:p>
          <a:p>
            <a:r>
              <a:rPr lang="en-US" sz="2400" dirty="0"/>
              <a:t>Furthermore, most programs use data that is input to the program at run time rather than built into the program. So you need to know how to do input as well as output.</a:t>
            </a:r>
          </a:p>
          <a:p>
            <a:r>
              <a:rPr lang="en-US" sz="2400" dirty="0"/>
              <a:t>This section explains how to get data from the user, and it covers output in more detail than we have seen so far. It also has a section on using files for input and output.</a:t>
            </a:r>
          </a:p>
        </p:txBody>
      </p:sp>
      <p:pic>
        <p:nvPicPr>
          <p:cNvPr id="5" name="Content Placeholder 4">
            <a:extLst>
              <a:ext uri="{FF2B5EF4-FFF2-40B4-BE49-F238E27FC236}">
                <a16:creationId xmlns:a16="http://schemas.microsoft.com/office/drawing/2014/main" id="{D0726D1C-626C-5FD2-90B9-5671AC5EA314}"/>
              </a:ext>
            </a:extLst>
          </p:cNvPr>
          <p:cNvPicPr>
            <a:picLocks noGrp="1" noChangeAspect="1"/>
          </p:cNvPicPr>
          <p:nvPr>
            <p:ph sz="half" idx="2"/>
          </p:nvPr>
        </p:nvPicPr>
        <p:blipFill>
          <a:blip r:embed="rId2"/>
          <a:stretch>
            <a:fillRect/>
          </a:stretch>
        </p:blipFill>
        <p:spPr>
          <a:xfrm>
            <a:off x="6416675" y="1325880"/>
            <a:ext cx="5194300" cy="4316023"/>
          </a:xfrm>
          <a:prstGeom prst="rect">
            <a:avLst/>
          </a:prstGeom>
        </p:spPr>
      </p:pic>
    </p:spTree>
    <p:extLst>
      <p:ext uri="{BB962C8B-B14F-4D97-AF65-F5344CB8AC3E}">
        <p14:creationId xmlns:p14="http://schemas.microsoft.com/office/powerpoint/2010/main" val="2614915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F5A3ED-5260-55A9-8113-5489E68F9A07}"/>
              </a:ext>
            </a:extLst>
          </p:cNvPr>
          <p:cNvSpPr>
            <a:spLocks noGrp="1"/>
          </p:cNvSpPr>
          <p:nvPr>
            <p:ph type="title"/>
          </p:nvPr>
        </p:nvSpPr>
        <p:spPr>
          <a:xfrm>
            <a:off x="581192" y="702156"/>
            <a:ext cx="11029616" cy="532284"/>
          </a:xfrm>
        </p:spPr>
        <p:txBody>
          <a:bodyPr/>
          <a:lstStyle/>
          <a:p>
            <a:r>
              <a:rPr lang="en-US" dirty="0"/>
              <a:t>Basic Output and Formatted Output</a:t>
            </a:r>
          </a:p>
        </p:txBody>
      </p:sp>
      <p:sp>
        <p:nvSpPr>
          <p:cNvPr id="6" name="Content Placeholder 5">
            <a:extLst>
              <a:ext uri="{FF2B5EF4-FFF2-40B4-BE49-F238E27FC236}">
                <a16:creationId xmlns:a16="http://schemas.microsoft.com/office/drawing/2014/main" id="{3F0D93CA-7219-5DC0-5315-AEEB2FA58B63}"/>
              </a:ext>
            </a:extLst>
          </p:cNvPr>
          <p:cNvSpPr>
            <a:spLocks noGrp="1"/>
          </p:cNvSpPr>
          <p:nvPr>
            <p:ph idx="1"/>
          </p:nvPr>
        </p:nvSpPr>
        <p:spPr>
          <a:xfrm>
            <a:off x="581192" y="1234440"/>
            <a:ext cx="11029615" cy="5273040"/>
          </a:xfrm>
        </p:spPr>
        <p:txBody>
          <a:bodyPr>
            <a:normAutofit fontScale="92500" lnSpcReduction="10000"/>
          </a:bodyPr>
          <a:lstStyle/>
          <a:p>
            <a:r>
              <a:rPr lang="en-US" sz="2400" dirty="0"/>
              <a:t>The most basic output function is </a:t>
            </a:r>
            <a:r>
              <a:rPr lang="en-US" sz="2400" b="1" i="1" dirty="0"/>
              <a:t>System.out.print(x), </a:t>
            </a:r>
            <a:r>
              <a:rPr lang="en-US" sz="2400" dirty="0"/>
              <a:t>where x can be a value or expression of any type. If the parameter, x, is not already a string, it is converted to a value of type String, and the string is then output to the destination called standard output. (Generally, this means that the string is displayed to the user; however, in GUI programs, it outputs to a place where a typical user is unlikely to see it. </a:t>
            </a:r>
          </a:p>
          <a:p>
            <a:r>
              <a:rPr lang="en-US" sz="2400" dirty="0"/>
              <a:t>Furthermore, standard output can be "redirected" to write to a different output destination. Nevertheless, for the type of program that we are working with now, the purpose of System.out is to display text to the user.)</a:t>
            </a:r>
          </a:p>
          <a:p>
            <a:r>
              <a:rPr lang="en-US" sz="2400" b="1" i="1" dirty="0"/>
              <a:t>System.out.println(x) outputs the same text as System.out.print</a:t>
            </a:r>
            <a:r>
              <a:rPr lang="en-US" sz="2400" dirty="0"/>
              <a:t>, but it follows that text by a line feed, which means that any subsequent output will be on the next line. It is possible to use this function with no parameter, System.out.println(), which outputs nothing but a line feed. Note that System.out.println(x) is equivalent to</a:t>
            </a:r>
          </a:p>
          <a:p>
            <a:pPr lvl="1">
              <a:buFont typeface="Wingdings" panose="05000000000000000000" pitchFamily="2" charset="2"/>
              <a:buChar char="Ø"/>
            </a:pPr>
            <a:r>
              <a:rPr lang="en-US" sz="2000" dirty="0"/>
              <a:t>System.out.print(x);</a:t>
            </a:r>
          </a:p>
          <a:p>
            <a:pPr lvl="1">
              <a:buFont typeface="Wingdings" panose="05000000000000000000" pitchFamily="2" charset="2"/>
              <a:buChar char="Ø"/>
            </a:pPr>
            <a:r>
              <a:rPr lang="en-US" sz="2000" dirty="0"/>
              <a:t>System.out.println();</a:t>
            </a:r>
          </a:p>
        </p:txBody>
      </p:sp>
    </p:spTree>
    <p:extLst>
      <p:ext uri="{BB962C8B-B14F-4D97-AF65-F5344CB8AC3E}">
        <p14:creationId xmlns:p14="http://schemas.microsoft.com/office/powerpoint/2010/main" val="30851515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8E8A74-3304-1324-8DB9-244D27236B73}"/>
              </a:ext>
            </a:extLst>
          </p:cNvPr>
          <p:cNvSpPr>
            <a:spLocks noGrp="1"/>
          </p:cNvSpPr>
          <p:nvPr>
            <p:ph idx="1"/>
          </p:nvPr>
        </p:nvSpPr>
        <p:spPr>
          <a:xfrm>
            <a:off x="581192" y="944880"/>
            <a:ext cx="11029615" cy="5379720"/>
          </a:xfrm>
        </p:spPr>
        <p:txBody>
          <a:bodyPr>
            <a:normAutofit fontScale="92500"/>
          </a:bodyPr>
          <a:lstStyle/>
          <a:p>
            <a:r>
              <a:rPr lang="en-US" sz="2400" dirty="0"/>
              <a:t>The function </a:t>
            </a:r>
            <a:r>
              <a:rPr lang="en-US" sz="2400" b="1" i="1" dirty="0"/>
              <a:t>System.out.printf </a:t>
            </a:r>
            <a:r>
              <a:rPr lang="en-US" sz="2400" dirty="0"/>
              <a:t>can be used to produce formatted output. (The name "printf," which stands for "print formatted," is copied from the C and C++ programming languages, where this type of output originated.) </a:t>
            </a:r>
          </a:p>
          <a:p>
            <a:r>
              <a:rPr lang="en-US" sz="2400" b="1" i="1" dirty="0"/>
              <a:t>System.out.printf takes one or more parameters. </a:t>
            </a:r>
            <a:r>
              <a:rPr lang="en-US" sz="2400" dirty="0"/>
              <a:t>The </a:t>
            </a:r>
            <a:r>
              <a:rPr lang="en-US" sz="2400" b="1" i="1" dirty="0"/>
              <a:t>first parameter is a String that specifies the format </a:t>
            </a:r>
            <a:r>
              <a:rPr lang="en-US" sz="2400" dirty="0"/>
              <a:t>of the output. This parameter is called the format string. The </a:t>
            </a:r>
            <a:r>
              <a:rPr lang="en-US" sz="2400" b="1" i="1" dirty="0"/>
              <a:t>remaining parameters specify the values </a:t>
            </a:r>
            <a:r>
              <a:rPr lang="en-US" sz="2400" dirty="0"/>
              <a:t>that are to be output. Here is a statement that will print a number in the proper format for a dollar amount, where amount is a variable of type double:</a:t>
            </a:r>
          </a:p>
          <a:p>
            <a:pPr lvl="1">
              <a:buFont typeface="Wingdings" panose="05000000000000000000" pitchFamily="2" charset="2"/>
              <a:buChar char="Ø"/>
            </a:pPr>
            <a:r>
              <a:rPr lang="en-US" sz="2000" dirty="0"/>
              <a:t>System.out.printf( "%1.2f", amount );</a:t>
            </a:r>
          </a:p>
          <a:p>
            <a:r>
              <a:rPr lang="en-US" sz="2400" dirty="0"/>
              <a:t>The output format for a value is given by a format specifier in the format string. In this example, the format specifier is %1.2f. The format string (in the simple cases that I cover here) contains one format specifier for each of the values that is to be output. Some typical format specifiers are %d, %12d, %10s, %1.2f, %15.8e and %1.8g.</a:t>
            </a:r>
          </a:p>
        </p:txBody>
      </p:sp>
    </p:spTree>
    <p:extLst>
      <p:ext uri="{BB962C8B-B14F-4D97-AF65-F5344CB8AC3E}">
        <p14:creationId xmlns:p14="http://schemas.microsoft.com/office/powerpoint/2010/main" val="1788576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3FB6C2-F168-17CC-8284-F1071D56E66D}"/>
              </a:ext>
            </a:extLst>
          </p:cNvPr>
          <p:cNvSpPr>
            <a:spLocks noGrp="1"/>
          </p:cNvSpPr>
          <p:nvPr>
            <p:ph idx="1"/>
          </p:nvPr>
        </p:nvSpPr>
        <p:spPr>
          <a:xfrm>
            <a:off x="581192" y="716280"/>
            <a:ext cx="11029615" cy="5821680"/>
          </a:xfrm>
        </p:spPr>
        <p:txBody>
          <a:bodyPr>
            <a:normAutofit/>
          </a:bodyPr>
          <a:lstStyle/>
          <a:p>
            <a:r>
              <a:rPr lang="en-US" sz="2400" dirty="0"/>
              <a:t>Here's a description of each of the typical format specifiers:</a:t>
            </a:r>
          </a:p>
          <a:p>
            <a:pPr lvl="1"/>
            <a:r>
              <a:rPr lang="en-US" sz="2100" b="1" dirty="0"/>
              <a:t>%d: </a:t>
            </a:r>
            <a:r>
              <a:rPr lang="en-US" sz="2100" dirty="0"/>
              <a:t>This is used for formatting integers (decimal numbers). For example:</a:t>
            </a:r>
          </a:p>
          <a:p>
            <a:pPr lvl="2">
              <a:buFont typeface="Wingdings" panose="05000000000000000000" pitchFamily="2" charset="2"/>
              <a:buChar char="Ø"/>
            </a:pPr>
            <a:r>
              <a:rPr lang="en-US" sz="1900" b="1" dirty="0"/>
              <a:t>%d: </a:t>
            </a:r>
            <a:r>
              <a:rPr lang="en-US" sz="1900" dirty="0"/>
              <a:t>Formats an integer value.</a:t>
            </a:r>
          </a:p>
          <a:p>
            <a:pPr lvl="1"/>
            <a:r>
              <a:rPr lang="en-US" sz="2100" b="1" dirty="0"/>
              <a:t>%12d: </a:t>
            </a:r>
            <a:r>
              <a:rPr lang="en-US" sz="2100" dirty="0"/>
              <a:t>This specifier is used for formatting integers with a minimum width of 12 characters. It ensures that the printed number occupies at least 12 spaces (padded with spaces if necessary).</a:t>
            </a:r>
          </a:p>
          <a:p>
            <a:pPr lvl="1"/>
            <a:r>
              <a:rPr lang="en-US" sz="2100" b="1" dirty="0"/>
              <a:t>%10s: </a:t>
            </a:r>
            <a:r>
              <a:rPr lang="en-US" sz="2100" dirty="0"/>
              <a:t>This is used for formatting strings with a minimum width of 10 characters. It is often used to align strings within a specified width, padding with spaces if the string is shorter.</a:t>
            </a:r>
          </a:p>
          <a:p>
            <a:pPr lvl="1"/>
            <a:r>
              <a:rPr lang="en-US" sz="2100" b="1" dirty="0"/>
              <a:t>%1.2f: </a:t>
            </a:r>
            <a:r>
              <a:rPr lang="en-US" sz="2100" dirty="0"/>
              <a:t>This specifier is used for formatting floating-point numbers (floats or doubles) with a total width of 1 character before the decimal point and 2 characters after the decimal point. For example:</a:t>
            </a:r>
          </a:p>
          <a:p>
            <a:pPr lvl="2">
              <a:buFont typeface="Wingdings" panose="05000000000000000000" pitchFamily="2" charset="2"/>
              <a:buChar char="Ø"/>
            </a:pPr>
            <a:r>
              <a:rPr lang="en-US" sz="1900" b="1" dirty="0"/>
              <a:t>%1.2f: </a:t>
            </a:r>
            <a:r>
              <a:rPr lang="en-US" sz="1900" dirty="0"/>
              <a:t>Formats a floating-point number with a minimum width of 1 character and 2 decimal places.</a:t>
            </a:r>
          </a:p>
        </p:txBody>
      </p:sp>
    </p:spTree>
    <p:extLst>
      <p:ext uri="{BB962C8B-B14F-4D97-AF65-F5344CB8AC3E}">
        <p14:creationId xmlns:p14="http://schemas.microsoft.com/office/powerpoint/2010/main" val="171470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DDE991-A141-F7AE-E3DB-86EB61F4473A}"/>
              </a:ext>
            </a:extLst>
          </p:cNvPr>
          <p:cNvSpPr>
            <a:spLocks noGrp="1"/>
          </p:cNvSpPr>
          <p:nvPr>
            <p:ph idx="1"/>
          </p:nvPr>
        </p:nvSpPr>
        <p:spPr>
          <a:xfrm>
            <a:off x="581192" y="944880"/>
            <a:ext cx="11029615" cy="5486400"/>
          </a:xfrm>
        </p:spPr>
        <p:txBody>
          <a:bodyPr>
            <a:normAutofit lnSpcReduction="10000"/>
          </a:bodyPr>
          <a:lstStyle/>
          <a:p>
            <a:pPr lvl="1"/>
            <a:r>
              <a:rPr lang="en-US" sz="2400" b="1" dirty="0"/>
              <a:t>%15.8e: </a:t>
            </a:r>
            <a:r>
              <a:rPr lang="en-US" sz="2400" dirty="0"/>
              <a:t>This is used for formatting numbers in scientific notation (exponential format) with a total width of 15 characters, including 8 characters after the decimal point. For example:</a:t>
            </a:r>
          </a:p>
          <a:p>
            <a:pPr lvl="2">
              <a:buFont typeface="Wingdings" panose="05000000000000000000" pitchFamily="2" charset="2"/>
              <a:buChar char="Ø"/>
            </a:pPr>
            <a:r>
              <a:rPr lang="en-US" sz="2000" dirty="0"/>
              <a:t>%15.8e: Formats a floating-point number in scientific notation with a total width of 15 characters and 8 decimal places.</a:t>
            </a:r>
          </a:p>
          <a:p>
            <a:pPr lvl="1"/>
            <a:r>
              <a:rPr lang="en-US" sz="2400" b="1" dirty="0"/>
              <a:t>%1.8g: </a:t>
            </a:r>
            <a:r>
              <a:rPr lang="en-US" sz="2400" dirty="0"/>
              <a:t>This specifier is used for formatting floating-point numbers using either standard or scientific notation, depending on the value. It ensures that the total width is at least 1 character, while there are 8 significant digits.</a:t>
            </a:r>
          </a:p>
          <a:p>
            <a:pPr lvl="1"/>
            <a:r>
              <a:rPr lang="en-US" sz="2400" b="1" dirty="0"/>
              <a:t>%1.8g: </a:t>
            </a:r>
            <a:r>
              <a:rPr lang="en-US" sz="2400" dirty="0"/>
              <a:t>Formats a floating-point number with a minimum width of 1 character and up to 8 significant digits.</a:t>
            </a:r>
          </a:p>
          <a:p>
            <a:r>
              <a:rPr lang="en-US" sz="2800" dirty="0"/>
              <a:t>These format specifiers offer flexibility in how numbers and strings are displayed, allowing for precise control over the width, decimal places, and scientific notation in formatted output.</a:t>
            </a:r>
          </a:p>
        </p:txBody>
      </p:sp>
    </p:spTree>
    <p:extLst>
      <p:ext uri="{BB962C8B-B14F-4D97-AF65-F5344CB8AC3E}">
        <p14:creationId xmlns:p14="http://schemas.microsoft.com/office/powerpoint/2010/main" val="101746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D80CFC-F961-7F3F-2CCD-D394888BD4CC}"/>
              </a:ext>
            </a:extLst>
          </p:cNvPr>
          <p:cNvSpPr>
            <a:spLocks noGrp="1"/>
          </p:cNvSpPr>
          <p:nvPr>
            <p:ph idx="1"/>
          </p:nvPr>
        </p:nvSpPr>
        <p:spPr>
          <a:xfrm>
            <a:off x="581192" y="701040"/>
            <a:ext cx="11029615" cy="5928360"/>
          </a:xfrm>
        </p:spPr>
        <p:txBody>
          <a:bodyPr>
            <a:normAutofit fontScale="92500" lnSpcReduction="20000"/>
          </a:bodyPr>
          <a:lstStyle/>
          <a:p>
            <a:r>
              <a:rPr lang="en-US" sz="2400" dirty="0"/>
              <a:t>Every format specifier </a:t>
            </a:r>
            <a:r>
              <a:rPr lang="en-US" sz="2400" b="1" i="1" dirty="0"/>
              <a:t>begins with a percent sign (%) and ends with a letter</a:t>
            </a:r>
            <a:r>
              <a:rPr lang="en-US" sz="2400" dirty="0"/>
              <a:t>, possibly with some extra formatting information in between. </a:t>
            </a:r>
          </a:p>
          <a:p>
            <a:r>
              <a:rPr lang="en-US" sz="2400" dirty="0"/>
              <a:t>The letter specifies the type of output that is to be produced. For example, in %d and %12d, the "d" specifies that an integer is to be written. The "12" in %12d specifies the minimum number of spaces that should be used for the output. If the integer that is being output takes up fewer than 12 spaces, extra blank spaces are added in front of the integer to bring the total up to 12. We say that the </a:t>
            </a:r>
            <a:r>
              <a:rPr lang="en-US" sz="2400" b="1" i="1" dirty="0"/>
              <a:t>output is "right-justified in a field of length 12</a:t>
            </a:r>
            <a:r>
              <a:rPr lang="en-US" sz="2400" dirty="0"/>
              <a:t>." A very large value is not forced into 12 spaces; if the value has more than 12 digits, all the digits will be printed, with no extra spaces. The </a:t>
            </a:r>
            <a:r>
              <a:rPr lang="en-US" sz="2400" b="1" i="1" dirty="0"/>
              <a:t>specifier %d means the same as %1d—that is, an integer will be printed using just as many spaces as necessary</a:t>
            </a:r>
            <a:r>
              <a:rPr lang="en-US" sz="2400" dirty="0"/>
              <a:t>. (The "d," by the way, stands for "decimal"—that is, base-10—numbers. You can replace the "d" with an "x" to output an integer value in hexadecimal form.)</a:t>
            </a:r>
          </a:p>
          <a:p>
            <a:r>
              <a:rPr lang="en-US" sz="2400" dirty="0"/>
              <a:t>The letter "s" in a format specifier can be used with any type of value. It means that the value should be output in its default format, just as it would be in unformatted output. A number, such as the "20" in %20s, can be added to specify the (minimum) number of characters. The </a:t>
            </a:r>
            <a:r>
              <a:rPr lang="en-US" sz="2400" b="1" i="1" dirty="0"/>
              <a:t>"s" stands for "string," and it can be used for values of type String</a:t>
            </a:r>
            <a:r>
              <a:rPr lang="en-US" sz="2400" dirty="0"/>
              <a:t>. It can also be used for values of other types; in that case the value is converted into a String value in the usual way.</a:t>
            </a:r>
          </a:p>
        </p:txBody>
      </p:sp>
    </p:spTree>
    <p:extLst>
      <p:ext uri="{BB962C8B-B14F-4D97-AF65-F5344CB8AC3E}">
        <p14:creationId xmlns:p14="http://schemas.microsoft.com/office/powerpoint/2010/main" val="22252095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54B028-F25E-4ED5-BDCD-E0A58B9B3FA9}"/>
              </a:ext>
            </a:extLst>
          </p:cNvPr>
          <p:cNvSpPr>
            <a:spLocks noGrp="1"/>
          </p:cNvSpPr>
          <p:nvPr>
            <p:ph idx="1"/>
          </p:nvPr>
        </p:nvSpPr>
        <p:spPr>
          <a:xfrm>
            <a:off x="581192" y="716280"/>
            <a:ext cx="11029615" cy="5791200"/>
          </a:xfrm>
        </p:spPr>
        <p:txBody>
          <a:bodyPr>
            <a:normAutofit lnSpcReduction="10000"/>
          </a:bodyPr>
          <a:lstStyle/>
          <a:p>
            <a:r>
              <a:rPr lang="en-US" sz="2400" dirty="0"/>
              <a:t>The format specifiers for values of type double are more complicated. An</a:t>
            </a:r>
            <a:r>
              <a:rPr lang="en-US" sz="2400" b="1" i="1" dirty="0"/>
              <a:t> "f", as in %1.2f, is used to output a number in "floating-point" form</a:t>
            </a:r>
            <a:r>
              <a:rPr lang="en-US" sz="2400" dirty="0"/>
              <a:t>, that is with digits after a decimal point. In %1.2f, the "2" specifies the number of digits to use after the decimal point. The "1" specifies the (minimum) number of characters to output; a "1" in this position effectively means that just as many characters as are necessary should be used. Similarly, %12.3f would specify a floating-point format with 3 digits after the decimal point, right-justified in a field of length 12.</a:t>
            </a:r>
          </a:p>
          <a:p>
            <a:r>
              <a:rPr lang="en-US" sz="2400" dirty="0"/>
              <a:t>Very large and very small numbers should be written in exponential format, such as 6.00221415e23, representing "6.00221415 times 10 raised to the power 23." A format specifier such as </a:t>
            </a:r>
            <a:r>
              <a:rPr lang="en-US" sz="2400" b="1" i="1" dirty="0"/>
              <a:t>%15.8e specifies an output in exponential form, with the "8" telling how many digits to use after the decimal point</a:t>
            </a:r>
            <a:r>
              <a:rPr lang="en-US" sz="2400" dirty="0"/>
              <a:t>. If you </a:t>
            </a:r>
            <a:r>
              <a:rPr lang="en-US" sz="2400" b="1" i="1" dirty="0"/>
              <a:t>use "g" instead of "e", the output will be in exponential form for very small values and very large values and in floating-point form for other values</a:t>
            </a:r>
            <a:r>
              <a:rPr lang="en-US" sz="2400" dirty="0"/>
              <a:t>. In %1.8g, the 8 gives the total number of digits in the answer, including both the digits before the decimal point and the digits after the decimal point.</a:t>
            </a:r>
          </a:p>
        </p:txBody>
      </p:sp>
    </p:spTree>
    <p:extLst>
      <p:ext uri="{BB962C8B-B14F-4D97-AF65-F5344CB8AC3E}">
        <p14:creationId xmlns:p14="http://schemas.microsoft.com/office/powerpoint/2010/main" val="13645427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88799F-843F-08E3-7B58-7BDEC3D1FDFC}"/>
              </a:ext>
            </a:extLst>
          </p:cNvPr>
          <p:cNvSpPr>
            <a:spLocks noGrp="1"/>
          </p:cNvSpPr>
          <p:nvPr>
            <p:ph idx="1"/>
          </p:nvPr>
        </p:nvSpPr>
        <p:spPr>
          <a:xfrm>
            <a:off x="581192" y="853440"/>
            <a:ext cx="11029615" cy="5593080"/>
          </a:xfrm>
        </p:spPr>
        <p:txBody>
          <a:bodyPr>
            <a:normAutofit fontScale="92500"/>
          </a:bodyPr>
          <a:lstStyle/>
          <a:p>
            <a:r>
              <a:rPr lang="en-US" sz="2400" dirty="0"/>
              <a:t>For numeric output, the format specifier can include a comma (","), which will cause the digits of the number to be separated into groups, to make it easier to read big numbers. In the United States, groups of three digits are separated by commas. For example, if x is one billion, then System.out.printf("%,</a:t>
            </a:r>
            <a:r>
              <a:rPr lang="en-US" sz="2400" dirty="0" err="1"/>
              <a:t>d",x</a:t>
            </a:r>
            <a:r>
              <a:rPr lang="en-US" sz="2400" dirty="0"/>
              <a:t>) will output 1,000,000,000. </a:t>
            </a:r>
          </a:p>
          <a:p>
            <a:r>
              <a:rPr lang="en-US" sz="2400" dirty="0"/>
              <a:t>In other countries, the separator character and the number of digits per group might be different. The comma should come at the beginning of the format specifier, before the field width; for example: %,12.3f. If you want the output to be left-justified instead of right justified, add a minus sign to the beginning of the format specifier: for example, %-20s.</a:t>
            </a:r>
          </a:p>
          <a:p>
            <a:r>
              <a:rPr lang="en-US" sz="2400" dirty="0"/>
              <a:t>In addition to format specifiers, the format string in a printf statement can include other characters. These extra characters are just copied to the output. This can be a convenient way to insert values into the middle of an output string. For example, if x and y are variables of type int, you could say</a:t>
            </a:r>
          </a:p>
          <a:p>
            <a:pPr lvl="1">
              <a:buFont typeface="Wingdings" panose="05000000000000000000" pitchFamily="2" charset="2"/>
              <a:buChar char="Ø"/>
            </a:pPr>
            <a:r>
              <a:rPr lang="en-US" sz="2000" dirty="0"/>
              <a:t>System.out.printf("The product of %d and %d is %d", x, y, x*y);</a:t>
            </a:r>
          </a:p>
        </p:txBody>
      </p:sp>
    </p:spTree>
    <p:extLst>
      <p:ext uri="{BB962C8B-B14F-4D97-AF65-F5344CB8AC3E}">
        <p14:creationId xmlns:p14="http://schemas.microsoft.com/office/powerpoint/2010/main" val="23678947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F76DCC-F1C2-8EA0-AEC4-AC7A70B3FBC4}"/>
              </a:ext>
            </a:extLst>
          </p:cNvPr>
          <p:cNvSpPr>
            <a:spLocks noGrp="1"/>
          </p:cNvSpPr>
          <p:nvPr>
            <p:ph idx="1"/>
          </p:nvPr>
        </p:nvSpPr>
        <p:spPr>
          <a:xfrm>
            <a:off x="444032" y="731520"/>
            <a:ext cx="11029615" cy="5928360"/>
          </a:xfrm>
        </p:spPr>
        <p:txBody>
          <a:bodyPr>
            <a:normAutofit fontScale="92500" lnSpcReduction="20000"/>
          </a:bodyPr>
          <a:lstStyle/>
          <a:p>
            <a:r>
              <a:rPr lang="en-US" sz="2200" dirty="0"/>
              <a:t>When this statement is executed, the value of x is substituted for the first %d in the string, the value of y for the second %d, and the value of the expression x*y for the third, so the output would be something like "The product of 17 and 42 is 714" (quotation marks not included in output!).</a:t>
            </a:r>
          </a:p>
          <a:p>
            <a:r>
              <a:rPr lang="en-US" sz="2200" dirty="0"/>
              <a:t>To include an actual percent sign in the output, use the format specifier %% in the format string. You can use %n to output a line feed. You can also use a backslash, \, as usual in strings to output special characters such as tabs and double quote characters.</a:t>
            </a:r>
          </a:p>
          <a:p>
            <a:r>
              <a:rPr lang="en-US" sz="2200" dirty="0"/>
              <a:t>The format string in a </a:t>
            </a:r>
            <a:r>
              <a:rPr lang="en-US" sz="2200" dirty="0" err="1"/>
              <a:t>System.printf</a:t>
            </a:r>
            <a:r>
              <a:rPr lang="en-US" sz="2200" dirty="0"/>
              <a:t> statement can be given by a text block, which makes it easier to output multiple lines of text. For example,</a:t>
            </a:r>
          </a:p>
          <a:p>
            <a:pPr lvl="1">
              <a:buFont typeface="Wingdings" panose="05000000000000000000" pitchFamily="2" charset="2"/>
              <a:buChar char="Ø"/>
            </a:pPr>
            <a:r>
              <a:rPr lang="en-US" sz="1900" dirty="0"/>
              <a:t>int miles = 5; // Example value for miles</a:t>
            </a:r>
          </a:p>
          <a:p>
            <a:pPr lvl="1">
              <a:buFont typeface="Wingdings" panose="05000000000000000000" pitchFamily="2" charset="2"/>
              <a:buChar char="Ø"/>
            </a:pPr>
            <a:r>
              <a:rPr lang="en-US" sz="1900" dirty="0"/>
              <a:t>String </a:t>
            </a:r>
            <a:r>
              <a:rPr lang="en-US" sz="1900" dirty="0" err="1"/>
              <a:t>formattedOutput</a:t>
            </a:r>
            <a:r>
              <a:rPr lang="en-US" sz="1900" dirty="0"/>
              <a:t> = """</a:t>
            </a:r>
          </a:p>
          <a:p>
            <a:pPr lvl="1">
              <a:buFont typeface="Wingdings" panose="05000000000000000000" pitchFamily="2" charset="2"/>
              <a:buChar char="Ø"/>
            </a:pPr>
            <a:r>
              <a:rPr lang="en-US" sz="1900" dirty="0"/>
              <a:t>        The equivalent of %d miles is:</a:t>
            </a:r>
          </a:p>
          <a:p>
            <a:pPr lvl="1">
              <a:buFont typeface="Wingdings" panose="05000000000000000000" pitchFamily="2" charset="2"/>
              <a:buChar char="Ø"/>
            </a:pPr>
            <a:r>
              <a:rPr lang="en-US" sz="1900" dirty="0"/>
              <a:t>            %,d yards,</a:t>
            </a:r>
          </a:p>
          <a:p>
            <a:pPr lvl="1">
              <a:buFont typeface="Wingdings" panose="05000000000000000000" pitchFamily="2" charset="2"/>
              <a:buChar char="Ø"/>
            </a:pPr>
            <a:r>
              <a:rPr lang="en-US" sz="1900" dirty="0"/>
              <a:t>            %,d feet, or</a:t>
            </a:r>
          </a:p>
          <a:p>
            <a:pPr lvl="1">
              <a:buFont typeface="Wingdings" panose="05000000000000000000" pitchFamily="2" charset="2"/>
              <a:buChar char="Ø"/>
            </a:pPr>
            <a:r>
              <a:rPr lang="en-US" sz="1900" dirty="0"/>
              <a:t>            %,d inches</a:t>
            </a:r>
          </a:p>
          <a:p>
            <a:pPr lvl="1">
              <a:buFont typeface="Wingdings" panose="05000000000000000000" pitchFamily="2" charset="2"/>
              <a:buChar char="Ø"/>
            </a:pPr>
            <a:r>
              <a:rPr lang="en-US" sz="1900" dirty="0"/>
              <a:t>        """.formatted(miles, 1760 * miles, 5280 * miles, 12 * 5280 * miles);</a:t>
            </a:r>
          </a:p>
          <a:p>
            <a:pPr lvl="1">
              <a:buFont typeface="Wingdings" panose="05000000000000000000" pitchFamily="2" charset="2"/>
              <a:buChar char="Ø"/>
            </a:pPr>
            <a:endParaRPr lang="en-US" sz="1900" dirty="0"/>
          </a:p>
          <a:p>
            <a:pPr lvl="1">
              <a:buFont typeface="Wingdings" panose="05000000000000000000" pitchFamily="2" charset="2"/>
              <a:buChar char="Ø"/>
            </a:pPr>
            <a:r>
              <a:rPr lang="en-US" sz="1900" dirty="0"/>
              <a:t>System.out.printf("%s", </a:t>
            </a:r>
            <a:r>
              <a:rPr lang="en-US" sz="1900" dirty="0" err="1"/>
              <a:t>formattedOutput</a:t>
            </a:r>
            <a:r>
              <a:rPr lang="en-US" sz="1900" dirty="0"/>
              <a:t>);</a:t>
            </a:r>
          </a:p>
        </p:txBody>
      </p:sp>
    </p:spTree>
    <p:extLst>
      <p:ext uri="{BB962C8B-B14F-4D97-AF65-F5344CB8AC3E}">
        <p14:creationId xmlns:p14="http://schemas.microsoft.com/office/powerpoint/2010/main" val="27497564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D3D62-AC9A-3C0D-3CC8-7ACD7B0C5B9D}"/>
              </a:ext>
            </a:extLst>
          </p:cNvPr>
          <p:cNvSpPr>
            <a:spLocks noGrp="1"/>
          </p:cNvSpPr>
          <p:nvPr>
            <p:ph type="title"/>
          </p:nvPr>
        </p:nvSpPr>
        <p:spPr>
          <a:xfrm>
            <a:off x="581192" y="702156"/>
            <a:ext cx="11029616" cy="532284"/>
          </a:xfrm>
        </p:spPr>
        <p:txBody>
          <a:bodyPr/>
          <a:lstStyle/>
          <a:p>
            <a:r>
              <a:rPr lang="en-US" dirty="0"/>
              <a:t>Basic TextIO Input Functions</a:t>
            </a:r>
          </a:p>
        </p:txBody>
      </p:sp>
      <p:sp>
        <p:nvSpPr>
          <p:cNvPr id="3" name="Content Placeholder 2">
            <a:extLst>
              <a:ext uri="{FF2B5EF4-FFF2-40B4-BE49-F238E27FC236}">
                <a16:creationId xmlns:a16="http://schemas.microsoft.com/office/drawing/2014/main" id="{8CF99B98-32EA-9F92-03F5-43C87222F5A9}"/>
              </a:ext>
            </a:extLst>
          </p:cNvPr>
          <p:cNvSpPr>
            <a:spLocks noGrp="1"/>
          </p:cNvSpPr>
          <p:nvPr>
            <p:ph idx="1"/>
          </p:nvPr>
        </p:nvSpPr>
        <p:spPr>
          <a:xfrm>
            <a:off x="581192" y="1234440"/>
            <a:ext cx="11029615" cy="5303520"/>
          </a:xfrm>
        </p:spPr>
        <p:txBody>
          <a:bodyPr>
            <a:normAutofit fontScale="85000" lnSpcReduction="10000"/>
          </a:bodyPr>
          <a:lstStyle/>
          <a:p>
            <a:r>
              <a:rPr lang="en-US" sz="2400" dirty="0"/>
              <a:t>TextIO includes a variety of functions for inputting values of various types. Here are the functions that you are most likely to use:</a:t>
            </a:r>
          </a:p>
          <a:p>
            <a:pPr lvl="1">
              <a:buFont typeface="Wingdings" panose="05000000000000000000" pitchFamily="2" charset="2"/>
              <a:buChar char="Ø"/>
            </a:pPr>
            <a:r>
              <a:rPr lang="en-US" sz="2000" dirty="0"/>
              <a:t>j = TextIO.getlnInt();     // Reads a value of type int.</a:t>
            </a:r>
          </a:p>
          <a:p>
            <a:pPr lvl="1">
              <a:buFont typeface="Wingdings" panose="05000000000000000000" pitchFamily="2" charset="2"/>
              <a:buChar char="Ø"/>
            </a:pPr>
            <a:r>
              <a:rPr lang="en-US" sz="2000" dirty="0"/>
              <a:t>y = </a:t>
            </a:r>
            <a:r>
              <a:rPr lang="en-US" sz="2000" dirty="0" err="1"/>
              <a:t>TextIO.getlnDouble</a:t>
            </a:r>
            <a:r>
              <a:rPr lang="en-US" sz="2000" dirty="0"/>
              <a:t>();  // Reads a value of type double.</a:t>
            </a:r>
          </a:p>
          <a:p>
            <a:pPr lvl="1">
              <a:buFont typeface="Wingdings" panose="05000000000000000000" pitchFamily="2" charset="2"/>
              <a:buChar char="Ø"/>
            </a:pPr>
            <a:r>
              <a:rPr lang="en-US" sz="2000" dirty="0"/>
              <a:t>a = TextIO.getlnBoolean(); // Reads a value of type boolean.</a:t>
            </a:r>
          </a:p>
          <a:p>
            <a:pPr lvl="1">
              <a:buFont typeface="Wingdings" panose="05000000000000000000" pitchFamily="2" charset="2"/>
              <a:buChar char="Ø"/>
            </a:pPr>
            <a:r>
              <a:rPr lang="en-US" sz="2000" dirty="0"/>
              <a:t>c = </a:t>
            </a:r>
            <a:r>
              <a:rPr lang="en-US" sz="2000" dirty="0" err="1"/>
              <a:t>TextIO.getlnChar</a:t>
            </a:r>
            <a:r>
              <a:rPr lang="en-US" sz="2000" dirty="0"/>
              <a:t>();    // Reads a value of type char.</a:t>
            </a:r>
          </a:p>
          <a:p>
            <a:pPr lvl="1">
              <a:buFont typeface="Wingdings" panose="05000000000000000000" pitchFamily="2" charset="2"/>
              <a:buChar char="Ø"/>
            </a:pPr>
            <a:r>
              <a:rPr lang="en-US" sz="2000" dirty="0"/>
              <a:t>w = TextIO.getlnWord();    // Reads one "word" as a value of type String.</a:t>
            </a:r>
          </a:p>
          <a:p>
            <a:pPr lvl="1">
              <a:buFont typeface="Wingdings" panose="05000000000000000000" pitchFamily="2" charset="2"/>
              <a:buChar char="Ø"/>
            </a:pPr>
            <a:r>
              <a:rPr lang="en-US" sz="2000" dirty="0"/>
              <a:t>s = TextIO.getln();        // Reads an entire input line as a String.</a:t>
            </a:r>
          </a:p>
          <a:p>
            <a:r>
              <a:rPr lang="en-US" sz="2400" b="1" i="1" dirty="0"/>
              <a:t>For these statements to be legal, the variables on the left side of each assignment statement must already be declared and must be of the same type as that returned by the function on the right side</a:t>
            </a:r>
            <a:r>
              <a:rPr lang="en-US" sz="2400" dirty="0"/>
              <a:t>. Note carefully that these functions do not have parameters. The values that they return come from outside the program, typed in by the user as the program is running. </a:t>
            </a:r>
          </a:p>
          <a:p>
            <a:r>
              <a:rPr lang="en-US" sz="2400" dirty="0"/>
              <a:t>To "capture" that data so that you can use it in your program, you have to assign the return value of the function to a variable. You will then be able to refer to the user's input value by using the name of the variable.</a:t>
            </a:r>
          </a:p>
        </p:txBody>
      </p:sp>
    </p:spTree>
    <p:extLst>
      <p:ext uri="{BB962C8B-B14F-4D97-AF65-F5344CB8AC3E}">
        <p14:creationId xmlns:p14="http://schemas.microsoft.com/office/powerpoint/2010/main" val="4511379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66B979-A6BC-8DED-24EE-C5F0116C5C2A}"/>
              </a:ext>
            </a:extLst>
          </p:cNvPr>
          <p:cNvSpPr>
            <a:spLocks noGrp="1"/>
          </p:cNvSpPr>
          <p:nvPr>
            <p:ph idx="1"/>
          </p:nvPr>
        </p:nvSpPr>
        <p:spPr>
          <a:xfrm>
            <a:off x="581192" y="655320"/>
            <a:ext cx="11029615" cy="5958840"/>
          </a:xfrm>
        </p:spPr>
        <p:txBody>
          <a:bodyPr>
            <a:normAutofit fontScale="92500"/>
          </a:bodyPr>
          <a:lstStyle/>
          <a:p>
            <a:r>
              <a:rPr lang="en-US" sz="2000" dirty="0"/>
              <a:t>When you call one of these functions, you are guaranteed that it will return a legal value of the correct type. If the user types in an illegal value as input—for example, if you ask for an int and the user types in a non-numeric character or a number that is outside the legal range of values that can be stored in a variable of type int—then the computer will ask the user to re-enter the value, and your program never sees the first, illegal value that the user entered. For TextIO.getlnBoolean(), the user is allowed to type in any of the following: true, false, t, f, yes, no, y, n, 1, or 0. Furthermore, they can use either upper or lower case letters. In any case, the user's input is interpreted as a true/false value. It's convenient to use TextIO.getlnBoolean() to read the user's response to a Yes/No question.</a:t>
            </a:r>
          </a:p>
          <a:p>
            <a:r>
              <a:rPr lang="en-US" sz="2000" dirty="0"/>
              <a:t>You'll notice that there are two input functions that return Strings. The first, getlnWord(), returns a string consisting of non-blank characters only. When it is called, it skips over any spaces and carriage returns typed in by the user. Then it reads non-blank characters until it gets to the next space or carriage return. It returns a String consisting of all the non-blank characters that it has read. The second input function, getln(), simply returns a string consisting of all the characters typed in by the user, including spaces, up to the next carriage return. It gets an entire line of input text. The carriage return itself is not returned as part of the input string, but it is read and discarded by the computer. Note that the String returned by TextIO.getln() might be the empty string, "", which contains no characters at all. You will get this return value if the user simply presses return, without typing anything else first.</a:t>
            </a:r>
          </a:p>
        </p:txBody>
      </p:sp>
    </p:spTree>
    <p:extLst>
      <p:ext uri="{BB962C8B-B14F-4D97-AF65-F5344CB8AC3E}">
        <p14:creationId xmlns:p14="http://schemas.microsoft.com/office/powerpoint/2010/main" val="9646762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581D6D-8313-8A47-7346-93BF21884B11}"/>
              </a:ext>
            </a:extLst>
          </p:cNvPr>
          <p:cNvSpPr>
            <a:spLocks noGrp="1"/>
          </p:cNvSpPr>
          <p:nvPr>
            <p:ph idx="1"/>
          </p:nvPr>
        </p:nvSpPr>
        <p:spPr>
          <a:xfrm>
            <a:off x="581192" y="853440"/>
            <a:ext cx="11029615" cy="5577840"/>
          </a:xfrm>
        </p:spPr>
        <p:txBody>
          <a:bodyPr>
            <a:normAutofit fontScale="92500" lnSpcReduction="20000"/>
          </a:bodyPr>
          <a:lstStyle/>
          <a:p>
            <a:r>
              <a:rPr lang="en-US" sz="2400" dirty="0"/>
              <a:t>TextIO.getln() does not skip blanks or end-of-lines before reading a value. But the input functions getlnInt(), getlnDouble(), getlnBoolean(), and getlnChar() behave like getlnWord() in that they will skip past any blanks and carriage returns in the input before reading a value. When one of these functions skips over an end-of-line, it outputs a '?' to let the user know that more input is expected.</a:t>
            </a:r>
          </a:p>
          <a:p>
            <a:r>
              <a:rPr lang="en-US" sz="2400" dirty="0"/>
              <a:t>Furthermore, if the user types extra characters on the line after the input value, all the extra characters will be discarded, along with the carriage return at the end of the line. If the program executes another input function, the user will have to type in another line of input, even if they had typed more than one value on the previous line. It might not sound like a good idea to discard any of the user's input, but it turns out to be the safest thing to do in most programs.</a:t>
            </a:r>
          </a:p>
          <a:p>
            <a:r>
              <a:rPr lang="en-US" sz="2400" dirty="0"/>
              <a:t>Using TextIO for input and output, we can now improve the program from Section 2.2 for computing the value of an investment. We can have the user type in the initial value of the investment and the interest rate. The result is a much more useful program—for one thing, it makes sense to run it more than once! Note that this program uses formatted output to print out monetary values in their correct format.</a:t>
            </a:r>
          </a:p>
        </p:txBody>
      </p:sp>
    </p:spTree>
    <p:extLst>
      <p:ext uri="{BB962C8B-B14F-4D97-AF65-F5344CB8AC3E}">
        <p14:creationId xmlns:p14="http://schemas.microsoft.com/office/powerpoint/2010/main" val="6538251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A1E27-E300-5ABB-8AE1-403728EB2DDE}"/>
              </a:ext>
            </a:extLst>
          </p:cNvPr>
          <p:cNvSpPr>
            <a:spLocks noGrp="1"/>
          </p:cNvSpPr>
          <p:nvPr>
            <p:ph type="title"/>
          </p:nvPr>
        </p:nvSpPr>
        <p:spPr>
          <a:xfrm>
            <a:off x="581192" y="702156"/>
            <a:ext cx="11029616" cy="623724"/>
          </a:xfrm>
        </p:spPr>
        <p:txBody>
          <a:bodyPr/>
          <a:lstStyle/>
          <a:p>
            <a:r>
              <a:rPr lang="en-US" dirty="0"/>
              <a:t>Introduction to File I/O</a:t>
            </a:r>
          </a:p>
        </p:txBody>
      </p:sp>
      <p:sp>
        <p:nvSpPr>
          <p:cNvPr id="3" name="Content Placeholder 2">
            <a:extLst>
              <a:ext uri="{FF2B5EF4-FFF2-40B4-BE49-F238E27FC236}">
                <a16:creationId xmlns:a16="http://schemas.microsoft.com/office/drawing/2014/main" id="{86CFCE34-350A-1457-D0FA-2D52AA921C13}"/>
              </a:ext>
            </a:extLst>
          </p:cNvPr>
          <p:cNvSpPr>
            <a:spLocks noGrp="1"/>
          </p:cNvSpPr>
          <p:nvPr>
            <p:ph idx="1"/>
          </p:nvPr>
        </p:nvSpPr>
        <p:spPr>
          <a:xfrm>
            <a:off x="581192" y="1325880"/>
            <a:ext cx="11029615" cy="5379720"/>
          </a:xfrm>
        </p:spPr>
        <p:txBody>
          <a:bodyPr>
            <a:normAutofit/>
          </a:bodyPr>
          <a:lstStyle/>
          <a:p>
            <a:r>
              <a:rPr lang="en-US" sz="2000" b="1" i="1" dirty="0"/>
              <a:t>System.out </a:t>
            </a:r>
            <a:r>
              <a:rPr lang="en-US" sz="2000" dirty="0"/>
              <a:t>sends its output to the output destination known as "standard output." But standard output is just one possible output destination. For example, data can be written to a file that is stored on the user's hard drive. The advantage to this, of course, is that the data is saved in the file even after the program ends, and the user can print the file, email it to someone else, edit it with another program, and so on. Similarly, System.in has only one possible source for input data.</a:t>
            </a:r>
          </a:p>
          <a:p>
            <a:r>
              <a:rPr lang="en-US" sz="2000" b="1" i="1" dirty="0"/>
              <a:t>TextIO has the ability to write data to files and to read data from files</a:t>
            </a:r>
            <a:r>
              <a:rPr lang="en-US" sz="2000" dirty="0"/>
              <a:t>. TextIO includes output functions TextIO.put, TextIO.putln, and </a:t>
            </a:r>
            <a:r>
              <a:rPr lang="en-US" sz="2000" dirty="0" err="1"/>
              <a:t>TextIO.putf</a:t>
            </a:r>
            <a:r>
              <a:rPr lang="en-US" sz="2000" dirty="0"/>
              <a:t>. Ordinarily, these functions work exactly like System.out.print, System.out.println, and System.out.printf and are interchangeable with them. However, they can also be used to output text to files and to other destinations.</a:t>
            </a:r>
          </a:p>
          <a:p>
            <a:r>
              <a:rPr lang="en-US" sz="2000" dirty="0"/>
              <a:t>When you write output using </a:t>
            </a:r>
            <a:r>
              <a:rPr lang="en-US" sz="2000" dirty="0" err="1"/>
              <a:t>TextIO.put</a:t>
            </a:r>
            <a:r>
              <a:rPr lang="en-US" sz="2000" dirty="0"/>
              <a:t>, </a:t>
            </a:r>
            <a:r>
              <a:rPr lang="en-US" sz="2000" dirty="0" err="1"/>
              <a:t>TextIO.putln</a:t>
            </a:r>
            <a:r>
              <a:rPr lang="en-US" sz="2000" dirty="0"/>
              <a:t>, or </a:t>
            </a:r>
            <a:r>
              <a:rPr lang="en-US" sz="2000" dirty="0" err="1"/>
              <a:t>TextIO.putf</a:t>
            </a:r>
            <a:r>
              <a:rPr lang="en-US" sz="2000" dirty="0"/>
              <a:t>, the output is sent to the current output destination. By default, the current output destination is standard output. However, TextIO has subroutines that can be used to change the current output destination. To write to a file named "result.txt", for example, you would use the statement:</a:t>
            </a:r>
          </a:p>
          <a:p>
            <a:pPr lvl="1">
              <a:buFont typeface="Wingdings" panose="05000000000000000000" pitchFamily="2" charset="2"/>
              <a:buChar char="Ø"/>
            </a:pPr>
            <a:r>
              <a:rPr lang="en-US" sz="1800" dirty="0" err="1"/>
              <a:t>TextIO.writeFile</a:t>
            </a:r>
            <a:r>
              <a:rPr lang="en-US" sz="1800" dirty="0"/>
              <a:t>("result.txt");</a:t>
            </a:r>
          </a:p>
        </p:txBody>
      </p:sp>
    </p:spTree>
    <p:extLst>
      <p:ext uri="{BB962C8B-B14F-4D97-AF65-F5344CB8AC3E}">
        <p14:creationId xmlns:p14="http://schemas.microsoft.com/office/powerpoint/2010/main" val="2572058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F5245D-57DA-5A9B-60DF-9CA5A3E4AFE0}"/>
              </a:ext>
            </a:extLst>
          </p:cNvPr>
          <p:cNvSpPr>
            <a:spLocks noGrp="1"/>
          </p:cNvSpPr>
          <p:nvPr>
            <p:ph idx="1"/>
          </p:nvPr>
        </p:nvSpPr>
        <p:spPr>
          <a:xfrm>
            <a:off x="581192" y="899160"/>
            <a:ext cx="11029615" cy="5532120"/>
          </a:xfrm>
        </p:spPr>
        <p:txBody>
          <a:bodyPr>
            <a:normAutofit/>
          </a:bodyPr>
          <a:lstStyle/>
          <a:p>
            <a:r>
              <a:rPr lang="en-US" sz="2400" dirty="0"/>
              <a:t>After this statement is executed, any output from TextIO output statements will be sent to the file named "result.txt" instead of to standard output. The file will be created if it does not already exist. Note that if a file with the same name already exists, its previous contents will be erased without any warning!</a:t>
            </a:r>
          </a:p>
          <a:p>
            <a:r>
              <a:rPr lang="en-US" sz="2400" dirty="0"/>
              <a:t>When you call TextIO.writeFile, TextIO remembers the file and automatically sends any output from TextIO.put or other output functions to that file. If you want to go back to writing to standard output, you can call</a:t>
            </a:r>
          </a:p>
          <a:p>
            <a:pPr lvl="1">
              <a:buFont typeface="Wingdings" panose="05000000000000000000" pitchFamily="2" charset="2"/>
              <a:buChar char="Ø"/>
            </a:pPr>
            <a:r>
              <a:rPr lang="en-US" sz="2000" dirty="0"/>
              <a:t>TextIO.writeStandardOutput();</a:t>
            </a:r>
          </a:p>
          <a:p>
            <a:r>
              <a:rPr lang="en-US" sz="2400" dirty="0"/>
              <a:t>Here is a simple program that asks the user some questions and outputs the user's responses to a file named "profile.txt." As an example, it uses TextIO for output to standard output as well as to the file, but System.out could also have been used for the output to standard output.</a:t>
            </a:r>
          </a:p>
        </p:txBody>
      </p:sp>
    </p:spTree>
    <p:extLst>
      <p:ext uri="{BB962C8B-B14F-4D97-AF65-F5344CB8AC3E}">
        <p14:creationId xmlns:p14="http://schemas.microsoft.com/office/powerpoint/2010/main" val="596661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98CB47-232C-3CBD-7ED3-E14C346934D8}"/>
              </a:ext>
            </a:extLst>
          </p:cNvPr>
          <p:cNvSpPr>
            <a:spLocks noGrp="1"/>
          </p:cNvSpPr>
          <p:nvPr>
            <p:ph idx="1"/>
          </p:nvPr>
        </p:nvSpPr>
        <p:spPr>
          <a:xfrm>
            <a:off x="581192" y="838200"/>
            <a:ext cx="11029615" cy="5562600"/>
          </a:xfrm>
        </p:spPr>
        <p:txBody>
          <a:bodyPr>
            <a:normAutofit fontScale="92500" lnSpcReduction="20000"/>
          </a:bodyPr>
          <a:lstStyle/>
          <a:p>
            <a:r>
              <a:rPr lang="en-US" sz="2800" dirty="0"/>
              <a:t>In many cases, you want to let the user select the file that will be used for output. You could ask the user to type in the file name, but that is error-prone, and users are more familiar with selecting a file from a file dialog box. The statement</a:t>
            </a:r>
          </a:p>
          <a:p>
            <a:pPr lvl="1">
              <a:buFont typeface="Wingdings" panose="05000000000000000000" pitchFamily="2" charset="2"/>
              <a:buChar char="Ø"/>
            </a:pPr>
            <a:r>
              <a:rPr lang="en-US" sz="2400" dirty="0" err="1"/>
              <a:t>TextIO.writeUserSelectedFile</a:t>
            </a:r>
            <a:r>
              <a:rPr lang="en-US" sz="2400" dirty="0"/>
              <a:t>();</a:t>
            </a:r>
          </a:p>
          <a:p>
            <a:r>
              <a:rPr lang="en-US" sz="2800" dirty="0"/>
              <a:t>will open a typical graphical-user-interface file selection dialog where the user can specify the output file. This also has the advantage of alerting the user if they are about to replace an existing file. It is possible for the user to cancel the dialog box without selecting a file. </a:t>
            </a:r>
          </a:p>
          <a:p>
            <a:r>
              <a:rPr lang="en-US" sz="2800" dirty="0"/>
              <a:t>TextIO.writeUserSelectedFile is a function that returns a boolean value. The return value is true if the user selected a file, and is false if the user canceled the dialog box. Your program can check the return value if it needs to know whether it is actually going to write to a file or not.</a:t>
            </a:r>
          </a:p>
        </p:txBody>
      </p:sp>
    </p:spTree>
    <p:extLst>
      <p:ext uri="{BB962C8B-B14F-4D97-AF65-F5344CB8AC3E}">
        <p14:creationId xmlns:p14="http://schemas.microsoft.com/office/powerpoint/2010/main" val="24152978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939969-7B9E-4D06-9F77-4FF70AB901F0}"/>
              </a:ext>
            </a:extLst>
          </p:cNvPr>
          <p:cNvSpPr>
            <a:spLocks noGrp="1"/>
          </p:cNvSpPr>
          <p:nvPr>
            <p:ph idx="1"/>
          </p:nvPr>
        </p:nvSpPr>
        <p:spPr>
          <a:xfrm>
            <a:off x="581192" y="655320"/>
            <a:ext cx="11029615" cy="5928360"/>
          </a:xfrm>
        </p:spPr>
        <p:txBody>
          <a:bodyPr>
            <a:normAutofit fontScale="92500"/>
          </a:bodyPr>
          <a:lstStyle/>
          <a:p>
            <a:r>
              <a:rPr lang="en-US" sz="2400" dirty="0"/>
              <a:t>TextIO can also read from files, as an alternative to reading from standard input. You can specify an input source for </a:t>
            </a:r>
            <a:r>
              <a:rPr lang="en-US" sz="2400" dirty="0" err="1"/>
              <a:t>TextIO's</a:t>
            </a:r>
            <a:r>
              <a:rPr lang="en-US" sz="2400" dirty="0"/>
              <a:t> various "get" functions. The default input source is standard input. You can use the statement </a:t>
            </a:r>
            <a:r>
              <a:rPr lang="en-US" sz="2400" dirty="0" err="1"/>
              <a:t>TextIO.readFile</a:t>
            </a:r>
            <a:r>
              <a:rPr lang="en-US" sz="2400" dirty="0"/>
              <a:t>("data.txt") to read from a file named "data.txt" instead, or you can let the user select the input file with a GUI-style dialog box by saying </a:t>
            </a:r>
            <a:r>
              <a:rPr lang="en-US" sz="2400" dirty="0" err="1"/>
              <a:t>TextIO.readUserSelectedFile</a:t>
            </a:r>
            <a:r>
              <a:rPr lang="en-US" sz="2400" dirty="0"/>
              <a:t>(). After you have done this, any input will come from the file instead of being typed by the user. You can go back to reading the user's input with </a:t>
            </a:r>
            <a:r>
              <a:rPr lang="en-US" sz="2400" dirty="0" err="1"/>
              <a:t>TextIO.readStandardInput</a:t>
            </a:r>
            <a:r>
              <a:rPr lang="en-US" sz="2400" dirty="0"/>
              <a:t>().</a:t>
            </a:r>
          </a:p>
          <a:p>
            <a:r>
              <a:rPr lang="en-US" sz="2400" dirty="0"/>
              <a:t>When your program is reading from standard input, the user gets a chance to correct any errors in the input. This is not possible when the program is reading from a file. If illegal data is found when a program tries to read from a file, an error occurs that will crash the program. (Later, we will see that it is possible to "catch" such errors and recover from them.) Errors can also occur, though more rarely, when writing to files.</a:t>
            </a:r>
          </a:p>
          <a:p>
            <a:r>
              <a:rPr lang="en-US" sz="2400" dirty="0"/>
              <a:t>The file I/O capabilities in the TextIO class are rather primitive by comparison. Nevertheless, they are sufficient for many applications, and they will allow you to get some experience with files sooner rather than later.</a:t>
            </a:r>
          </a:p>
        </p:txBody>
      </p:sp>
    </p:spTree>
    <p:extLst>
      <p:ext uri="{BB962C8B-B14F-4D97-AF65-F5344CB8AC3E}">
        <p14:creationId xmlns:p14="http://schemas.microsoft.com/office/powerpoint/2010/main" val="17865896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9F454-9EAE-873C-2262-0AC192125485}"/>
              </a:ext>
            </a:extLst>
          </p:cNvPr>
          <p:cNvSpPr>
            <a:spLocks noGrp="1"/>
          </p:cNvSpPr>
          <p:nvPr>
            <p:ph type="title"/>
          </p:nvPr>
        </p:nvSpPr>
        <p:spPr>
          <a:xfrm>
            <a:off x="581192" y="702156"/>
            <a:ext cx="11029616" cy="501804"/>
          </a:xfrm>
        </p:spPr>
        <p:txBody>
          <a:bodyPr>
            <a:normAutofit fontScale="90000"/>
          </a:bodyPr>
          <a:lstStyle/>
          <a:p>
            <a:r>
              <a:rPr lang="en-US" dirty="0"/>
              <a:t>Other TextIO Features</a:t>
            </a:r>
          </a:p>
        </p:txBody>
      </p:sp>
      <p:sp>
        <p:nvSpPr>
          <p:cNvPr id="3" name="Content Placeholder 2">
            <a:extLst>
              <a:ext uri="{FF2B5EF4-FFF2-40B4-BE49-F238E27FC236}">
                <a16:creationId xmlns:a16="http://schemas.microsoft.com/office/drawing/2014/main" id="{3189C36C-5FBA-DAB2-56FB-B4BC4496CFAA}"/>
              </a:ext>
            </a:extLst>
          </p:cNvPr>
          <p:cNvSpPr>
            <a:spLocks noGrp="1"/>
          </p:cNvSpPr>
          <p:nvPr>
            <p:ph idx="1"/>
          </p:nvPr>
        </p:nvSpPr>
        <p:spPr>
          <a:xfrm>
            <a:off x="581192" y="1325880"/>
            <a:ext cx="11029615" cy="5105400"/>
          </a:xfrm>
        </p:spPr>
        <p:txBody>
          <a:bodyPr>
            <a:normAutofit lnSpcReduction="10000"/>
          </a:bodyPr>
          <a:lstStyle/>
          <a:p>
            <a:r>
              <a:rPr lang="en-US" sz="2800" dirty="0"/>
              <a:t>The TextIO input functions that we have seen so far can only read one value from a line of input. Sometimes, however, you do want to read more than one value from the same line of input. For example, you might want the user to be able to type something like "42 17" to input the two numbers 42 and 17 on the same line. TextIO provides the following alternative input functions to allow you to do this:</a:t>
            </a:r>
          </a:p>
          <a:p>
            <a:pPr lvl="1">
              <a:buFont typeface="Wingdings" panose="05000000000000000000" pitchFamily="2" charset="2"/>
              <a:buChar char="Ø"/>
            </a:pPr>
            <a:r>
              <a:rPr lang="en-US" sz="2400" dirty="0"/>
              <a:t>j = </a:t>
            </a:r>
            <a:r>
              <a:rPr lang="en-US" sz="2400" dirty="0" err="1"/>
              <a:t>TextIO.getInt</a:t>
            </a:r>
            <a:r>
              <a:rPr lang="en-US" sz="2400" dirty="0"/>
              <a:t>();     // Reads a value of type int.</a:t>
            </a:r>
          </a:p>
          <a:p>
            <a:pPr lvl="1">
              <a:buFont typeface="Wingdings" panose="05000000000000000000" pitchFamily="2" charset="2"/>
              <a:buChar char="Ø"/>
            </a:pPr>
            <a:r>
              <a:rPr lang="en-US" sz="2400" dirty="0"/>
              <a:t>y = </a:t>
            </a:r>
            <a:r>
              <a:rPr lang="en-US" sz="2400" dirty="0" err="1"/>
              <a:t>TextIO.getDouble</a:t>
            </a:r>
            <a:r>
              <a:rPr lang="en-US" sz="2400" dirty="0"/>
              <a:t>();  // Reads a value of type double.</a:t>
            </a:r>
          </a:p>
          <a:p>
            <a:pPr lvl="1">
              <a:buFont typeface="Wingdings" panose="05000000000000000000" pitchFamily="2" charset="2"/>
              <a:buChar char="Ø"/>
            </a:pPr>
            <a:r>
              <a:rPr lang="en-US" sz="2400" dirty="0"/>
              <a:t>a = </a:t>
            </a:r>
            <a:r>
              <a:rPr lang="en-US" sz="2400" dirty="0" err="1"/>
              <a:t>TextIO.getBoolean</a:t>
            </a:r>
            <a:r>
              <a:rPr lang="en-US" sz="2400" dirty="0"/>
              <a:t>(); // Reads a value of type boolean.</a:t>
            </a:r>
          </a:p>
          <a:p>
            <a:pPr lvl="1">
              <a:buFont typeface="Wingdings" panose="05000000000000000000" pitchFamily="2" charset="2"/>
              <a:buChar char="Ø"/>
            </a:pPr>
            <a:r>
              <a:rPr lang="en-US" sz="2400" dirty="0"/>
              <a:t>c = </a:t>
            </a:r>
            <a:r>
              <a:rPr lang="en-US" sz="2400" dirty="0" err="1"/>
              <a:t>TextIO.getChar</a:t>
            </a:r>
            <a:r>
              <a:rPr lang="en-US" sz="2400" dirty="0"/>
              <a:t>();    // Reads a value of type char.</a:t>
            </a:r>
          </a:p>
          <a:p>
            <a:pPr lvl="1">
              <a:buFont typeface="Wingdings" panose="05000000000000000000" pitchFamily="2" charset="2"/>
              <a:buChar char="Ø"/>
            </a:pPr>
            <a:r>
              <a:rPr lang="en-US" sz="2400" dirty="0"/>
              <a:t>w = </a:t>
            </a:r>
            <a:r>
              <a:rPr lang="en-US" sz="2400" dirty="0" err="1"/>
              <a:t>TextIO.getWord</a:t>
            </a:r>
            <a:r>
              <a:rPr lang="en-US" sz="2400" dirty="0"/>
              <a:t>();    // Reads one "word" as a value of type String.</a:t>
            </a:r>
          </a:p>
        </p:txBody>
      </p:sp>
    </p:spTree>
    <p:extLst>
      <p:ext uri="{BB962C8B-B14F-4D97-AF65-F5344CB8AC3E}">
        <p14:creationId xmlns:p14="http://schemas.microsoft.com/office/powerpoint/2010/main" val="26800345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7AB461-BB81-E292-A388-AE6D4BE4039D}"/>
              </a:ext>
            </a:extLst>
          </p:cNvPr>
          <p:cNvSpPr>
            <a:spLocks noGrp="1"/>
          </p:cNvSpPr>
          <p:nvPr>
            <p:ph idx="1"/>
          </p:nvPr>
        </p:nvSpPr>
        <p:spPr>
          <a:xfrm>
            <a:off x="581192" y="868680"/>
            <a:ext cx="11029615" cy="5684520"/>
          </a:xfrm>
        </p:spPr>
        <p:txBody>
          <a:bodyPr>
            <a:normAutofit lnSpcReduction="10000"/>
          </a:bodyPr>
          <a:lstStyle/>
          <a:p>
            <a:r>
              <a:rPr lang="en-US" sz="2000" dirty="0"/>
              <a:t>The names of these functions start with "get" instead of "getln". </a:t>
            </a:r>
            <a:r>
              <a:rPr lang="en-US" sz="2000" b="1" i="1" dirty="0"/>
              <a:t>"Getln" is short for "get line" </a:t>
            </a:r>
            <a:r>
              <a:rPr lang="en-US" sz="2000" dirty="0"/>
              <a:t>and should remind you that the functions whose names begin with "getln" will consume an entire line of data. A function without the "ln" will read an input value in the same way, but will then save the rest of the input line in a chunk of internal memory called the </a:t>
            </a:r>
            <a:r>
              <a:rPr lang="en-US" sz="2000" b="1" i="1" dirty="0"/>
              <a:t>input buffer. </a:t>
            </a:r>
          </a:p>
          <a:p>
            <a:r>
              <a:rPr lang="en-US" sz="2000" dirty="0"/>
              <a:t>The next time the computer wants to read an input value, it will look in the input buffer before prompting the user for input. This allows the computer to read several values from one line of the user's input. Strictly speaking, the computer actually reads only from the input buffer. The first time the program tries to read input from the user, the computer will wait while the user types in an entire line of input. TextIO stores that line in the input buffer until the data on the line has been read or discarded (by one of the "getln" functions). The user only gets to type when the buffer is empty.</a:t>
            </a:r>
          </a:p>
          <a:p>
            <a:r>
              <a:rPr lang="en-US" sz="2000" dirty="0"/>
              <a:t>Previously, I said that TextIO.getln() reads a full line of input. Given the way that TextIO uses the input buffer, that is not quite true. In fact, </a:t>
            </a:r>
            <a:r>
              <a:rPr lang="en-US" sz="2000" b="1" i="1" dirty="0"/>
              <a:t>if TextIO.getln() is called when the buffer is not empty, then it will simply return whatever characters remain in the buffer without getting a new line of input from the user. </a:t>
            </a:r>
            <a:r>
              <a:rPr lang="en-US" sz="2000" dirty="0"/>
              <a:t>If you ever want to empty the input buffer and simply discard the input, you can call TextIO.getln() as a subroutine, without assigning the returned value to a variable:</a:t>
            </a:r>
          </a:p>
          <a:p>
            <a:pPr lvl="1">
              <a:buFont typeface="Wingdings" panose="05000000000000000000" pitchFamily="2" charset="2"/>
              <a:buChar char="Ø"/>
            </a:pPr>
            <a:r>
              <a:rPr lang="en-US" sz="1800" dirty="0"/>
              <a:t>TextIO.getln();</a:t>
            </a:r>
          </a:p>
        </p:txBody>
      </p:sp>
    </p:spTree>
    <p:extLst>
      <p:ext uri="{BB962C8B-B14F-4D97-AF65-F5344CB8AC3E}">
        <p14:creationId xmlns:p14="http://schemas.microsoft.com/office/powerpoint/2010/main" val="5062597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C9AEE3-1A2D-2812-3BA9-B18521E9C75B}"/>
              </a:ext>
            </a:extLst>
          </p:cNvPr>
          <p:cNvSpPr>
            <a:spLocks noGrp="1"/>
          </p:cNvSpPr>
          <p:nvPr>
            <p:ph idx="1"/>
          </p:nvPr>
        </p:nvSpPr>
        <p:spPr>
          <a:xfrm>
            <a:off x="581192" y="807720"/>
            <a:ext cx="11029615" cy="5882640"/>
          </a:xfrm>
        </p:spPr>
        <p:txBody>
          <a:bodyPr>
            <a:normAutofit lnSpcReduction="10000"/>
          </a:bodyPr>
          <a:lstStyle/>
          <a:p>
            <a:r>
              <a:rPr lang="en-US" sz="2400" dirty="0"/>
              <a:t>Note, by the way, that although most TextIO input functions will skip past blank spaces and carriage returns while looking for input, they will not skip past other characters. For example, if you try to read two </a:t>
            </a:r>
            <a:r>
              <a:rPr lang="en-US" sz="2400" dirty="0" err="1"/>
              <a:t>ints</a:t>
            </a:r>
            <a:r>
              <a:rPr lang="en-US" sz="2400" dirty="0"/>
              <a:t> and the user types "42,17", the computer will read the first number correctly, but when it tries to read the second number, it will see the comma. It will regard this as an error and will force the user to retype the number. </a:t>
            </a:r>
          </a:p>
          <a:p>
            <a:r>
              <a:rPr lang="en-US" sz="2400" dirty="0"/>
              <a:t>If you want to input several numbers from one line, you should make sure that the user knows to separate them with spaces, not commas. Alternatively, if you want to require a comma between the numbers, use </a:t>
            </a:r>
            <a:r>
              <a:rPr lang="en-US" sz="2400" b="1" i="1" dirty="0" err="1"/>
              <a:t>getChar</a:t>
            </a:r>
            <a:r>
              <a:rPr lang="en-US" sz="2400" b="1" i="1" dirty="0"/>
              <a:t>() </a:t>
            </a:r>
            <a:r>
              <a:rPr lang="en-US" sz="2400" dirty="0"/>
              <a:t>to read the comma before reading the second number.</a:t>
            </a:r>
          </a:p>
          <a:p>
            <a:r>
              <a:rPr lang="en-US" sz="2400" dirty="0"/>
              <a:t>There is another character input function, </a:t>
            </a:r>
            <a:r>
              <a:rPr lang="en-US" sz="2400" dirty="0" err="1"/>
              <a:t>TextIO.getAnyChar</a:t>
            </a:r>
            <a:r>
              <a:rPr lang="en-US" sz="2400" dirty="0"/>
              <a:t>(), which does not skip past blanks or carriage returns. It simply reads and returns the next character typed by the user, even if it's a blank or carriage return. If the user typed a carriage return, then the char returned by </a:t>
            </a:r>
            <a:r>
              <a:rPr lang="en-US" sz="2400" dirty="0" err="1"/>
              <a:t>getAnyChar</a:t>
            </a:r>
            <a:r>
              <a:rPr lang="en-US" sz="2400" dirty="0"/>
              <a:t>() is the special linefeed character '\n’. </a:t>
            </a:r>
          </a:p>
        </p:txBody>
      </p:sp>
    </p:spTree>
    <p:extLst>
      <p:ext uri="{BB962C8B-B14F-4D97-AF65-F5344CB8AC3E}">
        <p14:creationId xmlns:p14="http://schemas.microsoft.com/office/powerpoint/2010/main" val="24962429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7C6083-D861-6BB3-CB67-2DA6F91E6F89}"/>
              </a:ext>
            </a:extLst>
          </p:cNvPr>
          <p:cNvSpPr>
            <a:spLocks noGrp="1"/>
          </p:cNvSpPr>
          <p:nvPr>
            <p:ph idx="1"/>
          </p:nvPr>
        </p:nvSpPr>
        <p:spPr>
          <a:xfrm>
            <a:off x="581192" y="822960"/>
            <a:ext cx="11029615" cy="5715000"/>
          </a:xfrm>
        </p:spPr>
        <p:txBody>
          <a:bodyPr>
            <a:normAutofit lnSpcReduction="10000"/>
          </a:bodyPr>
          <a:lstStyle/>
          <a:p>
            <a:r>
              <a:rPr lang="en-US" sz="2400" dirty="0"/>
              <a:t>There is also a function, TextIO.peek(), that lets you look ahead at the next character in the input without actually reading it. After you "peek" at the next character, it will still be there when you read the next item from input. This allows you to look ahead and see what's coming up in the input, so that you can take different actions depending on what's there.</a:t>
            </a:r>
          </a:p>
          <a:p>
            <a:r>
              <a:rPr lang="en-US" sz="2400" dirty="0"/>
              <a:t>The TextIO class provides a number of other functions. To learn more about them, you can look at the comments in the source code file, TextIO.java.</a:t>
            </a:r>
          </a:p>
          <a:p>
            <a:r>
              <a:rPr lang="en-US" sz="2400" dirty="0"/>
              <a:t>Clearly, the semantics of input is much more complicated than the semantics of output! Fortunately, for the majority of applications, it's pretty straightforward in practice. You only need to follow the details if you want to do something fancy. In particular, I strongly advise you to use the "getln" versions of the input routines, rather than the "get" versions, unless you really want to read several items from the same line of input, precisely because the semantics of the "getln" versions is much simpler.</a:t>
            </a:r>
          </a:p>
        </p:txBody>
      </p:sp>
    </p:spTree>
    <p:extLst>
      <p:ext uri="{BB962C8B-B14F-4D97-AF65-F5344CB8AC3E}">
        <p14:creationId xmlns:p14="http://schemas.microsoft.com/office/powerpoint/2010/main" val="26202560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504BD-11AB-84AB-5C1A-0B801F53FAC7}"/>
              </a:ext>
            </a:extLst>
          </p:cNvPr>
          <p:cNvSpPr>
            <a:spLocks noGrp="1"/>
          </p:cNvSpPr>
          <p:nvPr>
            <p:ph type="title"/>
          </p:nvPr>
        </p:nvSpPr>
        <p:spPr>
          <a:xfrm>
            <a:off x="581192" y="702156"/>
            <a:ext cx="11029616" cy="654204"/>
          </a:xfrm>
        </p:spPr>
        <p:txBody>
          <a:bodyPr/>
          <a:lstStyle/>
          <a:p>
            <a:r>
              <a:rPr lang="en-US" dirty="0"/>
              <a:t>Using Scanner for Input</a:t>
            </a:r>
          </a:p>
        </p:txBody>
      </p:sp>
      <p:sp>
        <p:nvSpPr>
          <p:cNvPr id="3" name="Content Placeholder 2">
            <a:extLst>
              <a:ext uri="{FF2B5EF4-FFF2-40B4-BE49-F238E27FC236}">
                <a16:creationId xmlns:a16="http://schemas.microsoft.com/office/drawing/2014/main" id="{3BBA2D09-C005-E62B-9456-1CCBDDD00C7A}"/>
              </a:ext>
            </a:extLst>
          </p:cNvPr>
          <p:cNvSpPr>
            <a:spLocks noGrp="1"/>
          </p:cNvSpPr>
          <p:nvPr>
            <p:ph idx="1"/>
          </p:nvPr>
        </p:nvSpPr>
        <p:spPr>
          <a:xfrm>
            <a:off x="581192" y="1356360"/>
            <a:ext cx="11029615" cy="5288280"/>
          </a:xfrm>
        </p:spPr>
        <p:txBody>
          <a:bodyPr>
            <a:normAutofit fontScale="92500" lnSpcReduction="10000"/>
          </a:bodyPr>
          <a:lstStyle/>
          <a:p>
            <a:r>
              <a:rPr lang="en-US" sz="2400" dirty="0"/>
              <a:t>TextIO makes it easy to get input from the user. However, since it is not a standard class, you have to remember to make TextIO.java available to any program that uses it. Another option for input is the Scanner class. One advantage of using Scanner is that it's a standard part of Java and so is always there when you want it.</a:t>
            </a:r>
          </a:p>
          <a:p>
            <a:r>
              <a:rPr lang="en-US" sz="2400" dirty="0"/>
              <a:t>First, since Scanner is defined in the package java.util, you should add the following import directive to your program at the beginning of the source code file, before the "public class...":</a:t>
            </a:r>
          </a:p>
          <a:p>
            <a:pPr lvl="1"/>
            <a:r>
              <a:rPr lang="en-US" sz="2000" dirty="0"/>
              <a:t>import java.util.Scanner;</a:t>
            </a:r>
          </a:p>
          <a:p>
            <a:pPr lvl="1"/>
            <a:r>
              <a:rPr lang="en-US" sz="2000" dirty="0"/>
              <a:t>Then include the following statement at the beginning of your main() routine:</a:t>
            </a:r>
          </a:p>
          <a:p>
            <a:pPr lvl="1"/>
            <a:r>
              <a:rPr lang="en-US" sz="2000" dirty="0"/>
              <a:t>Scanner stdin = new Scanner( System.in );</a:t>
            </a:r>
          </a:p>
          <a:p>
            <a:r>
              <a:rPr lang="en-US" sz="2400" dirty="0"/>
              <a:t>This creates a variable named stdin of type Scanner. (You can use a different name for the variable if you want; "stdin" stands for "standard input.") You can then use stdin in your program to access a variety of subroutines for reading user input. For example, the function stdin.nextInt() reads one value of type int from the user and returns it. </a:t>
            </a:r>
          </a:p>
        </p:txBody>
      </p:sp>
    </p:spTree>
    <p:extLst>
      <p:ext uri="{BB962C8B-B14F-4D97-AF65-F5344CB8AC3E}">
        <p14:creationId xmlns:p14="http://schemas.microsoft.com/office/powerpoint/2010/main" val="37801877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00BADC-FBAF-FD36-3F48-0DACB44AD0E3}"/>
              </a:ext>
            </a:extLst>
          </p:cNvPr>
          <p:cNvSpPr>
            <a:spLocks noGrp="1"/>
          </p:cNvSpPr>
          <p:nvPr>
            <p:ph idx="1"/>
          </p:nvPr>
        </p:nvSpPr>
        <p:spPr>
          <a:xfrm>
            <a:off x="581192" y="807720"/>
            <a:ext cx="11029615" cy="5608320"/>
          </a:xfrm>
        </p:spPr>
        <p:txBody>
          <a:bodyPr>
            <a:normAutofit/>
          </a:bodyPr>
          <a:lstStyle/>
          <a:p>
            <a:r>
              <a:rPr lang="en-US" sz="2400" dirty="0"/>
              <a:t>It is almost the same as TextIO.getInt() except for two things: If the value entered by the user is not a legal int, then stdin.nextInt() will crash rather than prompt the user to re-enter the value. And the </a:t>
            </a:r>
            <a:r>
              <a:rPr lang="en-US" sz="2400" b="1" i="1" dirty="0"/>
              <a:t>integer entered by the user must be followed by a blank space or by an end-of-line</a:t>
            </a:r>
            <a:r>
              <a:rPr lang="en-US" sz="2400" dirty="0"/>
              <a:t>, whereas TextIO.getInt() will stop reading at any character that is not a digit.</a:t>
            </a:r>
          </a:p>
          <a:p>
            <a:r>
              <a:rPr lang="en-US" sz="2400" dirty="0"/>
              <a:t>There are corresponding methods for reading other types of data, including stdin.nextDouble(), stdin.nextLong(), and </a:t>
            </a:r>
            <a:r>
              <a:rPr lang="en-US" sz="2400" dirty="0" err="1"/>
              <a:t>stdin.nextBoolean</a:t>
            </a:r>
            <a:r>
              <a:rPr lang="en-US" sz="2400" dirty="0"/>
              <a:t>(). (stdin.nextBoolean() will only accept "true" or "false" as input.) These subroutines can read more than one value from a line, so they are more similar to the "get" versions of TextIO subroutines rather than the "getln" versions. The method stdin.nextLine() is equivalent to TextIO.getln(), and stdin.next(), like TextIO.getWord(), returns a string of non-blank characters.</a:t>
            </a:r>
          </a:p>
        </p:txBody>
      </p:sp>
    </p:spTree>
    <p:extLst>
      <p:ext uri="{BB962C8B-B14F-4D97-AF65-F5344CB8AC3E}">
        <p14:creationId xmlns:p14="http://schemas.microsoft.com/office/powerpoint/2010/main" val="19500413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240D61-4F89-88DF-E161-0D1289C1DAD6}"/>
              </a:ext>
            </a:extLst>
          </p:cNvPr>
          <p:cNvSpPr>
            <a:spLocks noGrp="1"/>
          </p:cNvSpPr>
          <p:nvPr>
            <p:ph idx="1"/>
          </p:nvPr>
        </p:nvSpPr>
        <p:spPr>
          <a:xfrm>
            <a:off x="581192" y="624840"/>
            <a:ext cx="11029615" cy="5897880"/>
          </a:xfrm>
        </p:spPr>
        <p:txBody>
          <a:bodyPr>
            <a:normAutofit fontScale="92500" lnSpcReduction="10000"/>
          </a:bodyPr>
          <a:lstStyle/>
          <a:p>
            <a:r>
              <a:rPr lang="en-US" sz="1800" dirty="0"/>
              <a:t>As a simple example, here is a version of the sample program Interest2.java that uses Scanner instead of TextIO for user input:</a:t>
            </a:r>
          </a:p>
          <a:p>
            <a:pPr lvl="1">
              <a:buFont typeface="Wingdings" panose="05000000000000000000" pitchFamily="2" charset="2"/>
              <a:buChar char="Ø"/>
            </a:pPr>
            <a:r>
              <a:rPr lang="en-US" dirty="0"/>
              <a:t>import java.util.Scanner;</a:t>
            </a:r>
          </a:p>
          <a:p>
            <a:pPr lvl="1">
              <a:buFont typeface="Wingdings" panose="05000000000000000000" pitchFamily="2" charset="2"/>
              <a:buChar char="Ø"/>
            </a:pPr>
            <a:r>
              <a:rPr lang="en-US" dirty="0"/>
              <a:t>public class Interest2WithScanner {</a:t>
            </a:r>
          </a:p>
          <a:p>
            <a:pPr lvl="1">
              <a:buFont typeface="Wingdings" panose="05000000000000000000" pitchFamily="2" charset="2"/>
              <a:buChar char="Ø"/>
            </a:pPr>
            <a:r>
              <a:rPr lang="en-US" dirty="0"/>
              <a:t>      public static void main(String[] args) {</a:t>
            </a:r>
          </a:p>
          <a:p>
            <a:pPr lvl="1">
              <a:buFont typeface="Wingdings" panose="05000000000000000000" pitchFamily="2" charset="2"/>
              <a:buChar char="Ø"/>
            </a:pPr>
            <a:r>
              <a:rPr lang="en-US" dirty="0"/>
              <a:t>            Scanner stdin = new Scanner( System.in );  // Create the Scanner.</a:t>
            </a:r>
          </a:p>
          <a:p>
            <a:pPr lvl="1">
              <a:buFont typeface="Wingdings" panose="05000000000000000000" pitchFamily="2" charset="2"/>
              <a:buChar char="Ø"/>
            </a:pPr>
            <a:r>
              <a:rPr lang="en-US" dirty="0"/>
              <a:t>            double principal;  // The value of the investment.</a:t>
            </a:r>
          </a:p>
          <a:p>
            <a:pPr lvl="1">
              <a:buFont typeface="Wingdings" panose="05000000000000000000" pitchFamily="2" charset="2"/>
              <a:buChar char="Ø"/>
            </a:pPr>
            <a:r>
              <a:rPr lang="en-US" dirty="0"/>
              <a:t>      double rate;       // The annual interest rate.</a:t>
            </a:r>
          </a:p>
          <a:p>
            <a:pPr lvl="1">
              <a:buFont typeface="Wingdings" panose="05000000000000000000" pitchFamily="2" charset="2"/>
              <a:buChar char="Ø"/>
            </a:pPr>
            <a:r>
              <a:rPr lang="en-US" dirty="0"/>
              <a:t>      double interest;   // The interest earned during the year.</a:t>
            </a:r>
          </a:p>
          <a:p>
            <a:pPr lvl="1">
              <a:buFont typeface="Wingdings" panose="05000000000000000000" pitchFamily="2" charset="2"/>
              <a:buChar char="Ø"/>
            </a:pPr>
            <a:r>
              <a:rPr lang="en-US" dirty="0"/>
              <a:t>            System.out.print("Enter the initial investment: ");</a:t>
            </a:r>
          </a:p>
          <a:p>
            <a:pPr lvl="1">
              <a:buFont typeface="Wingdings" panose="05000000000000000000" pitchFamily="2" charset="2"/>
              <a:buChar char="Ø"/>
            </a:pPr>
            <a:r>
              <a:rPr lang="en-US" dirty="0"/>
              <a:t>      principal = stdin.nextDouble();</a:t>
            </a:r>
          </a:p>
          <a:p>
            <a:pPr lvl="1">
              <a:buFont typeface="Wingdings" panose="05000000000000000000" pitchFamily="2" charset="2"/>
              <a:buChar char="Ø"/>
            </a:pPr>
            <a:r>
              <a:rPr lang="en-US" dirty="0"/>
              <a:t>            System.out.print("Enter the annual interest rate (as a decimal): ");</a:t>
            </a:r>
          </a:p>
          <a:p>
            <a:pPr lvl="1">
              <a:buFont typeface="Wingdings" panose="05000000000000000000" pitchFamily="2" charset="2"/>
              <a:buChar char="Ø"/>
            </a:pPr>
            <a:r>
              <a:rPr lang="en-US" dirty="0"/>
              <a:t>      rate = stdin.nextDouble();</a:t>
            </a:r>
          </a:p>
          <a:p>
            <a:pPr lvl="1">
              <a:buFont typeface="Wingdings" panose="05000000000000000000" pitchFamily="2" charset="2"/>
              <a:buChar char="Ø"/>
            </a:pPr>
            <a:r>
              <a:rPr lang="en-US" dirty="0"/>
              <a:t>            interest = principal * rate;       // Compute this year's interest.</a:t>
            </a:r>
          </a:p>
          <a:p>
            <a:pPr lvl="1">
              <a:buFont typeface="Wingdings" panose="05000000000000000000" pitchFamily="2" charset="2"/>
              <a:buChar char="Ø"/>
            </a:pPr>
            <a:r>
              <a:rPr lang="en-US" dirty="0"/>
              <a:t>      principal = principal + interest;  // Add it to principal.</a:t>
            </a:r>
          </a:p>
          <a:p>
            <a:pPr lvl="1">
              <a:buFont typeface="Wingdings" panose="05000000000000000000" pitchFamily="2" charset="2"/>
              <a:buChar char="Ø"/>
            </a:pPr>
            <a:r>
              <a:rPr lang="en-US" dirty="0"/>
              <a:t>            System.out.printf("The amount of interest is $%1.2f%n", interest);</a:t>
            </a:r>
          </a:p>
          <a:p>
            <a:pPr lvl="1">
              <a:buFont typeface="Wingdings" panose="05000000000000000000" pitchFamily="2" charset="2"/>
              <a:buChar char="Ø"/>
            </a:pPr>
            <a:r>
              <a:rPr lang="en-US" dirty="0"/>
              <a:t>      System.out.printf("The value after one year is $%1.2f%n", principal);</a:t>
            </a:r>
          </a:p>
          <a:p>
            <a:pPr lvl="1">
              <a:buFont typeface="Wingdings" panose="05000000000000000000" pitchFamily="2" charset="2"/>
              <a:buChar char="Ø"/>
            </a:pPr>
            <a:r>
              <a:rPr lang="en-US" dirty="0"/>
              <a:t>         } // end of main()</a:t>
            </a:r>
          </a:p>
          <a:p>
            <a:pPr lvl="1">
              <a:buFont typeface="Wingdings" panose="05000000000000000000" pitchFamily="2" charset="2"/>
              <a:buChar char="Ø"/>
            </a:pPr>
            <a:r>
              <a:rPr lang="en-US" dirty="0"/>
              <a:t>   } // end of class Interest2WithScanner</a:t>
            </a:r>
          </a:p>
        </p:txBody>
      </p:sp>
    </p:spTree>
    <p:extLst>
      <p:ext uri="{BB962C8B-B14F-4D97-AF65-F5344CB8AC3E}">
        <p14:creationId xmlns:p14="http://schemas.microsoft.com/office/powerpoint/2010/main" val="2431472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168910-55C0-66D8-D48C-3389123ED384}"/>
              </a:ext>
            </a:extLst>
          </p:cNvPr>
          <p:cNvSpPr>
            <a:spLocks noGrp="1"/>
          </p:cNvSpPr>
          <p:nvPr>
            <p:ph idx="1"/>
          </p:nvPr>
        </p:nvSpPr>
        <p:spPr>
          <a:xfrm>
            <a:off x="581192" y="1611757"/>
            <a:ext cx="11029615" cy="3634486"/>
          </a:xfrm>
        </p:spPr>
        <p:txBody>
          <a:bodyPr>
            <a:normAutofit/>
          </a:bodyPr>
          <a:lstStyle/>
          <a:p>
            <a:r>
              <a:rPr lang="en-US" sz="2400" dirty="0"/>
              <a:t>Note the inclusion of the two lines given above to import Scanner and create stdin. Also note the substitution of stdin.nextDouble() for </a:t>
            </a:r>
            <a:r>
              <a:rPr lang="en-US" sz="2400" dirty="0" err="1"/>
              <a:t>TextIO.getlnDouble</a:t>
            </a:r>
            <a:r>
              <a:rPr lang="en-US" sz="2400" dirty="0"/>
              <a:t>(). (In fact, stdin.nextDouble() is really equivalent to </a:t>
            </a:r>
            <a:r>
              <a:rPr lang="en-US" sz="2400" dirty="0" err="1"/>
              <a:t>TextIO.getDouble</a:t>
            </a:r>
            <a:r>
              <a:rPr lang="en-US" sz="2400" dirty="0"/>
              <a:t>() rather than to the "getln" version, but this will not affect the behavior of the program as long as the user types just one number on each line of input.)</a:t>
            </a:r>
          </a:p>
          <a:p>
            <a:r>
              <a:rPr lang="en-US" sz="2400" dirty="0"/>
              <a:t>I will continue to use TextIO for input for the time being, but I will give a few more examples of using Scanner in the on-line solutions to the end-of-chapter exercises. </a:t>
            </a:r>
          </a:p>
        </p:txBody>
      </p:sp>
    </p:spTree>
    <p:extLst>
      <p:ext uri="{BB962C8B-B14F-4D97-AF65-F5344CB8AC3E}">
        <p14:creationId xmlns:p14="http://schemas.microsoft.com/office/powerpoint/2010/main" val="2713054311"/>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{C3A5CA51-0CC3-464B-BFD9-0A798DA9580B}tf33552983_win32</Template>
  <TotalTime>2460</TotalTime>
  <Words>13146</Words>
  <Application>Microsoft Office PowerPoint</Application>
  <PresentationFormat>Widescreen</PresentationFormat>
  <Paragraphs>301</Paragraphs>
  <Slides>58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Calibri</vt:lpstr>
      <vt:lpstr>Franklin Gothic Book</vt:lpstr>
      <vt:lpstr>Franklin Gothic Demi</vt:lpstr>
      <vt:lpstr>Wingdings</vt:lpstr>
      <vt:lpstr>Wingdings 2</vt:lpstr>
      <vt:lpstr>DividendVTI</vt:lpstr>
      <vt:lpstr>The Basic Java Application</vt:lpstr>
      <vt:lpstr>The Basic Java Application</vt:lpstr>
      <vt:lpstr>Variables and the Primitive Types</vt:lpstr>
      <vt:lpstr>PowerPoint Presentation</vt:lpstr>
      <vt:lpstr>Variables</vt:lpstr>
      <vt:lpstr>Types</vt:lpstr>
      <vt:lpstr>PowerPoint Presentation</vt:lpstr>
      <vt:lpstr>PowerPoint Presentation</vt:lpstr>
      <vt:lpstr>PowerPoint Presentation</vt:lpstr>
      <vt:lpstr>Literals</vt:lpstr>
      <vt:lpstr>PowerPoint Presentation</vt:lpstr>
      <vt:lpstr>PowerPoint Presentation</vt:lpstr>
      <vt:lpstr>PowerPoint Presentation</vt:lpstr>
      <vt:lpstr>Strings and String Literals</vt:lpstr>
      <vt:lpstr>Variables in Programs</vt:lpstr>
      <vt:lpstr>Strings, Classes, Objects, and Subroutines</vt:lpstr>
      <vt:lpstr>PowerPoint Presentation</vt:lpstr>
      <vt:lpstr>PowerPoint Presentation</vt:lpstr>
      <vt:lpstr>PowerPoint Presentation</vt:lpstr>
      <vt:lpstr>PowerPoint Presentation</vt:lpstr>
      <vt:lpstr>Classes and Objects</vt:lpstr>
      <vt:lpstr>PowerPoint Presentation</vt:lpstr>
      <vt:lpstr>PowerPoint Presentation</vt:lpstr>
      <vt:lpstr>Operations on Strings</vt:lpstr>
      <vt:lpstr>PowerPoint Presentation</vt:lpstr>
      <vt:lpstr>PowerPoint Presentation</vt:lpstr>
      <vt:lpstr>PowerPoint Presentation</vt:lpstr>
      <vt:lpstr>PowerPoint Presentation</vt:lpstr>
      <vt:lpstr>Text Blocks: Multiline Strings</vt:lpstr>
      <vt:lpstr>PowerPoint Presentation</vt:lpstr>
      <vt:lpstr>Introduction to Enums</vt:lpstr>
      <vt:lpstr>PowerPoint Presentation</vt:lpstr>
      <vt:lpstr>PowerPoint Presentation</vt:lpstr>
      <vt:lpstr>PowerPoint Presentation</vt:lpstr>
      <vt:lpstr>Text Input and Output</vt:lpstr>
      <vt:lpstr>Basic Output and Formatted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TextIO Input Functions</vt:lpstr>
      <vt:lpstr>PowerPoint Presentation</vt:lpstr>
      <vt:lpstr>PowerPoint Presentation</vt:lpstr>
      <vt:lpstr>Introduction to File I/O</vt:lpstr>
      <vt:lpstr>PowerPoint Presentation</vt:lpstr>
      <vt:lpstr>PowerPoint Presentation</vt:lpstr>
      <vt:lpstr>PowerPoint Presentation</vt:lpstr>
      <vt:lpstr>Other TextIO Features</vt:lpstr>
      <vt:lpstr>PowerPoint Presentation</vt:lpstr>
      <vt:lpstr>PowerPoint Presentation</vt:lpstr>
      <vt:lpstr>PowerPoint Presentation</vt:lpstr>
      <vt:lpstr>Using Scanner for Input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Godfrey Ouma</dc:creator>
  <cp:lastModifiedBy>Godfrey Ouma</cp:lastModifiedBy>
  <cp:revision>83</cp:revision>
  <dcterms:created xsi:type="dcterms:W3CDTF">2023-11-16T17:20:34Z</dcterms:created>
  <dcterms:modified xsi:type="dcterms:W3CDTF">2023-11-20T15:32:12Z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